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First draft accepted (%) — higher is better</c:v>
                </c:pt>
              </c:strCache>
            </c:strRef>
          </c:tx>
          <c:spPr>
            <a:solidFill>
              <a:srgbClr val="C2690F"/>
            </a:solidFill>
            <a:effectLst/>
          </c:spPr>
          <c:invertIfNegative val="0"/>
          <c:dLbls>
            <c:numFmt formatCode="#,##0" sourceLinked="0"/>
            <c:txPr>
              <a:bodyPr/>
              <a:lstStyle/>
              <a:p>
                <a:pPr>
                  <a:defRPr b="0" i="0" strike="noStrike" sz="900" u="none">
                    <a:solidFill>
                      <a:srgbClr val="33424E"/>
                    </a:solidFill>
                    <a:latin typeface="Calibri"/>
                  </a:defRPr>
                </a:pPr>
              </a:p>
            </c:txPr>
            <c:showLegendKey val="0"/>
            <c:showVal val="1"/>
            <c:showCatName val="0"/>
            <c:showSerName val="0"/>
            <c:showPercent val="0"/>
            <c:showBubbleSize val="0"/>
            <c:showLeaderLines val="0"/>
          </c:dLbls>
          <c:cat>
            <c:multiLvlStrRef>
              <c:f>Sheet1!$A$2:$A$7</c:f>
              <c:multiLvlStrCache>
                <c:ptCount val="6"/>
                <c:lvl>
                  <c:pt idx="0">
                    <c:v>Qwen3-32B</c:v>
                  </c:pt>
                  <c:pt idx="1">
                    <c:v>Sarvam-105B</c:v>
                  </c:pt>
                  <c:pt idx="2">
                    <c:v>Llama 3.3-70B</c:v>
                  </c:pt>
                  <c:pt idx="3">
                    <c:v>Gemma 3-27B</c:v>
                  </c:pt>
                  <c:pt idx="4">
                    <c:v>DeepSeek 32B</c:v>
                  </c:pt>
                  <c:pt idx="5">
                    <c:v>Mistral 24B</c:v>
                  </c:pt>
                </c:lvl>
              </c:multiLvlStrCache>
            </c:multiLvlStrRef>
          </c:cat>
          <c:val>
            <c:numRef>
              <c:f>Sheet1!$B$2:$B$7</c:f>
              <c:numCache>
                <c:formatCode>General</c:formatCode>
                <c:ptCount val="6"/>
                <c:pt idx="0">
                  <c:v>78</c:v>
                </c:pt>
                <c:pt idx="1">
                  <c:v>66</c:v>
                </c:pt>
                <c:pt idx="2">
                  <c:v>51</c:v>
                </c:pt>
                <c:pt idx="3">
                  <c:v>47</c:v>
                </c:pt>
                <c:pt idx="4">
                  <c:v>44</c:v>
                </c:pt>
                <c:pt idx="5">
                  <c:v>42</c:v>
                </c:pt>
              </c:numCache>
            </c:numRef>
          </c:val>
        </c:ser>
        <c:ser>
          <c:idx val="1"/>
          <c:order val="1"/>
          <c:tx>
            <c:strRef>
              <c:f>Sheet1!$C$1</c:f>
              <c:strCache>
                <c:ptCount val="1"/>
                <c:pt idx="0">
                  <c:v>Editor rewrite (%) — lower is better</c:v>
                </c:pt>
              </c:strCache>
            </c:strRef>
          </c:tx>
          <c:spPr>
            <a:solidFill>
              <a:srgbClr val="8FA9BA"/>
            </a:solidFill>
            <a:effectLst/>
          </c:spPr>
          <c:invertIfNegative val="0"/>
          <c:dLbls>
            <c:numFmt formatCode="#,##0" sourceLinked="0"/>
            <c:txPr>
              <a:bodyPr/>
              <a:lstStyle/>
              <a:p>
                <a:pPr>
                  <a:defRPr b="0" i="0" strike="noStrike" sz="900" u="none">
                    <a:solidFill>
                      <a:srgbClr val="33424E"/>
                    </a:solidFill>
                    <a:latin typeface="Calibri"/>
                  </a:defRPr>
                </a:pPr>
              </a:p>
            </c:txPr>
            <c:showLegendKey val="0"/>
            <c:showVal val="1"/>
            <c:showCatName val="0"/>
            <c:showSerName val="0"/>
            <c:showPercent val="0"/>
            <c:showBubbleSize val="0"/>
            <c:showLeaderLines val="0"/>
          </c:dLbls>
          <c:cat>
            <c:multiLvlStrRef>
              <c:f>Sheet1!$A$2:$A$7</c:f>
              <c:multiLvlStrCache>
                <c:ptCount val="6"/>
                <c:lvl>
                  <c:pt idx="0">
                    <c:v>Qwen3-32B</c:v>
                  </c:pt>
                  <c:pt idx="1">
                    <c:v>Sarvam-105B</c:v>
                  </c:pt>
                  <c:pt idx="2">
                    <c:v>Llama 3.3-70B</c:v>
                  </c:pt>
                  <c:pt idx="3">
                    <c:v>Gemma 3-27B</c:v>
                  </c:pt>
                  <c:pt idx="4">
                    <c:v>DeepSeek 32B</c:v>
                  </c:pt>
                  <c:pt idx="5">
                    <c:v>Mistral 24B</c:v>
                  </c:pt>
                </c:lvl>
              </c:multiLvlStrCache>
            </c:multiLvlStrRef>
          </c:cat>
          <c:val>
            <c:numRef>
              <c:f>Sheet1!$C$2:$C$7</c:f>
              <c:numCache>
                <c:formatCode>General</c:formatCode>
                <c:ptCount val="6"/>
                <c:pt idx="0">
                  <c:v>11</c:v>
                </c:pt>
                <c:pt idx="1">
                  <c:v>18</c:v>
                </c:pt>
                <c:pt idx="2">
                  <c:v>27</c:v>
                </c:pt>
                <c:pt idx="3">
                  <c:v>29</c:v>
                </c:pt>
                <c:pt idx="4">
                  <c:v>31</c:v>
                </c:pt>
                <c:pt idx="5">
                  <c:v>34</c:v>
                </c:pt>
              </c:numCache>
            </c:numRef>
          </c:val>
        </c:ser>
        <c:dLbls>
          <c:numFmt formatCode="#,##0" sourceLinked="0"/>
          <c:txPr>
            <a:bodyPr/>
            <a:lstStyle/>
            <a:p>
              <a:pPr>
                <a:defRPr b="0" i="0" strike="noStrike" sz="900" u="none">
                  <a:solidFill>
                    <a:srgbClr val="33424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50" b="0" i="0" u="none" strike="noStrike">
                    <a:solidFill>
                      <a:srgbClr val="72868F"/>
                    </a:solidFill>
                    <a:latin typeface="Arial"/>
                  </a:defRPr>
                </a:pPr>
                <a:r>
                  <a:rPr sz="950" b="0" i="0" u="none" strike="noStrike">
                    <a:solidFill>
                      <a:srgbClr val="72868F"/>
                    </a:solidFill>
                    <a:latin typeface="Arial"/>
                  </a:rPr>
                  <a:t>Model evaluated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33424E"/>
                </a:solidFill>
                <a:latin typeface="Calibri"/>
              </a:defRPr>
            </a:pPr>
            <a:endParaRPr lang="en-US"/>
          </a:p>
        </c:txPr>
        <c:crossAx val="2094734552"/>
        <c:crosses val="autoZero"/>
        <c:auto val="1"/>
        <c:lblAlgn val="ctr"/>
        <c:noMultiLvlLbl val="1"/>
      </c:catAx>
      <c:valAx>
        <c:axId val="2094734552"/>
        <c:scaling>
          <c:orientation val="minMax"/>
          <c:max val="90"/>
        </c:scaling>
        <c:delete val="0"/>
        <c:axPos val="l"/>
        <c:majorGridlines>
          <c:spPr>
            <a:ln w="12700" cap="flat">
              <a:solidFill>
                <a:srgbClr val="EDF1F4"/>
              </a:solidFill>
              <a:prstDash val="solid"/>
              <a:round/>
            </a:ln>
          </c:spPr>
        </c:majorGridlines>
        <c:title>
          <c:tx>
            <c:rich>
              <a:bodyPr/>
              <a:lstStyle/>
              <a:p>
                <a:pPr>
                  <a:defRPr sz="950" b="0" i="0" u="none" strike="noStrike">
                    <a:solidFill>
                      <a:srgbClr val="72868F"/>
                    </a:solidFill>
                    <a:latin typeface="Arial"/>
                  </a:defRPr>
                </a:pPr>
                <a:r>
                  <a:rPr sz="950" b="0" i="0" u="none" strike="noStrike">
                    <a:solidFill>
                      <a:srgbClr val="72868F"/>
                    </a:solidFill>
                    <a:latin typeface="Arial"/>
                  </a:rPr>
                  <a:t>Percent of articles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2868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33424E"/>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30 seconds. This deck answers three questions: why on-premise, why Qwen, and how the model gets better over time. Everything else is in the annexure behind slide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Read the four cards, then the bottom line. Do not linger - the detail comes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Lead with sovereignty - it is the argument DIT cares about. Point 3 is the commercial one. Close on the trade-off card so it does not look like we are hiding the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and the most important slide in the deck. Walk top to bottom. The dashed boundary is the point: rows 2, 3 and 4 sit entirely inside the department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The point of this slide is that Qwen is not the whole system - a committee will ask what handles scanned documents and audio, and this answers it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Name the six candidates and the four hard constraints. The weights on the right are what makes the choice defensible rather than a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The blind, held-out design is what a technical evaluator will probe. Say plainly that golden-set items are never used for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Do not read the table. Say: Qwen leads on the two columns that matter operationally - first-draft acceptance and editor rewrite - and note that Sarvam edges it on raw fluency. That honesty buys credibility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One sentence: the difference between 78% and 51% first-draft acceptance is the difference between an assistant and a nuisance.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Spend most of it on the right-hand column. Why not an Indian model is the single most likely question in this room - answer it before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Give the development machine first because it is real and verifiable. Then make the scaling point: we do not name a GPU count, we name a per-node capacity and let measurement set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The single most important line is at the bottom - officers are already doing the annotation work as part of their job. No new burden is being asked of DGIPR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Do not read the hyperparameters aloud - they are there so the technical evaluator can see they exist. Spend the time on what each stage teaches.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Point 1 and point 3 are the ones that answer 'what if it makes something up'. Say them clearly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and stop. This slide asks for nothing. Read the four cards, gesture at the capability row, and close on the last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past this in the live run. It exists so that any question from the floor has a slide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This is the slide for the question 'how many GPUs do you actually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Public, verifiable specifications - distinct from our own evaluation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Read before the meeting, not during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46"/>
        </a:solidFill>
      </p:bgPr>
    </p:bg>
    <p:spTree>
      <p:nvGrpSpPr>
        <p:cNvPr id="1" name=""/>
        <p:cNvGrpSpPr/>
        <p:nvPr/>
      </p:nvGrpSpPr>
      <p:grpSpPr>
        <a:xfrm>
          <a:off x="0" y="0"/>
          <a:ext cx="0" cy="0"/>
          <a:chOff x="0" y="0"/>
          <a:chExt cx="0" cy="0"/>
        </a:xfrm>
      </p:grpSpPr>
      <p:sp>
        <p:nvSpPr>
          <p:cNvPr id="2" name="Shape 0"/>
          <p:cNvSpPr/>
          <p:nvPr/>
        </p:nvSpPr>
        <p:spPr>
          <a:xfrm>
            <a:off x="8595360" y="-2011680"/>
            <a:ext cx="6035040" cy="6035040"/>
          </a:xfrm>
          <a:prstGeom prst="ellipse">
            <a:avLst/>
          </a:prstGeom>
          <a:solidFill>
            <a:srgbClr val="17405F"/>
          </a:solidFill>
          <a:ln w="12700">
            <a:solidFill>
              <a:srgbClr val="17405F"/>
            </a:solidFill>
            <a:prstDash val="solid"/>
          </a:ln>
        </p:spPr>
      </p:sp>
      <p:sp>
        <p:nvSpPr>
          <p:cNvPr id="3" name="Shape 1"/>
          <p:cNvSpPr/>
          <p:nvPr/>
        </p:nvSpPr>
        <p:spPr>
          <a:xfrm>
            <a:off x="10241280" y="3566160"/>
            <a:ext cx="4023360" cy="4023360"/>
          </a:xfrm>
          <a:prstGeom prst="ellipse">
            <a:avLst/>
          </a:prstGeom>
          <a:solidFill>
            <a:srgbClr val="17405F"/>
          </a:solidFill>
          <a:ln w="12700">
            <a:solidFill>
              <a:srgbClr val="17405F"/>
            </a:solidFill>
            <a:prstDash val="solid"/>
          </a:ln>
        </p:spPr>
      </p:sp>
      <p:sp>
        <p:nvSpPr>
          <p:cNvPr id="4" name="Text 2"/>
          <p:cNvSpPr txBox="1"/>
          <p:nvPr/>
        </p:nvSpPr>
        <p:spPr>
          <a:xfrm>
            <a:off x="566928" y="1188720"/>
            <a:ext cx="10607040" cy="274320"/>
          </a:xfrm>
          <a:prstGeom prst="rect">
            <a:avLst/>
          </a:prstGeom>
          <a:noFill/>
          <a:ln/>
        </p:spPr>
        <p:txBody>
          <a:bodyPr wrap="square" lIns="0" tIns="0" rIns="0" bIns="0" rtlCol="0" anchor="ctr"/>
          <a:lstStyle/>
          <a:p>
            <a:pPr indent="0" marL="0">
              <a:buNone/>
            </a:pPr>
            <a:r>
              <a:rPr lang="en-US" sz="1050" b="1" spc="160" kern="0" dirty="0">
                <a:solidFill>
                  <a:srgbClr val="8FC3D9"/>
                </a:solidFill>
                <a:latin typeface="Calibri" pitchFamily="34" charset="0"/>
                <a:ea typeface="Calibri" pitchFamily="34" charset="-122"/>
                <a:cs typeface="Calibri" pitchFamily="34" charset="-120"/>
              </a:rPr>
              <a:t>PRESENTATION TO THE DIRECTORATE OF INFORMATION TECHNOLOGY  ·  GOVERNMENT OF MAHARASHTRA</a:t>
            </a:r>
            <a:endParaRPr lang="en-US" sz="1050" dirty="0"/>
          </a:p>
        </p:txBody>
      </p:sp>
      <p:sp>
        <p:nvSpPr>
          <p:cNvPr id="5" name="Text 3"/>
          <p:cNvSpPr txBox="1"/>
          <p:nvPr/>
        </p:nvSpPr>
        <p:spPr>
          <a:xfrm>
            <a:off x="566928" y="1645920"/>
            <a:ext cx="10058400" cy="173736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On-Premise AI for</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Government Communication</a:t>
            </a:r>
            <a:endParaRPr lang="en-US" sz="4200" dirty="0"/>
          </a:p>
        </p:txBody>
      </p:sp>
      <p:sp>
        <p:nvSpPr>
          <p:cNvPr id="6" name="Text 4"/>
          <p:cNvSpPr txBox="1"/>
          <p:nvPr/>
        </p:nvSpPr>
        <p:spPr>
          <a:xfrm>
            <a:off x="566928" y="3456432"/>
            <a:ext cx="9509760" cy="365760"/>
          </a:xfrm>
          <a:prstGeom prst="rect">
            <a:avLst/>
          </a:prstGeom>
          <a:noFill/>
          <a:ln/>
        </p:spPr>
        <p:txBody>
          <a:bodyPr wrap="square" lIns="0" tIns="0" rIns="0" bIns="0" rtlCol="0" anchor="ctr"/>
          <a:lstStyle/>
          <a:p>
            <a:pPr indent="0" marL="0">
              <a:buNone/>
            </a:pPr>
            <a:r>
              <a:rPr lang="en-US" sz="1550" dirty="0">
                <a:solidFill>
                  <a:srgbClr val="C7DCE7"/>
                </a:solidFill>
                <a:latin typeface="Calibri" pitchFamily="34" charset="0"/>
                <a:ea typeface="Calibri" pitchFamily="34" charset="-122"/>
                <a:cs typeface="Calibri" pitchFamily="34" charset="-120"/>
              </a:rPr>
              <a:t>Model selection, evaluation and fine-tuning strategy for the DGIPR AI NewsRoom</a:t>
            </a:r>
            <a:endParaRPr lang="en-US" sz="1550" dirty="0"/>
          </a:p>
        </p:txBody>
      </p:sp>
      <p:sp>
        <p:nvSpPr>
          <p:cNvPr id="7" name="Shape 5"/>
          <p:cNvSpPr/>
          <p:nvPr/>
        </p:nvSpPr>
        <p:spPr>
          <a:xfrm>
            <a:off x="566928" y="4160520"/>
            <a:ext cx="3429000" cy="932688"/>
          </a:xfrm>
          <a:prstGeom prst="roundRect">
            <a:avLst>
              <a:gd name="adj" fmla="val 7843"/>
            </a:avLst>
          </a:prstGeom>
          <a:solidFill>
            <a:srgbClr val="17405F"/>
          </a:solidFill>
          <a:ln w="9525">
            <a:solidFill>
              <a:srgbClr val="2C5C80"/>
            </a:solidFill>
            <a:prstDash val="solid"/>
          </a:ln>
        </p:spPr>
      </p:sp>
      <p:sp>
        <p:nvSpPr>
          <p:cNvPr id="8" name="Text 6"/>
          <p:cNvSpPr txBox="1"/>
          <p:nvPr/>
        </p:nvSpPr>
        <p:spPr>
          <a:xfrm>
            <a:off x="786384" y="4279392"/>
            <a:ext cx="301752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Qwen3-32B</a:t>
            </a:r>
            <a:endParaRPr lang="en-US" sz="1500" dirty="0"/>
          </a:p>
        </p:txBody>
      </p:sp>
      <p:sp>
        <p:nvSpPr>
          <p:cNvPr id="9" name="Text 7"/>
          <p:cNvSpPr txBox="1"/>
          <p:nvPr/>
        </p:nvSpPr>
        <p:spPr>
          <a:xfrm>
            <a:off x="786384" y="4599432"/>
            <a:ext cx="3017520" cy="384048"/>
          </a:xfrm>
          <a:prstGeom prst="rect">
            <a:avLst/>
          </a:prstGeom>
          <a:noFill/>
          <a:ln/>
        </p:spPr>
        <p:txBody>
          <a:bodyPr wrap="square" lIns="0" tIns="0" rIns="0" bIns="0" rtlCol="0" anchor="ctr"/>
          <a:lstStyle/>
          <a:p>
            <a:pPr indent="0" marL="0">
              <a:buNone/>
            </a:pPr>
            <a:r>
              <a:rPr lang="en-US" sz="950" dirty="0">
                <a:solidFill>
                  <a:srgbClr val="9FC2D4"/>
                </a:solidFill>
                <a:latin typeface="Calibri" pitchFamily="34" charset="0"/>
                <a:ea typeface="Calibri" pitchFamily="34" charset="-122"/>
                <a:cs typeface="Calibri" pitchFamily="34" charset="-120"/>
              </a:rPr>
              <a:t>Apache 2.0 open weights</a:t>
            </a:r>
            <a:endParaRPr lang="en-US" sz="950" dirty="0"/>
          </a:p>
        </p:txBody>
      </p:sp>
      <p:sp>
        <p:nvSpPr>
          <p:cNvPr id="10" name="Shape 8"/>
          <p:cNvSpPr/>
          <p:nvPr/>
        </p:nvSpPr>
        <p:spPr>
          <a:xfrm>
            <a:off x="4251960" y="4160520"/>
            <a:ext cx="3429000" cy="932688"/>
          </a:xfrm>
          <a:prstGeom prst="roundRect">
            <a:avLst>
              <a:gd name="adj" fmla="val 7843"/>
            </a:avLst>
          </a:prstGeom>
          <a:solidFill>
            <a:srgbClr val="17405F"/>
          </a:solidFill>
          <a:ln w="9525">
            <a:solidFill>
              <a:srgbClr val="2C5C80"/>
            </a:solidFill>
            <a:prstDash val="solid"/>
          </a:ln>
        </p:spPr>
      </p:sp>
      <p:sp>
        <p:nvSpPr>
          <p:cNvPr id="11" name="Text 9"/>
          <p:cNvSpPr txBox="1"/>
          <p:nvPr/>
        </p:nvSpPr>
        <p:spPr>
          <a:xfrm>
            <a:off x="4471416" y="4279392"/>
            <a:ext cx="301752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100% on-premise</a:t>
            </a:r>
            <a:endParaRPr lang="en-US" sz="1500" dirty="0"/>
          </a:p>
        </p:txBody>
      </p:sp>
      <p:sp>
        <p:nvSpPr>
          <p:cNvPr id="12" name="Text 10"/>
          <p:cNvSpPr txBox="1"/>
          <p:nvPr/>
        </p:nvSpPr>
        <p:spPr>
          <a:xfrm>
            <a:off x="4471416" y="4599432"/>
            <a:ext cx="3017520" cy="384048"/>
          </a:xfrm>
          <a:prstGeom prst="rect">
            <a:avLst/>
          </a:prstGeom>
          <a:noFill/>
          <a:ln/>
        </p:spPr>
        <p:txBody>
          <a:bodyPr wrap="square" lIns="0" tIns="0" rIns="0" bIns="0" rtlCol="0" anchor="ctr"/>
          <a:lstStyle/>
          <a:p>
            <a:pPr indent="0" marL="0">
              <a:buNone/>
            </a:pPr>
            <a:r>
              <a:rPr lang="en-US" sz="950" dirty="0">
                <a:solidFill>
                  <a:srgbClr val="9FC2D4"/>
                </a:solidFill>
                <a:latin typeface="Calibri" pitchFamily="34" charset="0"/>
                <a:ea typeface="Calibri" pitchFamily="34" charset="-122"/>
                <a:cs typeface="Calibri" pitchFamily="34" charset="-120"/>
              </a:rPr>
              <a:t>no inference leaves the department</a:t>
            </a:r>
            <a:endParaRPr lang="en-US" sz="950" dirty="0"/>
          </a:p>
        </p:txBody>
      </p:sp>
      <p:sp>
        <p:nvSpPr>
          <p:cNvPr id="13" name="Shape 11"/>
          <p:cNvSpPr/>
          <p:nvPr/>
        </p:nvSpPr>
        <p:spPr>
          <a:xfrm>
            <a:off x="7936992" y="4160520"/>
            <a:ext cx="3429000" cy="932688"/>
          </a:xfrm>
          <a:prstGeom prst="roundRect">
            <a:avLst>
              <a:gd name="adj" fmla="val 7843"/>
            </a:avLst>
          </a:prstGeom>
          <a:solidFill>
            <a:srgbClr val="17405F"/>
          </a:solidFill>
          <a:ln w="9525">
            <a:solidFill>
              <a:srgbClr val="2C5C80"/>
            </a:solidFill>
            <a:prstDash val="solid"/>
          </a:ln>
        </p:spPr>
      </p:sp>
      <p:sp>
        <p:nvSpPr>
          <p:cNvPr id="14" name="Text 12"/>
          <p:cNvSpPr txBox="1"/>
          <p:nvPr/>
        </p:nvSpPr>
        <p:spPr>
          <a:xfrm>
            <a:off x="8156448" y="4279392"/>
            <a:ext cx="301752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SFT then DPO</a:t>
            </a:r>
            <a:endParaRPr lang="en-US" sz="1500" dirty="0"/>
          </a:p>
        </p:txBody>
      </p:sp>
      <p:sp>
        <p:nvSpPr>
          <p:cNvPr id="15" name="Text 13"/>
          <p:cNvSpPr txBox="1"/>
          <p:nvPr/>
        </p:nvSpPr>
        <p:spPr>
          <a:xfrm>
            <a:off x="8156448" y="4599432"/>
            <a:ext cx="3017520" cy="384048"/>
          </a:xfrm>
          <a:prstGeom prst="rect">
            <a:avLst/>
          </a:prstGeom>
          <a:noFill/>
          <a:ln/>
        </p:spPr>
        <p:txBody>
          <a:bodyPr wrap="square" lIns="0" tIns="0" rIns="0" bIns="0" rtlCol="0" anchor="ctr"/>
          <a:lstStyle/>
          <a:p>
            <a:pPr indent="0" marL="0">
              <a:buNone/>
            </a:pPr>
            <a:r>
              <a:rPr lang="en-US" sz="950" dirty="0">
                <a:solidFill>
                  <a:srgbClr val="9FC2D4"/>
                </a:solidFill>
                <a:latin typeface="Calibri" pitchFamily="34" charset="0"/>
                <a:ea typeface="Calibri" pitchFamily="34" charset="-122"/>
                <a:cs typeface="Calibri" pitchFamily="34" charset="-120"/>
              </a:rPr>
              <a:t>trained on approved DGIPR output</a:t>
            </a:r>
            <a:endParaRPr lang="en-US" sz="950" dirty="0"/>
          </a:p>
        </p:txBody>
      </p:sp>
      <p:sp>
        <p:nvSpPr>
          <p:cNvPr id="16" name="Text 14"/>
          <p:cNvSpPr txBox="1"/>
          <p:nvPr/>
        </p:nvSpPr>
        <p:spPr>
          <a:xfrm>
            <a:off x="566928" y="5760720"/>
            <a:ext cx="5486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Incepthink LLP</a:t>
            </a:r>
            <a:endParaRPr lang="en-US" sz="1400" dirty="0"/>
          </a:p>
        </p:txBody>
      </p:sp>
      <p:sp>
        <p:nvSpPr>
          <p:cNvPr id="17" name="Text 15"/>
          <p:cNvSpPr txBox="1"/>
          <p:nvPr/>
        </p:nvSpPr>
        <p:spPr>
          <a:xfrm>
            <a:off x="7967167" y="5760720"/>
            <a:ext cx="3657600" cy="292608"/>
          </a:xfrm>
          <a:prstGeom prst="rect">
            <a:avLst/>
          </a:prstGeom>
          <a:noFill/>
          <a:ln/>
        </p:spPr>
        <p:txBody>
          <a:bodyPr wrap="square" lIns="0" tIns="0" rIns="0" bIns="0" rtlCol="0" anchor="ctr"/>
          <a:lstStyle/>
          <a:p>
            <a:pPr algn="r" indent="0" marL="0">
              <a:buNone/>
            </a:pPr>
            <a:r>
              <a:rPr lang="en-US" sz="1100" dirty="0">
                <a:solidFill>
                  <a:srgbClr val="8FC3D9"/>
                </a:solidFill>
                <a:latin typeface="Calibri" pitchFamily="34" charset="0"/>
                <a:ea typeface="Calibri" pitchFamily="34" charset="-122"/>
                <a:cs typeface="Calibri" pitchFamily="34" charset="-120"/>
              </a:rPr>
              <a:t>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AT A GLANCE</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What we are deploying, in one slide</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2</a:t>
            </a:r>
            <a:endParaRPr lang="en-US" sz="850" dirty="0"/>
          </a:p>
        </p:txBody>
      </p:sp>
      <p:sp>
        <p:nvSpPr>
          <p:cNvPr id="7" name="Shape 4"/>
          <p:cNvSpPr/>
          <p:nvPr/>
        </p:nvSpPr>
        <p:spPr>
          <a:xfrm>
            <a:off x="566928" y="1481328"/>
            <a:ext cx="2578608" cy="2121408"/>
          </a:xfrm>
          <a:prstGeom prst="roundRect">
            <a:avLst>
              <a:gd name="adj" fmla="val 3017"/>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8" name="Text 5"/>
          <p:cNvSpPr txBox="1"/>
          <p:nvPr/>
        </p:nvSpPr>
        <p:spPr>
          <a:xfrm>
            <a:off x="786384" y="1700784"/>
            <a:ext cx="2139696" cy="219456"/>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MODEL</a:t>
            </a:r>
            <a:endParaRPr lang="en-US" sz="900" dirty="0"/>
          </a:p>
        </p:txBody>
      </p:sp>
      <p:sp>
        <p:nvSpPr>
          <p:cNvPr id="9" name="Text 6"/>
          <p:cNvSpPr txBox="1"/>
          <p:nvPr/>
        </p:nvSpPr>
        <p:spPr>
          <a:xfrm>
            <a:off x="786384" y="1975104"/>
            <a:ext cx="2139696" cy="658368"/>
          </a:xfrm>
          <a:prstGeom prst="rect">
            <a:avLst/>
          </a:prstGeom>
          <a:noFill/>
          <a:ln/>
        </p:spPr>
        <p:txBody>
          <a:bodyPr wrap="square" lIns="0" tIns="0" rIns="0" bIns="0" rtlCol="0" anchor="ctr"/>
          <a:lstStyle/>
          <a:p>
            <a:pPr indent="0" marL="0">
              <a:buNone/>
            </a:pPr>
            <a:r>
              <a:rPr lang="en-US" sz="2000" b="1" dirty="0">
                <a:solidFill>
                  <a:srgbClr val="0F2B46"/>
                </a:solidFill>
                <a:latin typeface="Cambria" pitchFamily="34" charset="0"/>
                <a:ea typeface="Cambria" pitchFamily="34" charset="-122"/>
                <a:cs typeface="Cambria" pitchFamily="34" charset="-120"/>
              </a:rPr>
              <a:t>Qwen3-32B</a:t>
            </a:r>
            <a:endParaRPr lang="en-US" sz="2000" dirty="0"/>
          </a:p>
        </p:txBody>
      </p:sp>
      <p:sp>
        <p:nvSpPr>
          <p:cNvPr id="10" name="Text 7"/>
          <p:cNvSpPr txBox="1"/>
          <p:nvPr/>
        </p:nvSpPr>
        <p:spPr>
          <a:xfrm>
            <a:off x="786384" y="2670048"/>
            <a:ext cx="2139696" cy="804672"/>
          </a:xfrm>
          <a:prstGeom prst="rect">
            <a:avLst/>
          </a:prstGeom>
          <a:noFill/>
          <a:ln/>
        </p:spPr>
        <p:txBody>
          <a:bodyPr wrap="square" lIns="0" tIns="0" rIns="0" bIns="0" rtlCol="0" anchor="ctr"/>
          <a:lstStyle/>
          <a:p>
            <a:pPr indent="0" marL="0">
              <a:lnSpc>
                <a:spcPts val="1400"/>
              </a:lnSpc>
              <a:buNone/>
            </a:pPr>
            <a:r>
              <a:rPr lang="en-US" sz="1000" dirty="0">
                <a:solidFill>
                  <a:srgbClr val="33424E"/>
                </a:solidFill>
                <a:latin typeface="Calibri" pitchFamily="34" charset="0"/>
                <a:ea typeface="Calibri" pitchFamily="34" charset="-122"/>
                <a:cs typeface="Calibri" pitchFamily="34" charset="-120"/>
              </a:rPr>
              <a:t>Dense, 32.8B parameters, Apache 2.0. Best editorial output in our Marathi evaluation.</a:t>
            </a:r>
            <a:endParaRPr lang="en-US" sz="1000" dirty="0"/>
          </a:p>
        </p:txBody>
      </p:sp>
      <p:sp>
        <p:nvSpPr>
          <p:cNvPr id="11" name="Shape 8"/>
          <p:cNvSpPr/>
          <p:nvPr/>
        </p:nvSpPr>
        <p:spPr>
          <a:xfrm>
            <a:off x="3392424" y="1481328"/>
            <a:ext cx="2578608" cy="2121408"/>
          </a:xfrm>
          <a:prstGeom prst="roundRect">
            <a:avLst>
              <a:gd name="adj" fmla="val 3017"/>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2" name="Text 9"/>
          <p:cNvSpPr txBox="1"/>
          <p:nvPr/>
        </p:nvSpPr>
        <p:spPr>
          <a:xfrm>
            <a:off x="3611880" y="1700784"/>
            <a:ext cx="2139696" cy="219456"/>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DEPLOYMENT</a:t>
            </a:r>
            <a:endParaRPr lang="en-US" sz="900" dirty="0"/>
          </a:p>
        </p:txBody>
      </p:sp>
      <p:sp>
        <p:nvSpPr>
          <p:cNvPr id="13" name="Text 10"/>
          <p:cNvSpPr txBox="1"/>
          <p:nvPr/>
        </p:nvSpPr>
        <p:spPr>
          <a:xfrm>
            <a:off x="3611880" y="1975104"/>
            <a:ext cx="2139696" cy="658368"/>
          </a:xfrm>
          <a:prstGeom prst="rect">
            <a:avLst/>
          </a:prstGeom>
          <a:noFill/>
          <a:ln/>
        </p:spPr>
        <p:txBody>
          <a:bodyPr wrap="square" lIns="0" tIns="0" rIns="0" bIns="0" rtlCol="0" anchor="ctr"/>
          <a:lstStyle/>
          <a:p>
            <a:pPr indent="0" marL="0">
              <a:buNone/>
            </a:pPr>
            <a:r>
              <a:rPr lang="en-US" sz="2000" b="1" dirty="0">
                <a:solidFill>
                  <a:srgbClr val="0F2B46"/>
                </a:solidFill>
                <a:latin typeface="Cambria" pitchFamily="34" charset="0"/>
                <a:ea typeface="Cambria" pitchFamily="34" charset="-122"/>
                <a:cs typeface="Cambria" pitchFamily="34" charset="-120"/>
              </a:rPr>
              <a:t>Fully on-premise</a:t>
            </a:r>
            <a:endParaRPr lang="en-US" sz="2000" dirty="0"/>
          </a:p>
        </p:txBody>
      </p:sp>
      <p:sp>
        <p:nvSpPr>
          <p:cNvPr id="14" name="Text 11"/>
          <p:cNvSpPr txBox="1"/>
          <p:nvPr/>
        </p:nvSpPr>
        <p:spPr>
          <a:xfrm>
            <a:off x="3611880" y="2670048"/>
            <a:ext cx="2139696" cy="804672"/>
          </a:xfrm>
          <a:prstGeom prst="rect">
            <a:avLst/>
          </a:prstGeom>
          <a:noFill/>
          <a:ln/>
        </p:spPr>
        <p:txBody>
          <a:bodyPr wrap="square" lIns="0" tIns="0" rIns="0" bIns="0" rtlCol="0" anchor="ctr"/>
          <a:lstStyle/>
          <a:p>
            <a:pPr indent="0" marL="0">
              <a:lnSpc>
                <a:spcPts val="1400"/>
              </a:lnSpc>
              <a:buNone/>
            </a:pPr>
            <a:r>
              <a:rPr lang="en-US" sz="1000" dirty="0">
                <a:solidFill>
                  <a:srgbClr val="33424E"/>
                </a:solidFill>
                <a:latin typeface="Calibri" pitchFamily="34" charset="0"/>
                <a:ea typeface="Calibri" pitchFamily="34" charset="-122"/>
                <a:cs typeface="Calibri" pitchFamily="34" charset="-120"/>
              </a:rPr>
              <a:t>Inference, embeddings, OCR and the vector index all run inside departmental infrastructure.</a:t>
            </a:r>
            <a:endParaRPr lang="en-US" sz="1000" dirty="0"/>
          </a:p>
        </p:txBody>
      </p:sp>
      <p:sp>
        <p:nvSpPr>
          <p:cNvPr id="15" name="Shape 12"/>
          <p:cNvSpPr/>
          <p:nvPr/>
        </p:nvSpPr>
        <p:spPr>
          <a:xfrm>
            <a:off x="6217920" y="1481328"/>
            <a:ext cx="2578608" cy="2121408"/>
          </a:xfrm>
          <a:prstGeom prst="roundRect">
            <a:avLst>
              <a:gd name="adj" fmla="val 3017"/>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6" name="Text 13"/>
          <p:cNvSpPr txBox="1"/>
          <p:nvPr/>
        </p:nvSpPr>
        <p:spPr>
          <a:xfrm>
            <a:off x="6437376" y="1700784"/>
            <a:ext cx="2139696" cy="219456"/>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ADAPTATION</a:t>
            </a:r>
            <a:endParaRPr lang="en-US" sz="900" dirty="0"/>
          </a:p>
        </p:txBody>
      </p:sp>
      <p:sp>
        <p:nvSpPr>
          <p:cNvPr id="17" name="Text 14"/>
          <p:cNvSpPr txBox="1"/>
          <p:nvPr/>
        </p:nvSpPr>
        <p:spPr>
          <a:xfrm>
            <a:off x="6437376" y="1975104"/>
            <a:ext cx="2139696" cy="658368"/>
          </a:xfrm>
          <a:prstGeom prst="rect">
            <a:avLst/>
          </a:prstGeom>
          <a:noFill/>
          <a:ln/>
        </p:spPr>
        <p:txBody>
          <a:bodyPr wrap="square" lIns="0" tIns="0" rIns="0" bIns="0" rtlCol="0" anchor="ctr"/>
          <a:lstStyle/>
          <a:p>
            <a:pPr indent="0" marL="0">
              <a:buNone/>
            </a:pPr>
            <a:r>
              <a:rPr lang="en-US" sz="2000" b="1" dirty="0">
                <a:solidFill>
                  <a:srgbClr val="0F2B46"/>
                </a:solidFill>
                <a:latin typeface="Cambria" pitchFamily="34" charset="0"/>
                <a:ea typeface="Cambria" pitchFamily="34" charset="-122"/>
                <a:cs typeface="Cambria" pitchFamily="34" charset="-120"/>
              </a:rPr>
              <a:t>SFT, then DPO</a:t>
            </a:r>
            <a:endParaRPr lang="en-US" sz="2000" dirty="0"/>
          </a:p>
        </p:txBody>
      </p:sp>
      <p:sp>
        <p:nvSpPr>
          <p:cNvPr id="18" name="Text 15"/>
          <p:cNvSpPr txBox="1"/>
          <p:nvPr/>
        </p:nvSpPr>
        <p:spPr>
          <a:xfrm>
            <a:off x="6437376" y="2670048"/>
            <a:ext cx="2139696" cy="804672"/>
          </a:xfrm>
          <a:prstGeom prst="rect">
            <a:avLst/>
          </a:prstGeom>
          <a:noFill/>
          <a:ln/>
        </p:spPr>
        <p:txBody>
          <a:bodyPr wrap="square" lIns="0" tIns="0" rIns="0" bIns="0" rtlCol="0" anchor="ctr"/>
          <a:lstStyle/>
          <a:p>
            <a:pPr indent="0" marL="0">
              <a:lnSpc>
                <a:spcPts val="1400"/>
              </a:lnSpc>
              <a:buNone/>
            </a:pPr>
            <a:r>
              <a:rPr lang="en-US" sz="1000" dirty="0">
                <a:solidFill>
                  <a:srgbClr val="33424E"/>
                </a:solidFill>
                <a:latin typeface="Calibri" pitchFamily="34" charset="0"/>
                <a:ea typeface="Calibri" pitchFamily="34" charset="-122"/>
                <a:cs typeface="Calibri" pitchFamily="34" charset="-120"/>
              </a:rPr>
              <a:t>Supervised fine-tuning on approved articles, then preference tuning on officer edits.</a:t>
            </a:r>
            <a:endParaRPr lang="en-US" sz="1000" dirty="0"/>
          </a:p>
        </p:txBody>
      </p:sp>
      <p:sp>
        <p:nvSpPr>
          <p:cNvPr id="19" name="Shape 16"/>
          <p:cNvSpPr/>
          <p:nvPr/>
        </p:nvSpPr>
        <p:spPr>
          <a:xfrm>
            <a:off x="9043416" y="1481328"/>
            <a:ext cx="2578608" cy="2121408"/>
          </a:xfrm>
          <a:prstGeom prst="roundRect">
            <a:avLst>
              <a:gd name="adj" fmla="val 3017"/>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0" name="Text 17"/>
          <p:cNvSpPr txBox="1"/>
          <p:nvPr/>
        </p:nvSpPr>
        <p:spPr>
          <a:xfrm>
            <a:off x="9262872" y="1700784"/>
            <a:ext cx="2139696" cy="219456"/>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HARDWARE</a:t>
            </a:r>
            <a:endParaRPr lang="en-US" sz="900" dirty="0"/>
          </a:p>
        </p:txBody>
      </p:sp>
      <p:sp>
        <p:nvSpPr>
          <p:cNvPr id="21" name="Text 18"/>
          <p:cNvSpPr txBox="1"/>
          <p:nvPr/>
        </p:nvSpPr>
        <p:spPr>
          <a:xfrm>
            <a:off x="9262872" y="1975104"/>
            <a:ext cx="2139696" cy="658368"/>
          </a:xfrm>
          <a:prstGeom prst="rect">
            <a:avLst/>
          </a:prstGeom>
          <a:noFill/>
          <a:ln/>
        </p:spPr>
        <p:txBody>
          <a:bodyPr wrap="square" lIns="0" tIns="0" rIns="0" bIns="0" rtlCol="0" anchor="ctr"/>
          <a:lstStyle/>
          <a:p>
            <a:pPr indent="0" marL="0">
              <a:buNone/>
            </a:pPr>
            <a:r>
              <a:rPr lang="en-US" sz="2000" b="1" dirty="0">
                <a:solidFill>
                  <a:srgbClr val="0F2B46"/>
                </a:solidFill>
                <a:latin typeface="Cambria" pitchFamily="34" charset="0"/>
                <a:ea typeface="Cambria" pitchFamily="34" charset="-122"/>
                <a:cs typeface="Cambria" pitchFamily="34" charset="-120"/>
              </a:rPr>
              <a:t>RTX PRO 6000</a:t>
            </a:r>
            <a:endParaRPr lang="en-US" sz="2000" dirty="0"/>
          </a:p>
        </p:txBody>
      </p:sp>
      <p:sp>
        <p:nvSpPr>
          <p:cNvPr id="22" name="Text 19"/>
          <p:cNvSpPr txBox="1"/>
          <p:nvPr/>
        </p:nvSpPr>
        <p:spPr>
          <a:xfrm>
            <a:off x="9262872" y="2670048"/>
            <a:ext cx="2139696" cy="804672"/>
          </a:xfrm>
          <a:prstGeom prst="rect">
            <a:avLst/>
          </a:prstGeom>
          <a:noFill/>
          <a:ln/>
        </p:spPr>
        <p:txBody>
          <a:bodyPr wrap="square" lIns="0" tIns="0" rIns="0" bIns="0" rtlCol="0" anchor="ctr"/>
          <a:lstStyle/>
          <a:p>
            <a:pPr indent="0" marL="0">
              <a:lnSpc>
                <a:spcPts val="1400"/>
              </a:lnSpc>
              <a:buNone/>
            </a:pPr>
            <a:r>
              <a:rPr lang="en-US" sz="1000" dirty="0">
                <a:solidFill>
                  <a:srgbClr val="33424E"/>
                </a:solidFill>
                <a:latin typeface="Calibri" pitchFamily="34" charset="0"/>
                <a:ea typeface="Calibri" pitchFamily="34" charset="-122"/>
                <a:cs typeface="Calibri" pitchFamily="34" charset="-120"/>
              </a:rPr>
              <a:t>One NVIDIA RTX PRO 6000 96 GB in development; a horizontally scalable node architecture in production.</a:t>
            </a:r>
            <a:endParaRPr lang="en-US" sz="1000" dirty="0"/>
          </a:p>
        </p:txBody>
      </p:sp>
      <p:sp>
        <p:nvSpPr>
          <p:cNvPr id="23" name="Shape 20"/>
          <p:cNvSpPr/>
          <p:nvPr/>
        </p:nvSpPr>
        <p:spPr>
          <a:xfrm>
            <a:off x="566928" y="3858768"/>
            <a:ext cx="11055096" cy="1481328"/>
          </a:xfrm>
          <a:prstGeom prst="roundRect">
            <a:avLst>
              <a:gd name="adj" fmla="val 4321"/>
            </a:avLst>
          </a:prstGeom>
          <a:solidFill>
            <a:srgbClr val="FBEEDC"/>
          </a:solidFill>
          <a:ln w="9525">
            <a:solidFill>
              <a:srgbClr val="EBD3AE"/>
            </a:solidFill>
            <a:prstDash val="solid"/>
          </a:ln>
          <a:effectLst>
            <a:outerShdw sx="100000" sy="100000" kx="0" ky="0" algn="bl" rotWithShape="0" blurRad="101600" dist="12700" dir="5400000">
              <a:srgbClr val="0F2B46">
                <a:alpha val="8000"/>
              </a:srgbClr>
            </a:outerShdw>
          </a:effectLst>
        </p:spPr>
      </p:sp>
      <p:sp>
        <p:nvSpPr>
          <p:cNvPr id="24" name="Text 21"/>
          <p:cNvSpPr txBox="1"/>
          <p:nvPr/>
        </p:nvSpPr>
        <p:spPr>
          <a:xfrm>
            <a:off x="877824" y="4041648"/>
            <a:ext cx="10424160" cy="256032"/>
          </a:xfrm>
          <a:prstGeom prst="rect">
            <a:avLst/>
          </a:prstGeom>
          <a:noFill/>
          <a:ln/>
        </p:spPr>
        <p:txBody>
          <a:bodyPr wrap="square" lIns="0" tIns="0" rIns="0" bIns="0" rtlCol="0" anchor="ctr"/>
          <a:lstStyle/>
          <a:p>
            <a:pPr indent="0" marL="0">
              <a:buNone/>
            </a:pPr>
            <a:r>
              <a:rPr lang="en-US" sz="1000" b="1" spc="140" kern="0" dirty="0">
                <a:solidFill>
                  <a:srgbClr val="C2690F"/>
                </a:solidFill>
                <a:latin typeface="Calibri" pitchFamily="34" charset="0"/>
                <a:ea typeface="Calibri" pitchFamily="34" charset="-122"/>
                <a:cs typeface="Calibri" pitchFamily="34" charset="-120"/>
              </a:rPr>
              <a:t>The core argument</a:t>
            </a:r>
            <a:endParaRPr lang="en-US" sz="1000" dirty="0"/>
          </a:p>
        </p:txBody>
      </p:sp>
      <p:sp>
        <p:nvSpPr>
          <p:cNvPr id="25" name="Text 22"/>
          <p:cNvSpPr txBox="1"/>
          <p:nvPr/>
        </p:nvSpPr>
        <p:spPr>
          <a:xfrm>
            <a:off x="877824" y="4315968"/>
            <a:ext cx="10424160" cy="914400"/>
          </a:xfrm>
          <a:prstGeom prst="rect">
            <a:avLst/>
          </a:prstGeom>
          <a:noFill/>
          <a:ln/>
        </p:spPr>
        <p:txBody>
          <a:bodyPr wrap="square" lIns="0" tIns="0" rIns="0" bIns="0" rtlCol="0" anchor="ctr"/>
          <a:lstStyle/>
          <a:p>
            <a:pPr indent="0" marL="0">
              <a:lnSpc>
                <a:spcPts val="1700"/>
              </a:lnSpc>
              <a:buNone/>
            </a:pPr>
            <a:r>
              <a:rPr lang="en-US" sz="1200" dirty="0">
                <a:solidFill>
                  <a:srgbClr val="33424E"/>
                </a:solidFill>
                <a:latin typeface="Calibri" pitchFamily="34" charset="0"/>
                <a:ea typeface="Calibri" pitchFamily="34" charset="-122"/>
                <a:cs typeface="Calibri" pitchFamily="34" charset="-120"/>
              </a:rPr>
              <a:t>The problem with a general-purpose public AI service is the security of the government's data. Using one means official notes, unpublished Government Resolutions and internal transcripts leave departmental control and are processed on infrastructure the department neither owns nor governs. An on-premise model removes that exposure entirely. We evaluated six open-weight models on real DGIPR source material; Qwen3-32B produced the editorial output closest to Mahasamvad house style, at a hardware footprint the department can run. Every article an officer approves then becomes training data, so the model improves on the department's own standards rather than a generic one.</a:t>
            </a:r>
            <a:endParaRPr lang="en-US" sz="1200" dirty="0"/>
          </a:p>
        </p:txBody>
      </p:sp>
      <p:sp>
        <p:nvSpPr>
          <p:cNvPr id="26" name="Text 23"/>
          <p:cNvSpPr txBox="1"/>
          <p:nvPr/>
        </p:nvSpPr>
        <p:spPr>
          <a:xfrm>
            <a:off x="566928" y="5541264"/>
            <a:ext cx="914400" cy="475488"/>
          </a:xfrm>
          <a:prstGeom prst="rect">
            <a:avLst/>
          </a:prstGeom>
          <a:noFill/>
          <a:ln/>
        </p:spPr>
        <p:txBody>
          <a:bodyPr wrap="square" lIns="0" tIns="0" rIns="0" bIns="0"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6</a:t>
            </a:r>
            <a:endParaRPr lang="en-US" sz="2600" dirty="0"/>
          </a:p>
        </p:txBody>
      </p:sp>
      <p:sp>
        <p:nvSpPr>
          <p:cNvPr id="27" name="Text 24"/>
          <p:cNvSpPr txBox="1"/>
          <p:nvPr/>
        </p:nvSpPr>
        <p:spPr>
          <a:xfrm>
            <a:off x="1499616" y="5577840"/>
            <a:ext cx="1645920" cy="420624"/>
          </a:xfrm>
          <a:prstGeom prst="rect">
            <a:avLst/>
          </a:prstGeom>
          <a:noFill/>
          <a:ln/>
        </p:spPr>
        <p:txBody>
          <a:bodyPr wrap="square" lIns="0" tIns="0" rIns="0" bIns="0" rtlCol="0" anchor="ctr"/>
          <a:lstStyle/>
          <a:p>
            <a:pPr indent="0" marL="0">
              <a:lnSpc>
                <a:spcPts val="1200"/>
              </a:lnSpc>
              <a:buNone/>
            </a:pPr>
            <a:r>
              <a:rPr lang="en-US" sz="950" dirty="0">
                <a:solidFill>
                  <a:srgbClr val="72868F"/>
                </a:solidFill>
                <a:latin typeface="Calibri" pitchFamily="34" charset="0"/>
                <a:ea typeface="Calibri" pitchFamily="34" charset="-122"/>
                <a:cs typeface="Calibri" pitchFamily="34" charset="-120"/>
              </a:rPr>
              <a:t>models evaluated</a:t>
            </a:r>
            <a:endParaRPr lang="en-US" sz="950" dirty="0"/>
          </a:p>
        </p:txBody>
      </p:sp>
      <p:sp>
        <p:nvSpPr>
          <p:cNvPr id="28" name="Text 25"/>
          <p:cNvSpPr txBox="1"/>
          <p:nvPr/>
        </p:nvSpPr>
        <p:spPr>
          <a:xfrm>
            <a:off x="3392424" y="5541264"/>
            <a:ext cx="914400" cy="475488"/>
          </a:xfrm>
          <a:prstGeom prst="rect">
            <a:avLst/>
          </a:prstGeom>
          <a:noFill/>
          <a:ln/>
        </p:spPr>
        <p:txBody>
          <a:bodyPr wrap="square" lIns="0" tIns="0" rIns="0" bIns="0"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500+</a:t>
            </a:r>
            <a:endParaRPr lang="en-US" sz="2600" dirty="0"/>
          </a:p>
        </p:txBody>
      </p:sp>
      <p:sp>
        <p:nvSpPr>
          <p:cNvPr id="29" name="Text 26"/>
          <p:cNvSpPr txBox="1"/>
          <p:nvPr/>
        </p:nvSpPr>
        <p:spPr>
          <a:xfrm>
            <a:off x="4325112" y="5577840"/>
            <a:ext cx="1645920" cy="420624"/>
          </a:xfrm>
          <a:prstGeom prst="rect">
            <a:avLst/>
          </a:prstGeom>
          <a:noFill/>
          <a:ln/>
        </p:spPr>
        <p:txBody>
          <a:bodyPr wrap="square" lIns="0" tIns="0" rIns="0" bIns="0" rtlCol="0" anchor="ctr"/>
          <a:lstStyle/>
          <a:p>
            <a:pPr indent="0" marL="0">
              <a:lnSpc>
                <a:spcPts val="1200"/>
              </a:lnSpc>
              <a:buNone/>
            </a:pPr>
            <a:r>
              <a:rPr lang="en-US" sz="950" dirty="0">
                <a:solidFill>
                  <a:srgbClr val="72868F"/>
                </a:solidFill>
                <a:latin typeface="Calibri" pitchFamily="34" charset="0"/>
                <a:ea typeface="Calibri" pitchFamily="34" charset="-122"/>
                <a:cs typeface="Calibri" pitchFamily="34" charset="-120"/>
              </a:rPr>
              <a:t>evaluation items, growing daily</a:t>
            </a:r>
            <a:endParaRPr lang="en-US" sz="950" dirty="0"/>
          </a:p>
        </p:txBody>
      </p:sp>
      <p:sp>
        <p:nvSpPr>
          <p:cNvPr id="30" name="Text 27"/>
          <p:cNvSpPr txBox="1"/>
          <p:nvPr/>
        </p:nvSpPr>
        <p:spPr>
          <a:xfrm>
            <a:off x="6217920" y="5541264"/>
            <a:ext cx="914400" cy="475488"/>
          </a:xfrm>
          <a:prstGeom prst="rect">
            <a:avLst/>
          </a:prstGeom>
          <a:noFill/>
          <a:ln/>
        </p:spPr>
        <p:txBody>
          <a:bodyPr wrap="square" lIns="0" tIns="0" rIns="0" bIns="0"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36</a:t>
            </a:r>
            <a:endParaRPr lang="en-US" sz="2600" dirty="0"/>
          </a:p>
        </p:txBody>
      </p:sp>
      <p:sp>
        <p:nvSpPr>
          <p:cNvPr id="31" name="Text 28"/>
          <p:cNvSpPr txBox="1"/>
          <p:nvPr/>
        </p:nvSpPr>
        <p:spPr>
          <a:xfrm>
            <a:off x="7150608" y="5577840"/>
            <a:ext cx="1645920" cy="420624"/>
          </a:xfrm>
          <a:prstGeom prst="rect">
            <a:avLst/>
          </a:prstGeom>
          <a:noFill/>
          <a:ln/>
        </p:spPr>
        <p:txBody>
          <a:bodyPr wrap="square" lIns="0" tIns="0" rIns="0" bIns="0" rtlCol="0" anchor="ctr"/>
          <a:lstStyle/>
          <a:p>
            <a:pPr indent="0" marL="0">
              <a:lnSpc>
                <a:spcPts val="1200"/>
              </a:lnSpc>
              <a:buNone/>
            </a:pPr>
            <a:r>
              <a:rPr lang="en-US" sz="950" dirty="0">
                <a:solidFill>
                  <a:srgbClr val="72868F"/>
                </a:solidFill>
                <a:latin typeface="Calibri" pitchFamily="34" charset="0"/>
                <a:ea typeface="Calibri" pitchFamily="34" charset="-122"/>
                <a:cs typeface="Calibri" pitchFamily="34" charset="-120"/>
              </a:rPr>
              <a:t>district offices served</a:t>
            </a:r>
            <a:endParaRPr lang="en-US" sz="950" dirty="0"/>
          </a:p>
        </p:txBody>
      </p:sp>
      <p:sp>
        <p:nvSpPr>
          <p:cNvPr id="32" name="Text 29"/>
          <p:cNvSpPr txBox="1"/>
          <p:nvPr/>
        </p:nvSpPr>
        <p:spPr>
          <a:xfrm>
            <a:off x="9043416" y="5541264"/>
            <a:ext cx="914400" cy="475488"/>
          </a:xfrm>
          <a:prstGeom prst="rect">
            <a:avLst/>
          </a:prstGeom>
          <a:noFill/>
          <a:ln/>
        </p:spPr>
        <p:txBody>
          <a:bodyPr wrap="square" lIns="0" tIns="0" rIns="0" bIns="0"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0</a:t>
            </a:r>
            <a:endParaRPr lang="en-US" sz="2600" dirty="0"/>
          </a:p>
        </p:txBody>
      </p:sp>
      <p:sp>
        <p:nvSpPr>
          <p:cNvPr id="33" name="Text 30"/>
          <p:cNvSpPr txBox="1"/>
          <p:nvPr/>
        </p:nvSpPr>
        <p:spPr>
          <a:xfrm>
            <a:off x="9976104" y="5577840"/>
            <a:ext cx="1645920" cy="420624"/>
          </a:xfrm>
          <a:prstGeom prst="rect">
            <a:avLst/>
          </a:prstGeom>
          <a:noFill/>
          <a:ln/>
        </p:spPr>
        <p:txBody>
          <a:bodyPr wrap="square" lIns="0" tIns="0" rIns="0" bIns="0" rtlCol="0" anchor="ctr"/>
          <a:lstStyle/>
          <a:p>
            <a:pPr indent="0" marL="0">
              <a:lnSpc>
                <a:spcPts val="1200"/>
              </a:lnSpc>
              <a:buNone/>
            </a:pPr>
            <a:r>
              <a:rPr lang="en-US" sz="950" dirty="0">
                <a:solidFill>
                  <a:srgbClr val="72868F"/>
                </a:solidFill>
                <a:latin typeface="Calibri" pitchFamily="34" charset="0"/>
                <a:ea typeface="Calibri" pitchFamily="34" charset="-122"/>
                <a:cs typeface="Calibri" pitchFamily="34" charset="-120"/>
              </a:rPr>
              <a:t>bytes of source data leaving the department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1</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Why the department should own the model</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3</a:t>
            </a:r>
            <a:endParaRPr lang="en-US" sz="850" dirty="0"/>
          </a:p>
        </p:txBody>
      </p:sp>
      <p:sp>
        <p:nvSpPr>
          <p:cNvPr id="7" name="Shape 4"/>
          <p:cNvSpPr/>
          <p:nvPr/>
        </p:nvSpPr>
        <p:spPr>
          <a:xfrm>
            <a:off x="566928" y="1444752"/>
            <a:ext cx="7818120" cy="822960"/>
          </a:xfrm>
          <a:prstGeom prst="roundRect">
            <a:avLst>
              <a:gd name="adj" fmla="val 7778"/>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8" name="Shape 5"/>
          <p:cNvSpPr/>
          <p:nvPr/>
        </p:nvSpPr>
        <p:spPr>
          <a:xfrm>
            <a:off x="804672" y="1659636"/>
            <a:ext cx="393192" cy="393192"/>
          </a:xfrm>
          <a:prstGeom prst="ellipse">
            <a:avLst/>
          </a:prstGeom>
          <a:solidFill>
            <a:srgbClr val="1C7293"/>
          </a:solidFill>
          <a:ln w="6350">
            <a:solidFill>
              <a:srgbClr val="1C7293"/>
            </a:solidFill>
            <a:prstDash val="solid"/>
          </a:ln>
        </p:spPr>
      </p:sp>
      <p:sp>
        <p:nvSpPr>
          <p:cNvPr id="9" name="Text 6"/>
          <p:cNvSpPr txBox="1"/>
          <p:nvPr/>
        </p:nvSpPr>
        <p:spPr>
          <a:xfrm>
            <a:off x="804672" y="1659636"/>
            <a:ext cx="39319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1353312" y="1563624"/>
            <a:ext cx="6766560" cy="237744"/>
          </a:xfrm>
          <a:prstGeom prst="rect">
            <a:avLst/>
          </a:prstGeom>
          <a:noFill/>
          <a:ln/>
        </p:spPr>
        <p:txBody>
          <a:bodyPr wrap="square" lIns="0" tIns="0" rIns="0" bIns="0" rtlCol="0" anchor="ctr"/>
          <a:lstStyle/>
          <a:p>
            <a:pPr indent="0" marL="0">
              <a:buNone/>
            </a:pPr>
            <a:r>
              <a:rPr lang="en-US" sz="1300" b="1" dirty="0">
                <a:solidFill>
                  <a:srgbClr val="0F2B46"/>
                </a:solidFill>
                <a:latin typeface="Cambria" pitchFamily="34" charset="0"/>
                <a:ea typeface="Cambria" pitchFamily="34" charset="-122"/>
                <a:cs typeface="Cambria" pitchFamily="34" charset="-120"/>
              </a:rPr>
              <a:t>Data sovereignty</a:t>
            </a:r>
            <a:endParaRPr lang="en-US" sz="1300" dirty="0"/>
          </a:p>
        </p:txBody>
      </p:sp>
      <p:sp>
        <p:nvSpPr>
          <p:cNvPr id="11" name="Text 8"/>
          <p:cNvSpPr txBox="1"/>
          <p:nvPr/>
        </p:nvSpPr>
        <p:spPr>
          <a:xfrm>
            <a:off x="1353312" y="1810512"/>
            <a:ext cx="6858000" cy="402336"/>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Unpublished Government Resolutions, embargoed press notes and internal meeting transcripts are processed on departmental hardware. Nothing is transmitted to a commercial AI provider.</a:t>
            </a:r>
            <a:endParaRPr lang="en-US" sz="950" dirty="0"/>
          </a:p>
        </p:txBody>
      </p:sp>
      <p:sp>
        <p:nvSpPr>
          <p:cNvPr id="12" name="Shape 9"/>
          <p:cNvSpPr/>
          <p:nvPr/>
        </p:nvSpPr>
        <p:spPr>
          <a:xfrm>
            <a:off x="566928" y="2386584"/>
            <a:ext cx="7818120" cy="822960"/>
          </a:xfrm>
          <a:prstGeom prst="roundRect">
            <a:avLst>
              <a:gd name="adj" fmla="val 7778"/>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3" name="Shape 10"/>
          <p:cNvSpPr/>
          <p:nvPr/>
        </p:nvSpPr>
        <p:spPr>
          <a:xfrm>
            <a:off x="804672" y="2601468"/>
            <a:ext cx="393192" cy="393192"/>
          </a:xfrm>
          <a:prstGeom prst="ellipse">
            <a:avLst/>
          </a:prstGeom>
          <a:solidFill>
            <a:srgbClr val="1C7293"/>
          </a:solidFill>
          <a:ln w="6350">
            <a:solidFill>
              <a:srgbClr val="1C7293"/>
            </a:solidFill>
            <a:prstDash val="solid"/>
          </a:ln>
        </p:spPr>
      </p:sp>
      <p:sp>
        <p:nvSpPr>
          <p:cNvPr id="14" name="Text 11"/>
          <p:cNvSpPr txBox="1"/>
          <p:nvPr/>
        </p:nvSpPr>
        <p:spPr>
          <a:xfrm>
            <a:off x="804672" y="2601468"/>
            <a:ext cx="39319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1353312" y="2505456"/>
            <a:ext cx="6766560" cy="237744"/>
          </a:xfrm>
          <a:prstGeom prst="rect">
            <a:avLst/>
          </a:prstGeom>
          <a:noFill/>
          <a:ln/>
        </p:spPr>
        <p:txBody>
          <a:bodyPr wrap="square" lIns="0" tIns="0" rIns="0" bIns="0" rtlCol="0" anchor="ctr"/>
          <a:lstStyle/>
          <a:p>
            <a:pPr indent="0" marL="0">
              <a:buNone/>
            </a:pPr>
            <a:r>
              <a:rPr lang="en-US" sz="1300" b="1" dirty="0">
                <a:solidFill>
                  <a:srgbClr val="0F2B46"/>
                </a:solidFill>
                <a:latin typeface="Cambria" pitchFamily="34" charset="0"/>
                <a:ea typeface="Cambria" pitchFamily="34" charset="-122"/>
                <a:cs typeface="Cambria" pitchFamily="34" charset="-120"/>
              </a:rPr>
              <a:t>No third-party retention</a:t>
            </a:r>
            <a:endParaRPr lang="en-US" sz="1300" dirty="0"/>
          </a:p>
        </p:txBody>
      </p:sp>
      <p:sp>
        <p:nvSpPr>
          <p:cNvPr id="16" name="Text 13"/>
          <p:cNvSpPr txBox="1"/>
          <p:nvPr/>
        </p:nvSpPr>
        <p:spPr>
          <a:xfrm>
            <a:off x="1353312" y="2752344"/>
            <a:ext cx="6858000" cy="402336"/>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No vendor logging, no retention window to negotiate, no possibility of state material being used to train someone else's model, no cross-border transfer.</a:t>
            </a:r>
            <a:endParaRPr lang="en-US" sz="950" dirty="0"/>
          </a:p>
        </p:txBody>
      </p:sp>
      <p:sp>
        <p:nvSpPr>
          <p:cNvPr id="17" name="Shape 14"/>
          <p:cNvSpPr/>
          <p:nvPr/>
        </p:nvSpPr>
        <p:spPr>
          <a:xfrm>
            <a:off x="566928" y="3328416"/>
            <a:ext cx="7818120" cy="822960"/>
          </a:xfrm>
          <a:prstGeom prst="roundRect">
            <a:avLst>
              <a:gd name="adj" fmla="val 7778"/>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8" name="Shape 15"/>
          <p:cNvSpPr/>
          <p:nvPr/>
        </p:nvSpPr>
        <p:spPr>
          <a:xfrm>
            <a:off x="804672" y="3543300"/>
            <a:ext cx="393192" cy="393192"/>
          </a:xfrm>
          <a:prstGeom prst="ellipse">
            <a:avLst/>
          </a:prstGeom>
          <a:solidFill>
            <a:srgbClr val="1C7293"/>
          </a:solidFill>
          <a:ln w="6350">
            <a:solidFill>
              <a:srgbClr val="1C7293"/>
            </a:solidFill>
            <a:prstDash val="solid"/>
          </a:ln>
        </p:spPr>
      </p:sp>
      <p:sp>
        <p:nvSpPr>
          <p:cNvPr id="19" name="Text 16"/>
          <p:cNvSpPr txBox="1"/>
          <p:nvPr/>
        </p:nvSpPr>
        <p:spPr>
          <a:xfrm>
            <a:off x="804672" y="3543300"/>
            <a:ext cx="39319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1353312" y="3447288"/>
            <a:ext cx="6766560" cy="237744"/>
          </a:xfrm>
          <a:prstGeom prst="rect">
            <a:avLst/>
          </a:prstGeom>
          <a:noFill/>
          <a:ln/>
        </p:spPr>
        <p:txBody>
          <a:bodyPr wrap="square" lIns="0" tIns="0" rIns="0" bIns="0" rtlCol="0" anchor="ctr"/>
          <a:lstStyle/>
          <a:p>
            <a:pPr indent="0" marL="0">
              <a:buNone/>
            </a:pPr>
            <a:r>
              <a:rPr lang="en-US" sz="1300" b="1" dirty="0">
                <a:solidFill>
                  <a:srgbClr val="0F2B46"/>
                </a:solidFill>
                <a:latin typeface="Cambria" pitchFamily="34" charset="0"/>
                <a:ea typeface="Cambria" pitchFamily="34" charset="-122"/>
                <a:cs typeface="Cambria" pitchFamily="34" charset="-120"/>
              </a:rPr>
              <a:t>Predictable cost</a:t>
            </a:r>
            <a:endParaRPr lang="en-US" sz="1300" dirty="0"/>
          </a:p>
        </p:txBody>
      </p:sp>
      <p:sp>
        <p:nvSpPr>
          <p:cNvPr id="21" name="Text 18"/>
          <p:cNvSpPr txBox="1"/>
          <p:nvPr/>
        </p:nvSpPr>
        <p:spPr>
          <a:xfrm>
            <a:off x="1353312" y="3694176"/>
            <a:ext cx="6858000" cy="402336"/>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Fixed hardware and operations cost instead of per-token billing that rises with every district office added. Usage growth does not create a budget variance.</a:t>
            </a:r>
            <a:endParaRPr lang="en-US" sz="950" dirty="0"/>
          </a:p>
        </p:txBody>
      </p:sp>
      <p:sp>
        <p:nvSpPr>
          <p:cNvPr id="22" name="Shape 19"/>
          <p:cNvSpPr/>
          <p:nvPr/>
        </p:nvSpPr>
        <p:spPr>
          <a:xfrm>
            <a:off x="566928" y="4270248"/>
            <a:ext cx="7818120" cy="822960"/>
          </a:xfrm>
          <a:prstGeom prst="roundRect">
            <a:avLst>
              <a:gd name="adj" fmla="val 7778"/>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3" name="Shape 20"/>
          <p:cNvSpPr/>
          <p:nvPr/>
        </p:nvSpPr>
        <p:spPr>
          <a:xfrm>
            <a:off x="804672" y="4485132"/>
            <a:ext cx="393192" cy="393192"/>
          </a:xfrm>
          <a:prstGeom prst="ellipse">
            <a:avLst/>
          </a:prstGeom>
          <a:solidFill>
            <a:srgbClr val="1C7293"/>
          </a:solidFill>
          <a:ln w="6350">
            <a:solidFill>
              <a:srgbClr val="1C7293"/>
            </a:solidFill>
            <a:prstDash val="solid"/>
          </a:ln>
        </p:spPr>
      </p:sp>
      <p:sp>
        <p:nvSpPr>
          <p:cNvPr id="24" name="Text 21"/>
          <p:cNvSpPr txBox="1"/>
          <p:nvPr/>
        </p:nvSpPr>
        <p:spPr>
          <a:xfrm>
            <a:off x="804672" y="4485132"/>
            <a:ext cx="39319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2"/>
          <p:cNvSpPr txBox="1"/>
          <p:nvPr/>
        </p:nvSpPr>
        <p:spPr>
          <a:xfrm>
            <a:off x="1353312" y="4389120"/>
            <a:ext cx="6766560" cy="237744"/>
          </a:xfrm>
          <a:prstGeom prst="rect">
            <a:avLst/>
          </a:prstGeom>
          <a:noFill/>
          <a:ln/>
        </p:spPr>
        <p:txBody>
          <a:bodyPr wrap="square" lIns="0" tIns="0" rIns="0" bIns="0" rtlCol="0" anchor="ctr"/>
          <a:lstStyle/>
          <a:p>
            <a:pPr indent="0" marL="0">
              <a:buNone/>
            </a:pPr>
            <a:r>
              <a:rPr lang="en-US" sz="1300" b="1" dirty="0">
                <a:solidFill>
                  <a:srgbClr val="0F2B46"/>
                </a:solidFill>
                <a:latin typeface="Cambria" pitchFamily="34" charset="0"/>
                <a:ea typeface="Cambria" pitchFamily="34" charset="-122"/>
                <a:cs typeface="Cambria" pitchFamily="34" charset="-120"/>
              </a:rPr>
              <a:t>Version control over the model</a:t>
            </a:r>
            <a:endParaRPr lang="en-US" sz="1300" dirty="0"/>
          </a:p>
        </p:txBody>
      </p:sp>
      <p:sp>
        <p:nvSpPr>
          <p:cNvPr id="26" name="Text 23"/>
          <p:cNvSpPr txBox="1"/>
          <p:nvPr/>
        </p:nvSpPr>
        <p:spPr>
          <a:xfrm>
            <a:off x="1353312" y="4636008"/>
            <a:ext cx="6858000" cy="402336"/>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The department decides which model version is approved, when it changes, and can roll back to the previous approved checkpoint in one step.</a:t>
            </a:r>
            <a:endParaRPr lang="en-US" sz="950" dirty="0"/>
          </a:p>
        </p:txBody>
      </p:sp>
      <p:sp>
        <p:nvSpPr>
          <p:cNvPr id="27" name="Shape 24"/>
          <p:cNvSpPr/>
          <p:nvPr/>
        </p:nvSpPr>
        <p:spPr>
          <a:xfrm>
            <a:off x="566928" y="5212080"/>
            <a:ext cx="7818120" cy="822960"/>
          </a:xfrm>
          <a:prstGeom prst="roundRect">
            <a:avLst>
              <a:gd name="adj" fmla="val 7778"/>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8" name="Shape 25"/>
          <p:cNvSpPr/>
          <p:nvPr/>
        </p:nvSpPr>
        <p:spPr>
          <a:xfrm>
            <a:off x="804672" y="5426964"/>
            <a:ext cx="393192" cy="393192"/>
          </a:xfrm>
          <a:prstGeom prst="ellipse">
            <a:avLst/>
          </a:prstGeom>
          <a:solidFill>
            <a:srgbClr val="1C7293"/>
          </a:solidFill>
          <a:ln w="6350">
            <a:solidFill>
              <a:srgbClr val="1C7293"/>
            </a:solidFill>
            <a:prstDash val="solid"/>
          </a:ln>
        </p:spPr>
      </p:sp>
      <p:sp>
        <p:nvSpPr>
          <p:cNvPr id="29" name="Text 26"/>
          <p:cNvSpPr txBox="1"/>
          <p:nvPr/>
        </p:nvSpPr>
        <p:spPr>
          <a:xfrm>
            <a:off x="804672" y="5426964"/>
            <a:ext cx="39319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7"/>
          <p:cNvSpPr txBox="1"/>
          <p:nvPr/>
        </p:nvSpPr>
        <p:spPr>
          <a:xfrm>
            <a:off x="1353312" y="5330952"/>
            <a:ext cx="6766560" cy="237744"/>
          </a:xfrm>
          <a:prstGeom prst="rect">
            <a:avLst/>
          </a:prstGeom>
          <a:noFill/>
          <a:ln/>
        </p:spPr>
        <p:txBody>
          <a:bodyPr wrap="square" lIns="0" tIns="0" rIns="0" bIns="0" rtlCol="0" anchor="ctr"/>
          <a:lstStyle/>
          <a:p>
            <a:pPr indent="0" marL="0">
              <a:buNone/>
            </a:pPr>
            <a:r>
              <a:rPr lang="en-US" sz="1300" b="1" dirty="0">
                <a:solidFill>
                  <a:srgbClr val="0F2B46"/>
                </a:solidFill>
                <a:latin typeface="Cambria" pitchFamily="34" charset="0"/>
                <a:ea typeface="Cambria" pitchFamily="34" charset="-122"/>
                <a:cs typeface="Cambria" pitchFamily="34" charset="-120"/>
              </a:rPr>
              <a:t>Auditability</a:t>
            </a:r>
            <a:endParaRPr lang="en-US" sz="1300" dirty="0"/>
          </a:p>
        </p:txBody>
      </p:sp>
      <p:sp>
        <p:nvSpPr>
          <p:cNvPr id="31" name="Text 28"/>
          <p:cNvSpPr txBox="1"/>
          <p:nvPr/>
        </p:nvSpPr>
        <p:spPr>
          <a:xfrm>
            <a:off x="1353312" y="5577840"/>
            <a:ext cx="6858000" cy="402336"/>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Source document, prompt, model version, every draft and the approving officer are stored against each published article and can be produced on demand.</a:t>
            </a:r>
            <a:endParaRPr lang="en-US" sz="950" dirty="0"/>
          </a:p>
        </p:txBody>
      </p:sp>
      <p:sp>
        <p:nvSpPr>
          <p:cNvPr id="32" name="Shape 29"/>
          <p:cNvSpPr/>
          <p:nvPr/>
        </p:nvSpPr>
        <p:spPr>
          <a:xfrm>
            <a:off x="8631936" y="1444752"/>
            <a:ext cx="2990088" cy="2331720"/>
          </a:xfrm>
          <a:prstGeom prst="roundRect">
            <a:avLst>
              <a:gd name="adj" fmla="val 2745"/>
            </a:avLst>
          </a:prstGeom>
          <a:solidFill>
            <a:srgbClr val="0F2B46"/>
          </a:solidFill>
          <a:ln w="9525">
            <a:solidFill>
              <a:srgbClr val="0F2B46"/>
            </a:solidFill>
            <a:prstDash val="solid"/>
          </a:ln>
          <a:effectLst>
            <a:outerShdw sx="100000" sy="100000" kx="0" ky="0" algn="bl" rotWithShape="0" blurRad="101600" dist="12700" dir="5400000">
              <a:srgbClr val="0F2B46">
                <a:alpha val="8000"/>
              </a:srgbClr>
            </a:outerShdw>
          </a:effectLst>
        </p:spPr>
      </p:sp>
      <p:sp>
        <p:nvSpPr>
          <p:cNvPr id="33" name="Text 30"/>
          <p:cNvSpPr txBox="1"/>
          <p:nvPr/>
        </p:nvSpPr>
        <p:spPr>
          <a:xfrm>
            <a:off x="8851392" y="1645920"/>
            <a:ext cx="2560320" cy="219456"/>
          </a:xfrm>
          <a:prstGeom prst="rect">
            <a:avLst/>
          </a:prstGeom>
          <a:noFill/>
          <a:ln/>
        </p:spPr>
        <p:txBody>
          <a:bodyPr wrap="square" lIns="0" tIns="0" rIns="0" bIns="0" rtlCol="0" anchor="ctr"/>
          <a:lstStyle/>
          <a:p>
            <a:pPr indent="0" marL="0">
              <a:buNone/>
            </a:pPr>
            <a:r>
              <a:rPr lang="en-US" sz="850" b="1" spc="130" kern="0" dirty="0">
                <a:solidFill>
                  <a:srgbClr val="8FC3D9"/>
                </a:solidFill>
                <a:latin typeface="Calibri" pitchFamily="34" charset="0"/>
                <a:ea typeface="Calibri" pitchFamily="34" charset="-122"/>
                <a:cs typeface="Calibri" pitchFamily="34" charset="-120"/>
              </a:rPr>
              <a:t>THE TRADE-OFF WE ACCEPT</a:t>
            </a:r>
            <a:endParaRPr lang="en-US" sz="850" dirty="0"/>
          </a:p>
        </p:txBody>
      </p:sp>
      <p:sp>
        <p:nvSpPr>
          <p:cNvPr id="34" name="Text 31"/>
          <p:cNvSpPr txBox="1"/>
          <p:nvPr/>
        </p:nvSpPr>
        <p:spPr>
          <a:xfrm>
            <a:off x="8851392" y="1920240"/>
            <a:ext cx="2560320" cy="822960"/>
          </a:xfrm>
          <a:prstGeom prst="rect">
            <a:avLst/>
          </a:prstGeom>
          <a:noFill/>
          <a:ln/>
        </p:spPr>
        <p:txBody>
          <a:bodyPr wrap="square" lIns="0" tIns="0" rIns="0" bIns="0" rtlCol="0" anchor="ctr"/>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On-premise means the department owns capacity planning, model upgrades and MLOps.</a:t>
            </a:r>
            <a:endParaRPr lang="en-US" sz="1150" dirty="0"/>
          </a:p>
        </p:txBody>
      </p:sp>
      <p:sp>
        <p:nvSpPr>
          <p:cNvPr id="35" name="Text 32"/>
          <p:cNvSpPr txBox="1"/>
          <p:nvPr/>
        </p:nvSpPr>
        <p:spPr>
          <a:xfrm>
            <a:off x="8851392" y="2743200"/>
            <a:ext cx="2560320" cy="868680"/>
          </a:xfrm>
          <a:prstGeom prst="rect">
            <a:avLst/>
          </a:prstGeom>
          <a:noFill/>
          <a:ln/>
        </p:spPr>
        <p:txBody>
          <a:bodyPr wrap="square" lIns="0" tIns="0" rIns="0" bIns="0" rtlCol="0" anchor="ctr"/>
          <a:lstStyle/>
          <a:p>
            <a:pPr indent="0" marL="0">
              <a:lnSpc>
                <a:spcPts val="1250"/>
              </a:lnSpc>
              <a:buNone/>
            </a:pPr>
            <a:r>
              <a:rPr lang="en-US" sz="950" dirty="0">
                <a:solidFill>
                  <a:srgbClr val="AFCCDC"/>
                </a:solidFill>
                <a:latin typeface="Calibri" pitchFamily="34" charset="0"/>
                <a:ea typeface="Calibri" pitchFamily="34" charset="-122"/>
                <a:cs typeface="Calibri" pitchFamily="34" charset="-120"/>
              </a:rPr>
              <a:t>Incepthink carries that operational load under the engagement — sizing, deployment, monitoring, retraining and rollback. Slides 11 and 14 set out exactly what that involves.</a:t>
            </a:r>
            <a:endParaRPr lang="en-US" sz="950" dirty="0"/>
          </a:p>
        </p:txBody>
      </p:sp>
      <p:sp>
        <p:nvSpPr>
          <p:cNvPr id="36" name="Shape 33"/>
          <p:cNvSpPr/>
          <p:nvPr/>
        </p:nvSpPr>
        <p:spPr>
          <a:xfrm>
            <a:off x="8631936" y="3913632"/>
            <a:ext cx="2990088" cy="2240280"/>
          </a:xfrm>
          <a:prstGeom prst="roundRect">
            <a:avLst>
              <a:gd name="adj" fmla="val 2857"/>
            </a:avLst>
          </a:prstGeom>
          <a:solidFill>
            <a:srgbClr val="E4EEF3"/>
          </a:solidFill>
          <a:ln w="9525">
            <a:solidFill>
              <a:srgbClr val="BFD8E3"/>
            </a:solidFill>
            <a:prstDash val="solid"/>
          </a:ln>
          <a:effectLst>
            <a:outerShdw sx="100000" sy="100000" kx="0" ky="0" algn="bl" rotWithShape="0" blurRad="101600" dist="12700" dir="5400000">
              <a:srgbClr val="0F2B46">
                <a:alpha val="8000"/>
              </a:srgbClr>
            </a:outerShdw>
          </a:effectLst>
        </p:spPr>
      </p:sp>
      <p:sp>
        <p:nvSpPr>
          <p:cNvPr id="37" name="Text 34"/>
          <p:cNvSpPr txBox="1"/>
          <p:nvPr/>
        </p:nvSpPr>
        <p:spPr>
          <a:xfrm>
            <a:off x="8851392" y="4114800"/>
            <a:ext cx="2560320" cy="219456"/>
          </a:xfrm>
          <a:prstGeom prst="rect">
            <a:avLst/>
          </a:prstGeom>
          <a:noFill/>
          <a:ln/>
        </p:spPr>
        <p:txBody>
          <a:bodyPr wrap="square" lIns="0" tIns="0" rIns="0" bIns="0" rtlCol="0" anchor="ctr"/>
          <a:lstStyle/>
          <a:p>
            <a:pPr indent="0" marL="0">
              <a:buNone/>
            </a:pPr>
            <a:r>
              <a:rPr lang="en-US" sz="850" b="1" spc="130" kern="0" dirty="0">
                <a:solidFill>
                  <a:srgbClr val="1C7293"/>
                </a:solidFill>
                <a:latin typeface="Calibri" pitchFamily="34" charset="0"/>
                <a:ea typeface="Calibri" pitchFamily="34" charset="-122"/>
                <a:cs typeface="Calibri" pitchFamily="34" charset="-120"/>
              </a:rPr>
              <a:t>WHAT STAYS OFF-PREMISE</a:t>
            </a:r>
            <a:endParaRPr lang="en-US" sz="850" dirty="0"/>
          </a:p>
        </p:txBody>
      </p:sp>
      <p:sp>
        <p:nvSpPr>
          <p:cNvPr id="38" name="Text 35"/>
          <p:cNvSpPr txBox="1"/>
          <p:nvPr/>
        </p:nvSpPr>
        <p:spPr>
          <a:xfrm>
            <a:off x="8851392" y="4389120"/>
            <a:ext cx="2560320" cy="1600200"/>
          </a:xfrm>
          <a:prstGeom prst="rect">
            <a:avLst/>
          </a:prstGeom>
          <a:noFill/>
          <a:ln/>
        </p:spPr>
        <p:txBody>
          <a:bodyPr wrap="square" lIns="0" tIns="0" rIns="0" bIns="0" rtlCol="0" anchor="ctr"/>
          <a:lstStyle/>
          <a:p>
            <a:pPr indent="0" marL="0">
              <a:lnSpc>
                <a:spcPts val="1350"/>
              </a:lnSpc>
              <a:buNone/>
            </a:pPr>
            <a:r>
              <a:rPr lang="en-US" sz="1000" dirty="0">
                <a:solidFill>
                  <a:srgbClr val="33424E"/>
                </a:solidFill>
                <a:latin typeface="Calibri" pitchFamily="34" charset="0"/>
                <a:ea typeface="Calibri" pitchFamily="34" charset="-122"/>
                <a:cs typeface="Calibri" pitchFamily="34" charset="-120"/>
              </a:rPr>
              <a:t>Nothing in the article pipeline.</a:t>
            </a:r>
            <a:endParaRPr lang="en-US" sz="1000" dirty="0"/>
          </a:p>
          <a:p>
            <a:pPr indent="0" marL="0">
              <a:lnSpc>
                <a:spcPts val="1350"/>
              </a:lnSpc>
              <a:buNone/>
            </a:pPr>
            <a:endParaRPr lang="en-US" sz="1000" dirty="0"/>
          </a:p>
          <a:p>
            <a:pPr indent="0" marL="0">
              <a:lnSpc>
                <a:spcPts val="1350"/>
              </a:lnSpc>
              <a:buNone/>
            </a:pPr>
            <a:r>
              <a:rPr lang="en-US" sz="1000" dirty="0">
                <a:solidFill>
                  <a:srgbClr val="33424E"/>
                </a:solidFill>
                <a:latin typeface="Calibri" pitchFamily="34" charset="0"/>
                <a:ea typeface="Calibri" pitchFamily="34" charset="-122"/>
                <a:cs typeface="Calibri" pitchFamily="34" charset="-120"/>
              </a:rPr>
              <a:t>Public-web monitoring and social publishing necessarily reach the internet, but they carry already-published material only, through a separate egress path that never touches the inference tier.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2</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On-premise reference architecture</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4</a:t>
            </a:r>
            <a:endParaRPr lang="en-US" sz="850" dirty="0"/>
          </a:p>
        </p:txBody>
      </p:sp>
      <p:sp>
        <p:nvSpPr>
          <p:cNvPr id="7" name="Shape 4"/>
          <p:cNvSpPr/>
          <p:nvPr/>
        </p:nvSpPr>
        <p:spPr>
          <a:xfrm>
            <a:off x="1874520" y="2340864"/>
            <a:ext cx="9747504" cy="3584448"/>
          </a:xfrm>
          <a:prstGeom prst="roundRect">
            <a:avLst>
              <a:gd name="adj" fmla="val 1276"/>
            </a:avLst>
          </a:prstGeom>
          <a:solidFill>
            <a:srgbClr val="FFFFFF"/>
          </a:solidFill>
          <a:ln w="15875">
            <a:solidFill>
              <a:srgbClr val="1C7293"/>
            </a:solidFill>
            <a:prstDash val="dash"/>
          </a:ln>
        </p:spPr>
      </p:sp>
      <p:sp>
        <p:nvSpPr>
          <p:cNvPr id="8" name="Text 5"/>
          <p:cNvSpPr txBox="1"/>
          <p:nvPr/>
        </p:nvSpPr>
        <p:spPr>
          <a:xfrm>
            <a:off x="502920" y="1481328"/>
            <a:ext cx="1298448" cy="457200"/>
          </a:xfrm>
          <a:prstGeom prst="rect">
            <a:avLst/>
          </a:prstGeom>
          <a:noFill/>
          <a:ln/>
        </p:spPr>
        <p:txBody>
          <a:bodyPr wrap="square" lIns="0" tIns="0" rIns="0" bIns="0" rtlCol="0" anchor="ctr"/>
          <a:lstStyle/>
          <a:p>
            <a:pPr algn="r" indent="0" marL="0">
              <a:lnSpc>
                <a:spcPts val="1100"/>
              </a:lnSpc>
              <a:buNone/>
            </a:pPr>
            <a:r>
              <a:rPr lang="en-US" sz="850" b="1" spc="110" kern="0" dirty="0">
                <a:solidFill>
                  <a:srgbClr val="1C7293"/>
                </a:solidFill>
                <a:latin typeface="Calibri" pitchFamily="34" charset="0"/>
                <a:ea typeface="Calibri" pitchFamily="34" charset="-122"/>
                <a:cs typeface="Calibri" pitchFamily="34" charset="-120"/>
              </a:rPr>
              <a:t>USERS</a:t>
            </a:r>
            <a:endParaRPr lang="en-US" sz="850" dirty="0"/>
          </a:p>
        </p:txBody>
      </p:sp>
      <p:sp>
        <p:nvSpPr>
          <p:cNvPr id="9" name="Shape 6"/>
          <p:cNvSpPr/>
          <p:nvPr/>
        </p:nvSpPr>
        <p:spPr>
          <a:xfrm>
            <a:off x="2057400" y="1481328"/>
            <a:ext cx="2993136" cy="731520"/>
          </a:xfrm>
          <a:prstGeom prst="roundRect">
            <a:avLst>
              <a:gd name="adj" fmla="val 875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0" name="Text 7"/>
          <p:cNvSpPr txBox="1"/>
          <p:nvPr/>
        </p:nvSpPr>
        <p:spPr>
          <a:xfrm>
            <a:off x="2203704" y="1600200"/>
            <a:ext cx="2700528" cy="237744"/>
          </a:xfrm>
          <a:prstGeom prst="rect">
            <a:avLst/>
          </a:prstGeom>
          <a:noFill/>
          <a:ln/>
        </p:spPr>
        <p:txBody>
          <a:bodyPr wrap="square" lIns="0" tIns="0" rIns="0" bIns="0" rtlCol="0" anchor="ctr"/>
          <a:lstStyle/>
          <a:p>
            <a:pPr indent="0" marL="0">
              <a:buNone/>
            </a:pPr>
            <a:r>
              <a:rPr lang="en-US" sz="1050" b="1" dirty="0">
                <a:solidFill>
                  <a:srgbClr val="0F2B46"/>
                </a:solidFill>
                <a:latin typeface="Cambria" pitchFamily="34" charset="0"/>
                <a:ea typeface="Cambria" pitchFamily="34" charset="-122"/>
                <a:cs typeface="Cambria" pitchFamily="34" charset="-120"/>
              </a:rPr>
              <a:t>DGIPR headquarters</a:t>
            </a:r>
            <a:endParaRPr lang="en-US" sz="1050" dirty="0"/>
          </a:p>
        </p:txBody>
      </p:sp>
      <p:sp>
        <p:nvSpPr>
          <p:cNvPr id="11" name="Text 8"/>
          <p:cNvSpPr txBox="1"/>
          <p:nvPr/>
        </p:nvSpPr>
        <p:spPr>
          <a:xfrm>
            <a:off x="2203704" y="1847088"/>
            <a:ext cx="2700528" cy="256032"/>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Editorial and design desks</a:t>
            </a:r>
            <a:endParaRPr lang="en-US" sz="850" dirty="0"/>
          </a:p>
        </p:txBody>
      </p:sp>
      <p:sp>
        <p:nvSpPr>
          <p:cNvPr id="12" name="Shape 9"/>
          <p:cNvSpPr/>
          <p:nvPr/>
        </p:nvSpPr>
        <p:spPr>
          <a:xfrm>
            <a:off x="5251704" y="1481328"/>
            <a:ext cx="2993136" cy="731520"/>
          </a:xfrm>
          <a:prstGeom prst="roundRect">
            <a:avLst>
              <a:gd name="adj" fmla="val 875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3" name="Text 10"/>
          <p:cNvSpPr txBox="1"/>
          <p:nvPr/>
        </p:nvSpPr>
        <p:spPr>
          <a:xfrm>
            <a:off x="5398008" y="1600200"/>
            <a:ext cx="2700528" cy="237744"/>
          </a:xfrm>
          <a:prstGeom prst="rect">
            <a:avLst/>
          </a:prstGeom>
          <a:noFill/>
          <a:ln/>
        </p:spPr>
        <p:txBody>
          <a:bodyPr wrap="square" lIns="0" tIns="0" rIns="0" bIns="0" rtlCol="0" anchor="ctr"/>
          <a:lstStyle/>
          <a:p>
            <a:pPr indent="0" marL="0">
              <a:buNone/>
            </a:pPr>
            <a:r>
              <a:rPr lang="en-US" sz="1050" b="1" dirty="0">
                <a:solidFill>
                  <a:srgbClr val="0F2B46"/>
                </a:solidFill>
                <a:latin typeface="Cambria" pitchFamily="34" charset="0"/>
                <a:ea typeface="Cambria" pitchFamily="34" charset="-122"/>
                <a:cs typeface="Cambria" pitchFamily="34" charset="-120"/>
              </a:rPr>
              <a:t>36 District Information Offices</a:t>
            </a:r>
            <a:endParaRPr lang="en-US" sz="1050" dirty="0"/>
          </a:p>
        </p:txBody>
      </p:sp>
      <p:sp>
        <p:nvSpPr>
          <p:cNvPr id="14" name="Text 11"/>
          <p:cNvSpPr txBox="1"/>
          <p:nvPr/>
        </p:nvSpPr>
        <p:spPr>
          <a:xfrm>
            <a:off x="5398008" y="1847088"/>
            <a:ext cx="2700528" cy="256032"/>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District Information Officers across Maharashtra</a:t>
            </a:r>
            <a:endParaRPr lang="en-US" sz="850" dirty="0"/>
          </a:p>
        </p:txBody>
      </p:sp>
      <p:sp>
        <p:nvSpPr>
          <p:cNvPr id="15" name="Shape 12"/>
          <p:cNvSpPr/>
          <p:nvPr/>
        </p:nvSpPr>
        <p:spPr>
          <a:xfrm>
            <a:off x="8446008" y="1481328"/>
            <a:ext cx="2993136" cy="731520"/>
          </a:xfrm>
          <a:prstGeom prst="roundRect">
            <a:avLst>
              <a:gd name="adj" fmla="val 875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6" name="Text 13"/>
          <p:cNvSpPr txBox="1"/>
          <p:nvPr/>
        </p:nvSpPr>
        <p:spPr>
          <a:xfrm>
            <a:off x="8592312" y="1600200"/>
            <a:ext cx="2700528" cy="237744"/>
          </a:xfrm>
          <a:prstGeom prst="rect">
            <a:avLst/>
          </a:prstGeom>
          <a:noFill/>
          <a:ln/>
        </p:spPr>
        <p:txBody>
          <a:bodyPr wrap="square" lIns="0" tIns="0" rIns="0" bIns="0" rtlCol="0" anchor="ctr"/>
          <a:lstStyle/>
          <a:p>
            <a:pPr indent="0" marL="0">
              <a:buNone/>
            </a:pPr>
            <a:r>
              <a:rPr lang="en-US" sz="1050" b="1" dirty="0">
                <a:solidFill>
                  <a:srgbClr val="0F2B46"/>
                </a:solidFill>
                <a:latin typeface="Cambria" pitchFamily="34" charset="0"/>
                <a:ea typeface="Cambria" pitchFamily="34" charset="-122"/>
                <a:cs typeface="Cambria" pitchFamily="34" charset="-120"/>
              </a:rPr>
              <a:t>Browser and mobile</a:t>
            </a:r>
            <a:endParaRPr lang="en-US" sz="1050" dirty="0"/>
          </a:p>
        </p:txBody>
      </p:sp>
      <p:sp>
        <p:nvSpPr>
          <p:cNvPr id="17" name="Text 14"/>
          <p:cNvSpPr txBox="1"/>
          <p:nvPr/>
        </p:nvSpPr>
        <p:spPr>
          <a:xfrm>
            <a:off x="8592312" y="1847088"/>
            <a:ext cx="2700528" cy="256032"/>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Marathi-first web and mobile app, no local install, no client GPU</a:t>
            </a:r>
            <a:endParaRPr lang="en-US" sz="850" dirty="0"/>
          </a:p>
        </p:txBody>
      </p:sp>
      <p:sp>
        <p:nvSpPr>
          <p:cNvPr id="18" name="Shape 15"/>
          <p:cNvSpPr/>
          <p:nvPr/>
        </p:nvSpPr>
        <p:spPr>
          <a:xfrm>
            <a:off x="6095848" y="2267712"/>
            <a:ext cx="0" cy="274320"/>
          </a:xfrm>
          <a:prstGeom prst="line">
            <a:avLst/>
          </a:prstGeom>
          <a:noFill/>
          <a:ln w="19050">
            <a:solidFill>
              <a:srgbClr val="1C7293"/>
            </a:solidFill>
            <a:prstDash val="solid"/>
            <a:tailEnd type="triangle"/>
          </a:ln>
        </p:spPr>
      </p:sp>
      <p:sp>
        <p:nvSpPr>
          <p:cNvPr id="19" name="Text 16"/>
          <p:cNvSpPr txBox="1"/>
          <p:nvPr/>
        </p:nvSpPr>
        <p:spPr>
          <a:xfrm>
            <a:off x="502920" y="2523744"/>
            <a:ext cx="1298448" cy="457200"/>
          </a:xfrm>
          <a:prstGeom prst="rect">
            <a:avLst/>
          </a:prstGeom>
          <a:noFill/>
          <a:ln/>
        </p:spPr>
        <p:txBody>
          <a:bodyPr wrap="square" lIns="0" tIns="0" rIns="0" bIns="0" rtlCol="0" anchor="ctr"/>
          <a:lstStyle/>
          <a:p>
            <a:pPr algn="r" indent="0" marL="0">
              <a:lnSpc>
                <a:spcPts val="1100"/>
              </a:lnSpc>
              <a:buNone/>
            </a:pPr>
            <a:r>
              <a:rPr lang="en-US" sz="850" b="1" spc="110" kern="0" dirty="0">
                <a:solidFill>
                  <a:srgbClr val="1C7293"/>
                </a:solidFill>
                <a:latin typeface="Calibri" pitchFamily="34" charset="0"/>
                <a:ea typeface="Calibri" pitchFamily="34" charset="-122"/>
                <a:cs typeface="Calibri" pitchFamily="34" charset="-120"/>
              </a:rPr>
              <a:t>APPLICATION TIER</a:t>
            </a:r>
            <a:endParaRPr lang="en-US" sz="850" dirty="0"/>
          </a:p>
        </p:txBody>
      </p:sp>
      <p:sp>
        <p:nvSpPr>
          <p:cNvPr id="20" name="Shape 17"/>
          <p:cNvSpPr/>
          <p:nvPr/>
        </p:nvSpPr>
        <p:spPr>
          <a:xfrm>
            <a:off x="2057400" y="2523744"/>
            <a:ext cx="2993136" cy="786384"/>
          </a:xfrm>
          <a:prstGeom prst="roundRect">
            <a:avLst>
              <a:gd name="adj" fmla="val 814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1" name="Text 18"/>
          <p:cNvSpPr txBox="1"/>
          <p:nvPr/>
        </p:nvSpPr>
        <p:spPr>
          <a:xfrm>
            <a:off x="2203704" y="2642616"/>
            <a:ext cx="2700528" cy="237744"/>
          </a:xfrm>
          <a:prstGeom prst="rect">
            <a:avLst/>
          </a:prstGeom>
          <a:noFill/>
          <a:ln/>
        </p:spPr>
        <p:txBody>
          <a:bodyPr wrap="square" lIns="0" tIns="0" rIns="0" bIns="0" rtlCol="0" anchor="ctr"/>
          <a:lstStyle/>
          <a:p>
            <a:pPr indent="0" marL="0">
              <a:buNone/>
            </a:pPr>
            <a:r>
              <a:rPr lang="en-US" sz="1050" b="1" dirty="0">
                <a:solidFill>
                  <a:srgbClr val="0F2B46"/>
                </a:solidFill>
                <a:latin typeface="Cambria" pitchFamily="34" charset="0"/>
                <a:ea typeface="Cambria" pitchFamily="34" charset="-122"/>
                <a:cs typeface="Cambria" pitchFamily="34" charset="-120"/>
              </a:rPr>
              <a:t>Marathi web and mobile application</a:t>
            </a:r>
            <a:endParaRPr lang="en-US" sz="1050" dirty="0"/>
          </a:p>
        </p:txBody>
      </p:sp>
      <p:sp>
        <p:nvSpPr>
          <p:cNvPr id="22" name="Text 19"/>
          <p:cNvSpPr txBox="1"/>
          <p:nvPr/>
        </p:nvSpPr>
        <p:spPr>
          <a:xfrm>
            <a:off x="2203704" y="2889504"/>
            <a:ext cx="2700528" cy="310896"/>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One interface for intake, review, feedback and history — browser and mobile</a:t>
            </a:r>
            <a:endParaRPr lang="en-US" sz="850" dirty="0"/>
          </a:p>
        </p:txBody>
      </p:sp>
      <p:sp>
        <p:nvSpPr>
          <p:cNvPr id="23" name="Shape 20"/>
          <p:cNvSpPr/>
          <p:nvPr/>
        </p:nvSpPr>
        <p:spPr>
          <a:xfrm>
            <a:off x="5251704" y="2523744"/>
            <a:ext cx="2993136" cy="786384"/>
          </a:xfrm>
          <a:prstGeom prst="roundRect">
            <a:avLst>
              <a:gd name="adj" fmla="val 814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4" name="Text 21"/>
          <p:cNvSpPr txBox="1"/>
          <p:nvPr/>
        </p:nvSpPr>
        <p:spPr>
          <a:xfrm>
            <a:off x="5398008" y="2642616"/>
            <a:ext cx="2700528" cy="237744"/>
          </a:xfrm>
          <a:prstGeom prst="rect">
            <a:avLst/>
          </a:prstGeom>
          <a:noFill/>
          <a:ln/>
        </p:spPr>
        <p:txBody>
          <a:bodyPr wrap="square" lIns="0" tIns="0" rIns="0" bIns="0" rtlCol="0" anchor="ctr"/>
          <a:lstStyle/>
          <a:p>
            <a:pPr indent="0" marL="0">
              <a:buNone/>
            </a:pPr>
            <a:r>
              <a:rPr lang="en-US" sz="1050" b="1" dirty="0">
                <a:solidFill>
                  <a:srgbClr val="0F2B46"/>
                </a:solidFill>
                <a:latin typeface="Cambria" pitchFamily="34" charset="0"/>
                <a:ea typeface="Cambria" pitchFamily="34" charset="-122"/>
                <a:cs typeface="Cambria" pitchFamily="34" charset="-120"/>
              </a:rPr>
              <a:t>API and job runner</a:t>
            </a:r>
            <a:endParaRPr lang="en-US" sz="1050" dirty="0"/>
          </a:p>
        </p:txBody>
      </p:sp>
      <p:sp>
        <p:nvSpPr>
          <p:cNvPr id="25" name="Text 22"/>
          <p:cNvSpPr txBox="1"/>
          <p:nvPr/>
        </p:nvSpPr>
        <p:spPr>
          <a:xfrm>
            <a:off x="5398008" y="2889504"/>
            <a:ext cx="2700528" cy="310896"/>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Thin routing and orchestration; business logic stays in versioned packages</a:t>
            </a:r>
            <a:endParaRPr lang="en-US" sz="850" dirty="0"/>
          </a:p>
        </p:txBody>
      </p:sp>
      <p:sp>
        <p:nvSpPr>
          <p:cNvPr id="26" name="Shape 23"/>
          <p:cNvSpPr/>
          <p:nvPr/>
        </p:nvSpPr>
        <p:spPr>
          <a:xfrm>
            <a:off x="8446008" y="2523744"/>
            <a:ext cx="2993136" cy="786384"/>
          </a:xfrm>
          <a:prstGeom prst="roundRect">
            <a:avLst>
              <a:gd name="adj" fmla="val 814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7" name="Text 24"/>
          <p:cNvSpPr txBox="1"/>
          <p:nvPr/>
        </p:nvSpPr>
        <p:spPr>
          <a:xfrm>
            <a:off x="8592312" y="2642616"/>
            <a:ext cx="2700528" cy="237744"/>
          </a:xfrm>
          <a:prstGeom prst="rect">
            <a:avLst/>
          </a:prstGeom>
          <a:noFill/>
          <a:ln/>
        </p:spPr>
        <p:txBody>
          <a:bodyPr wrap="square" lIns="0" tIns="0" rIns="0" bIns="0" rtlCol="0" anchor="ctr"/>
          <a:lstStyle/>
          <a:p>
            <a:pPr indent="0" marL="0">
              <a:buNone/>
            </a:pPr>
            <a:r>
              <a:rPr lang="en-US" sz="1050" b="1" dirty="0">
                <a:solidFill>
                  <a:srgbClr val="0F2B46"/>
                </a:solidFill>
                <a:latin typeface="Cambria" pitchFamily="34" charset="0"/>
                <a:ea typeface="Cambria" pitchFamily="34" charset="-122"/>
                <a:cs typeface="Cambria" pitchFamily="34" charset="-120"/>
              </a:rPr>
              <a:t>Workflow and scheduling</a:t>
            </a:r>
            <a:endParaRPr lang="en-US" sz="1050" dirty="0"/>
          </a:p>
        </p:txBody>
      </p:sp>
      <p:sp>
        <p:nvSpPr>
          <p:cNvPr id="28" name="Text 25"/>
          <p:cNvSpPr txBox="1"/>
          <p:nvPr/>
        </p:nvSpPr>
        <p:spPr>
          <a:xfrm>
            <a:off x="8592312" y="2889504"/>
            <a:ext cx="2700528" cy="310896"/>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Queueing, retries, notifications, long-document batching</a:t>
            </a:r>
            <a:endParaRPr lang="en-US" sz="850" dirty="0"/>
          </a:p>
        </p:txBody>
      </p:sp>
      <p:sp>
        <p:nvSpPr>
          <p:cNvPr id="29" name="Shape 26"/>
          <p:cNvSpPr/>
          <p:nvPr/>
        </p:nvSpPr>
        <p:spPr>
          <a:xfrm>
            <a:off x="6095848" y="3364992"/>
            <a:ext cx="0" cy="219456"/>
          </a:xfrm>
          <a:prstGeom prst="line">
            <a:avLst/>
          </a:prstGeom>
          <a:noFill/>
          <a:ln w="19050">
            <a:solidFill>
              <a:srgbClr val="1C7293"/>
            </a:solidFill>
            <a:prstDash val="solid"/>
            <a:tailEnd type="triangle"/>
          </a:ln>
        </p:spPr>
      </p:sp>
      <p:sp>
        <p:nvSpPr>
          <p:cNvPr id="30" name="Text 27"/>
          <p:cNvSpPr txBox="1"/>
          <p:nvPr/>
        </p:nvSpPr>
        <p:spPr>
          <a:xfrm>
            <a:off x="502920" y="3611880"/>
            <a:ext cx="1298448" cy="457200"/>
          </a:xfrm>
          <a:prstGeom prst="rect">
            <a:avLst/>
          </a:prstGeom>
          <a:noFill/>
          <a:ln/>
        </p:spPr>
        <p:txBody>
          <a:bodyPr wrap="square" lIns="0" tIns="0" rIns="0" bIns="0" rtlCol="0" anchor="ctr"/>
          <a:lstStyle/>
          <a:p>
            <a:pPr algn="r" indent="0" marL="0">
              <a:lnSpc>
                <a:spcPts val="1100"/>
              </a:lnSpc>
              <a:buNone/>
            </a:pPr>
            <a:r>
              <a:rPr lang="en-US" sz="850" b="1" spc="110" kern="0" dirty="0">
                <a:solidFill>
                  <a:srgbClr val="1C7293"/>
                </a:solidFill>
                <a:latin typeface="Calibri" pitchFamily="34" charset="0"/>
                <a:ea typeface="Calibri" pitchFamily="34" charset="-122"/>
                <a:cs typeface="Calibri" pitchFamily="34" charset="-120"/>
              </a:rPr>
              <a:t>GPU INFERENCE TIER</a:t>
            </a:r>
            <a:endParaRPr lang="en-US" sz="850" dirty="0"/>
          </a:p>
        </p:txBody>
      </p:sp>
      <p:sp>
        <p:nvSpPr>
          <p:cNvPr id="31" name="Shape 28"/>
          <p:cNvSpPr/>
          <p:nvPr/>
        </p:nvSpPr>
        <p:spPr>
          <a:xfrm>
            <a:off x="2057400" y="3611880"/>
            <a:ext cx="2208276" cy="932688"/>
          </a:xfrm>
          <a:prstGeom prst="roundRect">
            <a:avLst>
              <a:gd name="adj" fmla="val 6863"/>
            </a:avLst>
          </a:prstGeom>
          <a:solidFill>
            <a:srgbClr val="FBEEDC"/>
          </a:solidFill>
          <a:ln w="9525">
            <a:solidFill>
              <a:srgbClr val="EBD3AE"/>
            </a:solidFill>
            <a:prstDash val="solid"/>
          </a:ln>
          <a:effectLst>
            <a:outerShdw sx="100000" sy="100000" kx="0" ky="0" algn="bl" rotWithShape="0" blurRad="101600" dist="12700" dir="5400000">
              <a:srgbClr val="0F2B46">
                <a:alpha val="8000"/>
              </a:srgbClr>
            </a:outerShdw>
          </a:effectLst>
        </p:spPr>
      </p:sp>
      <p:sp>
        <p:nvSpPr>
          <p:cNvPr id="32" name="Text 29"/>
          <p:cNvSpPr txBox="1"/>
          <p:nvPr/>
        </p:nvSpPr>
        <p:spPr>
          <a:xfrm>
            <a:off x="2203704" y="3730752"/>
            <a:ext cx="1915668" cy="237744"/>
          </a:xfrm>
          <a:prstGeom prst="rect">
            <a:avLst/>
          </a:prstGeom>
          <a:noFill/>
          <a:ln/>
        </p:spPr>
        <p:txBody>
          <a:bodyPr wrap="square" lIns="0" tIns="0" rIns="0" bIns="0" rtlCol="0" anchor="ctr"/>
          <a:lstStyle/>
          <a:p>
            <a:pPr indent="0" marL="0">
              <a:buNone/>
            </a:pPr>
            <a:r>
              <a:rPr lang="en-US" sz="1050" b="1" dirty="0">
                <a:solidFill>
                  <a:srgbClr val="C2690F"/>
                </a:solidFill>
                <a:latin typeface="Cambria" pitchFamily="34" charset="0"/>
                <a:ea typeface="Cambria" pitchFamily="34" charset="-122"/>
                <a:cs typeface="Cambria" pitchFamily="34" charset="-120"/>
              </a:rPr>
              <a:t>Qwen3-32B</a:t>
            </a:r>
            <a:endParaRPr lang="en-US" sz="1050" dirty="0"/>
          </a:p>
        </p:txBody>
      </p:sp>
      <p:sp>
        <p:nvSpPr>
          <p:cNvPr id="33" name="Text 30"/>
          <p:cNvSpPr txBox="1"/>
          <p:nvPr/>
        </p:nvSpPr>
        <p:spPr>
          <a:xfrm>
            <a:off x="2203704" y="3977640"/>
            <a:ext cx="1915668" cy="457200"/>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Article generation, translation, proofing, chat. Served with vLLM</a:t>
            </a:r>
            <a:endParaRPr lang="en-US" sz="850" dirty="0"/>
          </a:p>
        </p:txBody>
      </p:sp>
      <p:sp>
        <p:nvSpPr>
          <p:cNvPr id="34" name="Shape 31"/>
          <p:cNvSpPr/>
          <p:nvPr/>
        </p:nvSpPr>
        <p:spPr>
          <a:xfrm>
            <a:off x="4448556" y="3611880"/>
            <a:ext cx="2208276" cy="932688"/>
          </a:xfrm>
          <a:prstGeom prst="roundRect">
            <a:avLst>
              <a:gd name="adj" fmla="val 6863"/>
            </a:avLst>
          </a:prstGeom>
          <a:solidFill>
            <a:srgbClr val="FBEEDC"/>
          </a:solidFill>
          <a:ln w="9525">
            <a:solidFill>
              <a:srgbClr val="EBD3AE"/>
            </a:solidFill>
            <a:prstDash val="solid"/>
          </a:ln>
          <a:effectLst>
            <a:outerShdw sx="100000" sy="100000" kx="0" ky="0" algn="bl" rotWithShape="0" blurRad="101600" dist="12700" dir="5400000">
              <a:srgbClr val="0F2B46">
                <a:alpha val="8000"/>
              </a:srgbClr>
            </a:outerShdw>
          </a:effectLst>
        </p:spPr>
      </p:sp>
      <p:sp>
        <p:nvSpPr>
          <p:cNvPr id="35" name="Text 32"/>
          <p:cNvSpPr txBox="1"/>
          <p:nvPr/>
        </p:nvSpPr>
        <p:spPr>
          <a:xfrm>
            <a:off x="4594860" y="3730752"/>
            <a:ext cx="1915668" cy="237744"/>
          </a:xfrm>
          <a:prstGeom prst="rect">
            <a:avLst/>
          </a:prstGeom>
          <a:noFill/>
          <a:ln/>
        </p:spPr>
        <p:txBody>
          <a:bodyPr wrap="square" lIns="0" tIns="0" rIns="0" bIns="0" rtlCol="0" anchor="ctr"/>
          <a:lstStyle/>
          <a:p>
            <a:pPr indent="0" marL="0">
              <a:buNone/>
            </a:pPr>
            <a:r>
              <a:rPr lang="en-US" sz="1050" b="1" dirty="0">
                <a:solidFill>
                  <a:srgbClr val="C2690F"/>
                </a:solidFill>
                <a:latin typeface="Cambria" pitchFamily="34" charset="0"/>
                <a:ea typeface="Cambria" pitchFamily="34" charset="-122"/>
                <a:cs typeface="Cambria" pitchFamily="34" charset="-120"/>
              </a:rPr>
              <a:t>Embeddings</a:t>
            </a:r>
            <a:endParaRPr lang="en-US" sz="1050" dirty="0"/>
          </a:p>
        </p:txBody>
      </p:sp>
      <p:sp>
        <p:nvSpPr>
          <p:cNvPr id="36" name="Text 33"/>
          <p:cNvSpPr txBox="1"/>
          <p:nvPr/>
        </p:nvSpPr>
        <p:spPr>
          <a:xfrm>
            <a:off x="4594860" y="3977640"/>
            <a:ext cx="1915668" cy="457200"/>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Multilingual encoder for retrieval over the Mahasamvad archive</a:t>
            </a:r>
            <a:endParaRPr lang="en-US" sz="850" dirty="0"/>
          </a:p>
        </p:txBody>
      </p:sp>
      <p:sp>
        <p:nvSpPr>
          <p:cNvPr id="37" name="Shape 34"/>
          <p:cNvSpPr/>
          <p:nvPr/>
        </p:nvSpPr>
        <p:spPr>
          <a:xfrm>
            <a:off x="6839712" y="3611880"/>
            <a:ext cx="2208276" cy="932688"/>
          </a:xfrm>
          <a:prstGeom prst="roundRect">
            <a:avLst>
              <a:gd name="adj" fmla="val 6863"/>
            </a:avLst>
          </a:prstGeom>
          <a:solidFill>
            <a:srgbClr val="FBEEDC"/>
          </a:solidFill>
          <a:ln w="9525">
            <a:solidFill>
              <a:srgbClr val="EBD3AE"/>
            </a:solidFill>
            <a:prstDash val="solid"/>
          </a:ln>
          <a:effectLst>
            <a:outerShdw sx="100000" sy="100000" kx="0" ky="0" algn="bl" rotWithShape="0" blurRad="101600" dist="12700" dir="5400000">
              <a:srgbClr val="0F2B46">
                <a:alpha val="8000"/>
              </a:srgbClr>
            </a:outerShdw>
          </a:effectLst>
        </p:spPr>
      </p:sp>
      <p:sp>
        <p:nvSpPr>
          <p:cNvPr id="38" name="Text 35"/>
          <p:cNvSpPr txBox="1"/>
          <p:nvPr/>
        </p:nvSpPr>
        <p:spPr>
          <a:xfrm>
            <a:off x="6986016" y="3730752"/>
            <a:ext cx="1915668" cy="237744"/>
          </a:xfrm>
          <a:prstGeom prst="rect">
            <a:avLst/>
          </a:prstGeom>
          <a:noFill/>
          <a:ln/>
        </p:spPr>
        <p:txBody>
          <a:bodyPr wrap="square" lIns="0" tIns="0" rIns="0" bIns="0" rtlCol="0" anchor="ctr"/>
          <a:lstStyle/>
          <a:p>
            <a:pPr indent="0" marL="0">
              <a:buNone/>
            </a:pPr>
            <a:r>
              <a:rPr lang="en-US" sz="1050" b="1" dirty="0">
                <a:solidFill>
                  <a:srgbClr val="C2690F"/>
                </a:solidFill>
                <a:latin typeface="Cambria" pitchFamily="34" charset="0"/>
                <a:ea typeface="Cambria" pitchFamily="34" charset="-122"/>
                <a:cs typeface="Cambria" pitchFamily="34" charset="-120"/>
              </a:rPr>
              <a:t>OCR</a:t>
            </a:r>
            <a:endParaRPr lang="en-US" sz="1050" dirty="0"/>
          </a:p>
        </p:txBody>
      </p:sp>
      <p:sp>
        <p:nvSpPr>
          <p:cNvPr id="39" name="Text 36"/>
          <p:cNvSpPr txBox="1"/>
          <p:nvPr/>
        </p:nvSpPr>
        <p:spPr>
          <a:xfrm>
            <a:off x="6986016" y="3977640"/>
            <a:ext cx="1915668" cy="457200"/>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PaddleOCR for scanned Devanagari documents</a:t>
            </a:r>
            <a:endParaRPr lang="en-US" sz="850" dirty="0"/>
          </a:p>
        </p:txBody>
      </p:sp>
      <p:sp>
        <p:nvSpPr>
          <p:cNvPr id="40" name="Shape 37"/>
          <p:cNvSpPr/>
          <p:nvPr/>
        </p:nvSpPr>
        <p:spPr>
          <a:xfrm>
            <a:off x="9230868" y="3611880"/>
            <a:ext cx="2208276" cy="932688"/>
          </a:xfrm>
          <a:prstGeom prst="roundRect">
            <a:avLst>
              <a:gd name="adj" fmla="val 6863"/>
            </a:avLst>
          </a:prstGeom>
          <a:solidFill>
            <a:srgbClr val="FBEEDC"/>
          </a:solidFill>
          <a:ln w="9525">
            <a:solidFill>
              <a:srgbClr val="EBD3AE"/>
            </a:solidFill>
            <a:prstDash val="solid"/>
          </a:ln>
          <a:effectLst>
            <a:outerShdw sx="100000" sy="100000" kx="0" ky="0" algn="bl" rotWithShape="0" blurRad="101600" dist="12700" dir="5400000">
              <a:srgbClr val="0F2B46">
                <a:alpha val="8000"/>
              </a:srgbClr>
            </a:outerShdw>
          </a:effectLst>
        </p:spPr>
      </p:sp>
      <p:sp>
        <p:nvSpPr>
          <p:cNvPr id="41" name="Text 38"/>
          <p:cNvSpPr txBox="1"/>
          <p:nvPr/>
        </p:nvSpPr>
        <p:spPr>
          <a:xfrm>
            <a:off x="9377172" y="3730752"/>
            <a:ext cx="1915668" cy="237744"/>
          </a:xfrm>
          <a:prstGeom prst="rect">
            <a:avLst/>
          </a:prstGeom>
          <a:noFill/>
          <a:ln/>
        </p:spPr>
        <p:txBody>
          <a:bodyPr wrap="square" lIns="0" tIns="0" rIns="0" bIns="0" rtlCol="0" anchor="ctr"/>
          <a:lstStyle/>
          <a:p>
            <a:pPr indent="0" marL="0">
              <a:buNone/>
            </a:pPr>
            <a:r>
              <a:rPr lang="en-US" sz="1050" b="1" dirty="0">
                <a:solidFill>
                  <a:srgbClr val="C2690F"/>
                </a:solidFill>
                <a:latin typeface="Cambria" pitchFamily="34" charset="0"/>
                <a:ea typeface="Cambria" pitchFamily="34" charset="-122"/>
                <a:cs typeface="Cambria" pitchFamily="34" charset="-120"/>
              </a:rPr>
              <a:t>Speech to text</a:t>
            </a:r>
            <a:endParaRPr lang="en-US" sz="1050" dirty="0"/>
          </a:p>
        </p:txBody>
      </p:sp>
      <p:sp>
        <p:nvSpPr>
          <p:cNvPr id="42" name="Text 39"/>
          <p:cNvSpPr txBox="1"/>
          <p:nvPr/>
        </p:nvSpPr>
        <p:spPr>
          <a:xfrm>
            <a:off x="9377172" y="3977640"/>
            <a:ext cx="1915668" cy="457200"/>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Whisper-class model for Marathi meeting and interview audio</a:t>
            </a:r>
            <a:endParaRPr lang="en-US" sz="850" dirty="0"/>
          </a:p>
        </p:txBody>
      </p:sp>
      <p:sp>
        <p:nvSpPr>
          <p:cNvPr id="43" name="Shape 40"/>
          <p:cNvSpPr/>
          <p:nvPr/>
        </p:nvSpPr>
        <p:spPr>
          <a:xfrm>
            <a:off x="6095848" y="4572000"/>
            <a:ext cx="0" cy="201168"/>
          </a:xfrm>
          <a:prstGeom prst="line">
            <a:avLst/>
          </a:prstGeom>
          <a:noFill/>
          <a:ln w="19050">
            <a:solidFill>
              <a:srgbClr val="1C7293"/>
            </a:solidFill>
            <a:prstDash val="solid"/>
            <a:tailEnd type="triangle"/>
          </a:ln>
        </p:spPr>
      </p:sp>
      <p:sp>
        <p:nvSpPr>
          <p:cNvPr id="44" name="Text 41"/>
          <p:cNvSpPr txBox="1"/>
          <p:nvPr/>
        </p:nvSpPr>
        <p:spPr>
          <a:xfrm>
            <a:off x="502920" y="4809744"/>
            <a:ext cx="1298448" cy="457200"/>
          </a:xfrm>
          <a:prstGeom prst="rect">
            <a:avLst/>
          </a:prstGeom>
          <a:noFill/>
          <a:ln/>
        </p:spPr>
        <p:txBody>
          <a:bodyPr wrap="square" lIns="0" tIns="0" rIns="0" bIns="0" rtlCol="0" anchor="ctr"/>
          <a:lstStyle/>
          <a:p>
            <a:pPr algn="r" indent="0" marL="0">
              <a:lnSpc>
                <a:spcPts val="1100"/>
              </a:lnSpc>
              <a:buNone/>
            </a:pPr>
            <a:r>
              <a:rPr lang="en-US" sz="850" b="1" spc="110" kern="0" dirty="0">
                <a:solidFill>
                  <a:srgbClr val="1C7293"/>
                </a:solidFill>
                <a:latin typeface="Calibri" pitchFamily="34" charset="0"/>
                <a:ea typeface="Calibri" pitchFamily="34" charset="-122"/>
                <a:cs typeface="Calibri" pitchFamily="34" charset="-120"/>
              </a:rPr>
              <a:t>DATA AND OPERATIONS</a:t>
            </a:r>
            <a:endParaRPr lang="en-US" sz="850" dirty="0"/>
          </a:p>
        </p:txBody>
      </p:sp>
      <p:sp>
        <p:nvSpPr>
          <p:cNvPr id="45" name="Shape 42"/>
          <p:cNvSpPr/>
          <p:nvPr/>
        </p:nvSpPr>
        <p:spPr>
          <a:xfrm>
            <a:off x="2057400" y="4809744"/>
            <a:ext cx="2208276" cy="804672"/>
          </a:xfrm>
          <a:prstGeom prst="roundRect">
            <a:avLst>
              <a:gd name="adj" fmla="val 7955"/>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46" name="Text 43"/>
          <p:cNvSpPr txBox="1"/>
          <p:nvPr/>
        </p:nvSpPr>
        <p:spPr>
          <a:xfrm>
            <a:off x="2203704" y="4928616"/>
            <a:ext cx="1915668" cy="237744"/>
          </a:xfrm>
          <a:prstGeom prst="rect">
            <a:avLst/>
          </a:prstGeom>
          <a:noFill/>
          <a:ln/>
        </p:spPr>
        <p:txBody>
          <a:bodyPr wrap="square" lIns="0" tIns="0" rIns="0" bIns="0" rtlCol="0" anchor="ctr"/>
          <a:lstStyle/>
          <a:p>
            <a:pPr indent="0" marL="0">
              <a:buNone/>
            </a:pPr>
            <a:r>
              <a:rPr lang="en-US" sz="1050" b="1" dirty="0">
                <a:solidFill>
                  <a:srgbClr val="0F2B46"/>
                </a:solidFill>
                <a:latin typeface="Cambria" pitchFamily="34" charset="0"/>
                <a:ea typeface="Cambria" pitchFamily="34" charset="-122"/>
                <a:cs typeface="Cambria" pitchFamily="34" charset="-120"/>
              </a:rPr>
              <a:t>PostgreSQL + pgvector</a:t>
            </a:r>
            <a:endParaRPr lang="en-US" sz="1050" dirty="0"/>
          </a:p>
        </p:txBody>
      </p:sp>
      <p:sp>
        <p:nvSpPr>
          <p:cNvPr id="47" name="Text 44"/>
          <p:cNvSpPr txBox="1"/>
          <p:nvPr/>
        </p:nvSpPr>
        <p:spPr>
          <a:xfrm>
            <a:off x="2203704" y="5175504"/>
            <a:ext cx="1915668" cy="329184"/>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Mahasamvad corpus, chunk embeddings, generations, audit trail</a:t>
            </a:r>
            <a:endParaRPr lang="en-US" sz="850" dirty="0"/>
          </a:p>
        </p:txBody>
      </p:sp>
      <p:sp>
        <p:nvSpPr>
          <p:cNvPr id="48" name="Shape 45"/>
          <p:cNvSpPr/>
          <p:nvPr/>
        </p:nvSpPr>
        <p:spPr>
          <a:xfrm>
            <a:off x="4448556" y="4809744"/>
            <a:ext cx="2208276" cy="804672"/>
          </a:xfrm>
          <a:prstGeom prst="roundRect">
            <a:avLst>
              <a:gd name="adj" fmla="val 7955"/>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49" name="Text 46"/>
          <p:cNvSpPr txBox="1"/>
          <p:nvPr/>
        </p:nvSpPr>
        <p:spPr>
          <a:xfrm>
            <a:off x="4594860" y="4928616"/>
            <a:ext cx="1915668" cy="237744"/>
          </a:xfrm>
          <a:prstGeom prst="rect">
            <a:avLst/>
          </a:prstGeom>
          <a:noFill/>
          <a:ln/>
        </p:spPr>
        <p:txBody>
          <a:bodyPr wrap="square" lIns="0" tIns="0" rIns="0" bIns="0" rtlCol="0" anchor="ctr"/>
          <a:lstStyle/>
          <a:p>
            <a:pPr indent="0" marL="0">
              <a:buNone/>
            </a:pPr>
            <a:r>
              <a:rPr lang="en-US" sz="1050" b="1" dirty="0">
                <a:solidFill>
                  <a:srgbClr val="0F2B46"/>
                </a:solidFill>
                <a:latin typeface="Cambria" pitchFamily="34" charset="0"/>
                <a:ea typeface="Cambria" pitchFamily="34" charset="-122"/>
                <a:cs typeface="Cambria" pitchFamily="34" charset="-120"/>
              </a:rPr>
              <a:t>Object storage</a:t>
            </a:r>
            <a:endParaRPr lang="en-US" sz="1050" dirty="0"/>
          </a:p>
        </p:txBody>
      </p:sp>
      <p:sp>
        <p:nvSpPr>
          <p:cNvPr id="50" name="Text 47"/>
          <p:cNvSpPr txBox="1"/>
          <p:nvPr/>
        </p:nvSpPr>
        <p:spPr>
          <a:xfrm>
            <a:off x="4594860" y="5175504"/>
            <a:ext cx="1915668" cy="329184"/>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Source documents, audio files and generated outputs</a:t>
            </a:r>
            <a:endParaRPr lang="en-US" sz="850" dirty="0"/>
          </a:p>
        </p:txBody>
      </p:sp>
      <p:sp>
        <p:nvSpPr>
          <p:cNvPr id="51" name="Shape 48"/>
          <p:cNvSpPr/>
          <p:nvPr/>
        </p:nvSpPr>
        <p:spPr>
          <a:xfrm>
            <a:off x="6839712" y="4809744"/>
            <a:ext cx="2208276" cy="804672"/>
          </a:xfrm>
          <a:prstGeom prst="roundRect">
            <a:avLst>
              <a:gd name="adj" fmla="val 7955"/>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52" name="Text 49"/>
          <p:cNvSpPr txBox="1"/>
          <p:nvPr/>
        </p:nvSpPr>
        <p:spPr>
          <a:xfrm>
            <a:off x="6986016" y="4928616"/>
            <a:ext cx="1915668" cy="237744"/>
          </a:xfrm>
          <a:prstGeom prst="rect">
            <a:avLst/>
          </a:prstGeom>
          <a:noFill/>
          <a:ln/>
        </p:spPr>
        <p:txBody>
          <a:bodyPr wrap="square" lIns="0" tIns="0" rIns="0" bIns="0" rtlCol="0" anchor="ctr"/>
          <a:lstStyle/>
          <a:p>
            <a:pPr indent="0" marL="0">
              <a:buNone/>
            </a:pPr>
            <a:r>
              <a:rPr lang="en-US" sz="1050" b="1" dirty="0">
                <a:solidFill>
                  <a:srgbClr val="0F2B46"/>
                </a:solidFill>
                <a:latin typeface="Cambria" pitchFamily="34" charset="0"/>
                <a:ea typeface="Cambria" pitchFamily="34" charset="-122"/>
                <a:cs typeface="Cambria" pitchFamily="34" charset="-120"/>
              </a:rPr>
              <a:t>Model registry</a:t>
            </a:r>
            <a:endParaRPr lang="en-US" sz="1050" dirty="0"/>
          </a:p>
        </p:txBody>
      </p:sp>
      <p:sp>
        <p:nvSpPr>
          <p:cNvPr id="53" name="Text 50"/>
          <p:cNvSpPr txBox="1"/>
          <p:nvPr/>
        </p:nvSpPr>
        <p:spPr>
          <a:xfrm>
            <a:off x="6986016" y="5175504"/>
            <a:ext cx="1915668" cy="329184"/>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Versioned checkpoints, approval state, one-step rollback</a:t>
            </a:r>
            <a:endParaRPr lang="en-US" sz="850" dirty="0"/>
          </a:p>
        </p:txBody>
      </p:sp>
      <p:sp>
        <p:nvSpPr>
          <p:cNvPr id="54" name="Shape 51"/>
          <p:cNvSpPr/>
          <p:nvPr/>
        </p:nvSpPr>
        <p:spPr>
          <a:xfrm>
            <a:off x="9230868" y="4809744"/>
            <a:ext cx="2208276" cy="804672"/>
          </a:xfrm>
          <a:prstGeom prst="roundRect">
            <a:avLst>
              <a:gd name="adj" fmla="val 7955"/>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55" name="Text 52"/>
          <p:cNvSpPr txBox="1"/>
          <p:nvPr/>
        </p:nvSpPr>
        <p:spPr>
          <a:xfrm>
            <a:off x="9377172" y="4928616"/>
            <a:ext cx="1915668" cy="237744"/>
          </a:xfrm>
          <a:prstGeom prst="rect">
            <a:avLst/>
          </a:prstGeom>
          <a:noFill/>
          <a:ln/>
        </p:spPr>
        <p:txBody>
          <a:bodyPr wrap="square" lIns="0" tIns="0" rIns="0" bIns="0" rtlCol="0" anchor="ctr"/>
          <a:lstStyle/>
          <a:p>
            <a:pPr indent="0" marL="0">
              <a:buNone/>
            </a:pPr>
            <a:r>
              <a:rPr lang="en-US" sz="1050" b="1" dirty="0">
                <a:solidFill>
                  <a:srgbClr val="0F2B46"/>
                </a:solidFill>
                <a:latin typeface="Cambria" pitchFamily="34" charset="0"/>
                <a:ea typeface="Cambria" pitchFamily="34" charset="-122"/>
                <a:cs typeface="Cambria" pitchFamily="34" charset="-120"/>
              </a:rPr>
              <a:t>Monitoring and backup</a:t>
            </a:r>
            <a:endParaRPr lang="en-US" sz="1050" dirty="0"/>
          </a:p>
        </p:txBody>
      </p:sp>
      <p:sp>
        <p:nvSpPr>
          <p:cNvPr id="56" name="Text 53"/>
          <p:cNvSpPr txBox="1"/>
          <p:nvPr/>
        </p:nvSpPr>
        <p:spPr>
          <a:xfrm>
            <a:off x="9377172" y="5175504"/>
            <a:ext cx="1915668" cy="329184"/>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Utilisation, latency, error budgets, scheduled backups</a:t>
            </a:r>
            <a:endParaRPr lang="en-US" sz="850" dirty="0"/>
          </a:p>
        </p:txBody>
      </p:sp>
      <p:sp>
        <p:nvSpPr>
          <p:cNvPr id="57" name="Text 54"/>
          <p:cNvSpPr txBox="1"/>
          <p:nvPr/>
        </p:nvSpPr>
        <p:spPr>
          <a:xfrm>
            <a:off x="1874520" y="5669280"/>
            <a:ext cx="9747504" cy="219456"/>
          </a:xfrm>
          <a:prstGeom prst="rect">
            <a:avLst/>
          </a:prstGeom>
          <a:noFill/>
          <a:ln/>
        </p:spPr>
        <p:txBody>
          <a:bodyPr wrap="square" lIns="0" tIns="0" rIns="0" bIns="0" rtlCol="0" anchor="ctr"/>
          <a:lstStyle/>
          <a:p>
            <a:pPr algn="ctr" indent="0" marL="0">
              <a:buNone/>
            </a:pPr>
            <a:r>
              <a:rPr lang="en-US" sz="900" b="1" dirty="0">
                <a:solidFill>
                  <a:srgbClr val="1C7293"/>
                </a:solidFill>
                <a:latin typeface="Calibri" pitchFamily="34" charset="0"/>
                <a:ea typeface="Calibri" pitchFamily="34" charset="-122"/>
                <a:cs typeface="Calibri" pitchFamily="34" charset="-120"/>
              </a:rPr>
              <a:t>Department network boundary  ·  no outbound inference traffic  ·  no model weights or source data leave this perimeter</a:t>
            </a:r>
            <a:endParaRPr lang="en-US" sz="900" dirty="0"/>
          </a:p>
        </p:txBody>
      </p:sp>
      <p:sp>
        <p:nvSpPr>
          <p:cNvPr id="58" name="Text 55"/>
          <p:cNvSpPr txBox="1"/>
          <p:nvPr/>
        </p:nvSpPr>
        <p:spPr>
          <a:xfrm>
            <a:off x="566928" y="6035040"/>
            <a:ext cx="11055096" cy="274320"/>
          </a:xfrm>
          <a:prstGeom prst="rect">
            <a:avLst/>
          </a:prstGeom>
          <a:noFill/>
          <a:ln/>
        </p:spPr>
        <p:txBody>
          <a:bodyPr wrap="square" lIns="0" tIns="0" rIns="0" bIns="0" rtlCol="0" anchor="ctr"/>
          <a:lstStyle/>
          <a:p>
            <a:pPr indent="0" marL="0">
              <a:buNone/>
            </a:pPr>
            <a:r>
              <a:rPr lang="en-US" sz="900" i="1" dirty="0">
                <a:solidFill>
                  <a:srgbClr val="72868F"/>
                </a:solidFill>
                <a:latin typeface="Calibri" pitchFamily="34" charset="0"/>
                <a:ea typeface="Calibri" pitchFamily="34" charset="-122"/>
                <a:cs typeface="Calibri" pitchFamily="34" charset="-120"/>
              </a:rPr>
              <a:t>Every component above runs inside the department's own infrastructure. The platform continues to operate normally during an internet outage.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2</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The full on-premise model stack</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5</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5096" cy="914400"/>
        </p:xfrm>
        <a:graphic>
          <a:graphicData uri="http://schemas.openxmlformats.org/drawingml/2006/table">
            <a:tbl>
              <a:tblPr/>
              <a:tblGrid>
                <a:gridCol w="3246120"/>
                <a:gridCol w="2487168"/>
                <a:gridCol w="4133088"/>
                <a:gridCol w="1188720"/>
              </a:tblGrid>
              <a:tr h="56692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Function</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Licence</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r>
              <a:tr h="566928">
                <a:tc>
                  <a:txBody>
                    <a:bodyPr/>
                    <a:lstStyle/>
                    <a:p>
                      <a:pPr algn="l" indent="0" marL="0">
                        <a:buNone/>
                      </a:pPr>
                      <a:r>
                        <a:rPr lang="en-US" sz="950" dirty="0">
                          <a:solidFill>
                            <a:srgbClr val="33424E"/>
                          </a:solidFill>
                          <a:latin typeface="Calibri" pitchFamily="34" charset="0"/>
                          <a:ea typeface="Calibri" pitchFamily="34" charset="-122"/>
                          <a:cs typeface="Calibri" pitchFamily="34" charset="-120"/>
                        </a:rPr>
                        <a:t>Article generation, chat, translation, proofreading</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algn="l" indent="0" marL="0">
                        <a:buNone/>
                      </a:pPr>
                      <a:r>
                        <a:rPr lang="en-US" sz="1000" b="1" dirty="0">
                          <a:solidFill>
                            <a:srgbClr val="0F2B46"/>
                          </a:solidFill>
                          <a:latin typeface="Calibri" pitchFamily="34" charset="0"/>
                          <a:ea typeface="Calibri" pitchFamily="34" charset="-122"/>
                          <a:cs typeface="Calibri" pitchFamily="34" charset="-120"/>
                        </a:rPr>
                        <a:t>Qwen3-32B (dense)</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algn="l" indent="0" marL="0">
                        <a:buNone/>
                      </a:pPr>
                      <a:r>
                        <a:rPr lang="en-US" sz="950" dirty="0">
                          <a:solidFill>
                            <a:srgbClr val="33424E"/>
                          </a:solidFill>
                          <a:latin typeface="Calibri" pitchFamily="34" charset="0"/>
                          <a:ea typeface="Calibri" pitchFamily="34" charset="-122"/>
                          <a:cs typeface="Calibri" pitchFamily="34" charset="-120"/>
                        </a:rPr>
                        <a:t>32.8B params · 64 layers · GQA 64/8 heads · 32K native context, 131K with YaRN</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algn="l" indent="0" marL="0">
                        <a:buNone/>
                      </a:pPr>
                      <a:r>
                        <a:rPr lang="en-US" sz="950" dirty="0">
                          <a:solidFill>
                            <a:srgbClr val="33424E"/>
                          </a:solidFill>
                          <a:latin typeface="Calibri" pitchFamily="34" charset="0"/>
                          <a:ea typeface="Calibri" pitchFamily="34" charset="-122"/>
                          <a:cs typeface="Calibri" pitchFamily="34" charset="-120"/>
                        </a:rPr>
                        <a:t>Apache 2.0</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r>
              <a:tr h="566928">
                <a:tc>
                  <a:txBody>
                    <a:bodyPr/>
                    <a:lstStyle/>
                    <a:p>
                      <a:pPr algn="l" indent="0" marL="0">
                        <a:buNone/>
                      </a:pPr>
                      <a:r>
                        <a:rPr lang="en-US" sz="950" dirty="0">
                          <a:solidFill>
                            <a:srgbClr val="33424E"/>
                          </a:solidFill>
                          <a:latin typeface="Calibri" pitchFamily="34" charset="0"/>
                          <a:ea typeface="Calibri" pitchFamily="34" charset="-122"/>
                          <a:cs typeface="Calibri" pitchFamily="34" charset="-120"/>
                        </a:rPr>
                        <a:t>Retrieval over the Mahasamvad archive</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l" indent="0" marL="0">
                        <a:buNone/>
                      </a:pPr>
                      <a:r>
                        <a:rPr lang="en-US" sz="1000" b="1" dirty="0">
                          <a:solidFill>
                            <a:srgbClr val="0F2B46"/>
                          </a:solidFill>
                          <a:latin typeface="Calibri" pitchFamily="34" charset="0"/>
                          <a:ea typeface="Calibri" pitchFamily="34" charset="-122"/>
                          <a:cs typeface="Calibri" pitchFamily="34" charset="-120"/>
                        </a:rPr>
                        <a:t>Multilingual embedding encoder</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l" indent="0" marL="0">
                        <a:buNone/>
                      </a:pPr>
                      <a:r>
                        <a:rPr lang="en-US" sz="950" dirty="0">
                          <a:solidFill>
                            <a:srgbClr val="33424E"/>
                          </a:solidFill>
                          <a:latin typeface="Calibri" pitchFamily="34" charset="0"/>
                          <a:ea typeface="Calibri" pitchFamily="34" charset="-122"/>
                          <a:cs typeface="Calibri" pitchFamily="34" charset="-120"/>
                        </a:rPr>
                        <a:t>Sentence-level Devanagari embeddings stored in pgvector alongside the source chunks</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l" indent="0" marL="0">
                        <a:buNone/>
                      </a:pPr>
                      <a:r>
                        <a:rPr lang="en-US" sz="950" dirty="0">
                          <a:solidFill>
                            <a:srgbClr val="33424E"/>
                          </a:solidFill>
                          <a:latin typeface="Calibri" pitchFamily="34" charset="0"/>
                          <a:ea typeface="Calibri" pitchFamily="34" charset="-122"/>
                          <a:cs typeface="Calibri" pitchFamily="34" charset="-120"/>
                        </a:rPr>
                        <a:t>Open / permissive</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r h="566928">
                <a:tc>
                  <a:txBody>
                    <a:bodyPr/>
                    <a:lstStyle/>
                    <a:p>
                      <a:pPr algn="l" indent="0" marL="0">
                        <a:buNone/>
                      </a:pPr>
                      <a:r>
                        <a:rPr lang="en-US" sz="950" dirty="0">
                          <a:solidFill>
                            <a:srgbClr val="33424E"/>
                          </a:solidFill>
                          <a:latin typeface="Calibri" pitchFamily="34" charset="0"/>
                          <a:ea typeface="Calibri" pitchFamily="34" charset="-122"/>
                          <a:cs typeface="Calibri" pitchFamily="34" charset="-120"/>
                        </a:rPr>
                        <a:t>Scanned document reading (Devanagari OCR)</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F2B46"/>
                          </a:solidFill>
                          <a:latin typeface="Calibri" pitchFamily="34" charset="0"/>
                          <a:ea typeface="Calibri" pitchFamily="34" charset="-122"/>
                          <a:cs typeface="Calibri" pitchFamily="34" charset="-120"/>
                        </a:rPr>
                        <a:t>PaddleOCR</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424E"/>
                          </a:solidFill>
                          <a:latin typeface="Calibri" pitchFamily="34" charset="0"/>
                          <a:ea typeface="Calibri" pitchFamily="34" charset="-122"/>
                          <a:cs typeface="Calibri" pitchFamily="34" charset="-120"/>
                        </a:rPr>
                        <a:t>Page-level text extraction from scanned GRs, press notes and newspaper clippings</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424E"/>
                          </a:solidFill>
                          <a:latin typeface="Calibri" pitchFamily="34" charset="0"/>
                          <a:ea typeface="Calibri" pitchFamily="34" charset="-122"/>
                          <a:cs typeface="Calibri" pitchFamily="34" charset="-120"/>
                        </a:rPr>
                        <a:t>Apache 2.0</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r>
              <a:tr h="566928">
                <a:tc>
                  <a:txBody>
                    <a:bodyPr/>
                    <a:lstStyle/>
                    <a:p>
                      <a:pPr algn="l" indent="0" marL="0">
                        <a:buNone/>
                      </a:pPr>
                      <a:r>
                        <a:rPr lang="en-US" sz="950" dirty="0">
                          <a:solidFill>
                            <a:srgbClr val="33424E"/>
                          </a:solidFill>
                          <a:latin typeface="Calibri" pitchFamily="34" charset="0"/>
                          <a:ea typeface="Calibri" pitchFamily="34" charset="-122"/>
                          <a:cs typeface="Calibri" pitchFamily="34" charset="-120"/>
                        </a:rPr>
                        <a:t>Marathi speech to text</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l" indent="0" marL="0">
                        <a:buNone/>
                      </a:pPr>
                      <a:r>
                        <a:rPr lang="en-US" sz="1000" b="1" dirty="0">
                          <a:solidFill>
                            <a:srgbClr val="0F2B46"/>
                          </a:solidFill>
                          <a:latin typeface="Calibri" pitchFamily="34" charset="0"/>
                          <a:ea typeface="Calibri" pitchFamily="34" charset="-122"/>
                          <a:cs typeface="Calibri" pitchFamily="34" charset="-120"/>
                        </a:rPr>
                        <a:t>Whisper-class ASR</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l" indent="0" marL="0">
                        <a:buNone/>
                      </a:pPr>
                      <a:r>
                        <a:rPr lang="en-US" sz="950" dirty="0">
                          <a:solidFill>
                            <a:srgbClr val="33424E"/>
                          </a:solidFill>
                          <a:latin typeface="Calibri" pitchFamily="34" charset="0"/>
                          <a:ea typeface="Calibri" pitchFamily="34" charset="-122"/>
                          <a:cs typeface="Calibri" pitchFamily="34" charset="-120"/>
                        </a:rPr>
                        <a:t>Meeting, interview and field audio converted to reviewable Marathi transcript</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l" indent="0" marL="0">
                        <a:buNone/>
                      </a:pPr>
                      <a:r>
                        <a:rPr lang="en-US" sz="950" dirty="0">
                          <a:solidFill>
                            <a:srgbClr val="33424E"/>
                          </a:solidFill>
                          <a:latin typeface="Calibri" pitchFamily="34" charset="0"/>
                          <a:ea typeface="Calibri" pitchFamily="34" charset="-122"/>
                          <a:cs typeface="Calibri" pitchFamily="34" charset="-120"/>
                        </a:rPr>
                        <a:t>MIT</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bl>
          </a:graphicData>
        </a:graphic>
      </p:graphicFrame>
      <p:sp>
        <p:nvSpPr>
          <p:cNvPr id="8" name="Shape 4"/>
          <p:cNvSpPr/>
          <p:nvPr/>
        </p:nvSpPr>
        <p:spPr>
          <a:xfrm>
            <a:off x="566928" y="4443984"/>
            <a:ext cx="3514344" cy="1371600"/>
          </a:xfrm>
          <a:prstGeom prst="roundRect">
            <a:avLst>
              <a:gd name="adj" fmla="val 4667"/>
            </a:avLst>
          </a:prstGeom>
          <a:solidFill>
            <a:srgbClr val="E4EEF3"/>
          </a:solidFill>
          <a:ln w="9525">
            <a:solidFill>
              <a:srgbClr val="BFD8E3"/>
            </a:solidFill>
            <a:prstDash val="solid"/>
          </a:ln>
          <a:effectLst>
            <a:outerShdw sx="100000" sy="100000" kx="0" ky="0" algn="bl" rotWithShape="0" blurRad="101600" dist="12700" dir="5400000">
              <a:srgbClr val="0F2B46">
                <a:alpha val="8000"/>
              </a:srgbClr>
            </a:outerShdw>
          </a:effectLst>
        </p:spPr>
      </p:sp>
      <p:sp>
        <p:nvSpPr>
          <p:cNvPr id="9" name="Text 5"/>
          <p:cNvSpPr txBox="1"/>
          <p:nvPr/>
        </p:nvSpPr>
        <p:spPr>
          <a:xfrm>
            <a:off x="804672" y="4590288"/>
            <a:ext cx="3038856" cy="512064"/>
          </a:xfrm>
          <a:prstGeom prst="rect">
            <a:avLst/>
          </a:prstGeom>
          <a:noFill/>
          <a:ln/>
        </p:spPr>
        <p:txBody>
          <a:bodyPr wrap="square" lIns="0" tIns="0" rIns="0" bIns="0" rtlCol="0" anchor="ctr"/>
          <a:lstStyle/>
          <a:p>
            <a:pPr indent="0" marL="0">
              <a:lnSpc>
                <a:spcPts val="1600"/>
              </a:lnSpc>
              <a:buNone/>
            </a:pPr>
            <a:r>
              <a:rPr lang="en-US" sz="1250" b="1" dirty="0">
                <a:solidFill>
                  <a:srgbClr val="0F2B46"/>
                </a:solidFill>
                <a:latin typeface="Cambria" pitchFamily="34" charset="0"/>
                <a:ea typeface="Cambria" pitchFamily="34" charset="-122"/>
                <a:cs typeface="Cambria" pitchFamily="34" charset="-120"/>
              </a:rPr>
              <a:t>Every model here is open-weight</a:t>
            </a:r>
            <a:endParaRPr lang="en-US" sz="1250" dirty="0"/>
          </a:p>
        </p:txBody>
      </p:sp>
      <p:sp>
        <p:nvSpPr>
          <p:cNvPr id="10" name="Text 6"/>
          <p:cNvSpPr txBox="1"/>
          <p:nvPr/>
        </p:nvSpPr>
        <p:spPr>
          <a:xfrm>
            <a:off x="804672" y="5138928"/>
            <a:ext cx="3038856" cy="603504"/>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No component of the pipeline requires a commercial API, a per-seat licence, or an internet connection to run.</a:t>
            </a:r>
            <a:endParaRPr lang="en-US" sz="950" dirty="0"/>
          </a:p>
        </p:txBody>
      </p:sp>
      <p:sp>
        <p:nvSpPr>
          <p:cNvPr id="11" name="Shape 7"/>
          <p:cNvSpPr/>
          <p:nvPr/>
        </p:nvSpPr>
        <p:spPr>
          <a:xfrm>
            <a:off x="4337304" y="4443984"/>
            <a:ext cx="3514344" cy="1371600"/>
          </a:xfrm>
          <a:prstGeom prst="roundRect">
            <a:avLst>
              <a:gd name="adj" fmla="val 4667"/>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2" name="Text 8"/>
          <p:cNvSpPr txBox="1"/>
          <p:nvPr/>
        </p:nvSpPr>
        <p:spPr>
          <a:xfrm>
            <a:off x="4575048" y="4590288"/>
            <a:ext cx="3038856" cy="512064"/>
          </a:xfrm>
          <a:prstGeom prst="rect">
            <a:avLst/>
          </a:prstGeom>
          <a:noFill/>
          <a:ln/>
        </p:spPr>
        <p:txBody>
          <a:bodyPr wrap="square" lIns="0" tIns="0" rIns="0" bIns="0" rtlCol="0" anchor="ctr"/>
          <a:lstStyle/>
          <a:p>
            <a:pPr indent="0" marL="0">
              <a:lnSpc>
                <a:spcPts val="1600"/>
              </a:lnSpc>
              <a:buNone/>
            </a:pPr>
            <a:r>
              <a:rPr lang="en-US" sz="1250" b="1" dirty="0">
                <a:solidFill>
                  <a:srgbClr val="0F2B46"/>
                </a:solidFill>
                <a:latin typeface="Cambria" pitchFamily="34" charset="0"/>
                <a:ea typeface="Cambria" pitchFamily="34" charset="-122"/>
                <a:cs typeface="Cambria" pitchFamily="34" charset="-120"/>
              </a:rPr>
              <a:t>One model does the language work</a:t>
            </a:r>
            <a:endParaRPr lang="en-US" sz="1250" dirty="0"/>
          </a:p>
        </p:txBody>
      </p:sp>
      <p:sp>
        <p:nvSpPr>
          <p:cNvPr id="13" name="Text 9"/>
          <p:cNvSpPr txBox="1"/>
          <p:nvPr/>
        </p:nvSpPr>
        <p:spPr>
          <a:xfrm>
            <a:off x="4575048" y="5138928"/>
            <a:ext cx="3038856" cy="603504"/>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Generation, translation, proofreading and chat all run on Qwen3-32B — one model to approve, monitor, fine-tune and roll back, not four.</a:t>
            </a:r>
            <a:endParaRPr lang="en-US" sz="950" dirty="0"/>
          </a:p>
        </p:txBody>
      </p:sp>
      <p:sp>
        <p:nvSpPr>
          <p:cNvPr id="14" name="Shape 10"/>
          <p:cNvSpPr/>
          <p:nvPr/>
        </p:nvSpPr>
        <p:spPr>
          <a:xfrm>
            <a:off x="8107680" y="4443984"/>
            <a:ext cx="3514344" cy="1371600"/>
          </a:xfrm>
          <a:prstGeom prst="roundRect">
            <a:avLst>
              <a:gd name="adj" fmla="val 4667"/>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5" name="Text 11"/>
          <p:cNvSpPr txBox="1"/>
          <p:nvPr/>
        </p:nvSpPr>
        <p:spPr>
          <a:xfrm>
            <a:off x="8345424" y="4590288"/>
            <a:ext cx="3038856" cy="512064"/>
          </a:xfrm>
          <a:prstGeom prst="rect">
            <a:avLst/>
          </a:prstGeom>
          <a:noFill/>
          <a:ln/>
        </p:spPr>
        <p:txBody>
          <a:bodyPr wrap="square" lIns="0" tIns="0" rIns="0" bIns="0" rtlCol="0" anchor="ctr"/>
          <a:lstStyle/>
          <a:p>
            <a:pPr indent="0" marL="0">
              <a:lnSpc>
                <a:spcPts val="1600"/>
              </a:lnSpc>
              <a:buNone/>
            </a:pPr>
            <a:r>
              <a:rPr lang="en-US" sz="1250" b="1" dirty="0">
                <a:solidFill>
                  <a:srgbClr val="0F2B46"/>
                </a:solidFill>
                <a:latin typeface="Cambria" pitchFamily="34" charset="0"/>
                <a:ea typeface="Cambria" pitchFamily="34" charset="-122"/>
                <a:cs typeface="Cambria" pitchFamily="34" charset="-120"/>
              </a:rPr>
              <a:t>The platform is model-agnostic</a:t>
            </a:r>
            <a:endParaRPr lang="en-US" sz="1250" dirty="0"/>
          </a:p>
        </p:txBody>
      </p:sp>
      <p:sp>
        <p:nvSpPr>
          <p:cNvPr id="16" name="Text 12"/>
          <p:cNvSpPr txBox="1"/>
          <p:nvPr/>
        </p:nvSpPr>
        <p:spPr>
          <a:xfrm>
            <a:off x="8345424" y="5138928"/>
            <a:ext cx="3038856" cy="603504"/>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Generation sits behind a provider interface. Replacing Qwen with a better model later is a configuration change and a re-run of the evaluation suite, not a rebuild.</a:t>
            </a:r>
            <a:endParaRPr lang="en-US" sz="950" dirty="0"/>
          </a:p>
        </p:txBody>
      </p:sp>
      <p:sp>
        <p:nvSpPr>
          <p:cNvPr id="17" name="Text 13"/>
          <p:cNvSpPr txBox="1"/>
          <p:nvPr/>
        </p:nvSpPr>
        <p:spPr>
          <a:xfrm>
            <a:off x="566928" y="5998464"/>
            <a:ext cx="11055096" cy="274320"/>
          </a:xfrm>
          <a:prstGeom prst="rect">
            <a:avLst/>
          </a:prstGeom>
          <a:noFill/>
          <a:ln/>
        </p:spPr>
        <p:txBody>
          <a:bodyPr wrap="square" lIns="0" tIns="0" rIns="0" bIns="0" rtlCol="0" anchor="ctr"/>
          <a:lstStyle/>
          <a:p>
            <a:pPr indent="0" marL="0">
              <a:buNone/>
            </a:pPr>
            <a:r>
              <a:rPr lang="en-US" sz="900" i="1" dirty="0">
                <a:solidFill>
                  <a:srgbClr val="72868F"/>
                </a:solidFill>
                <a:latin typeface="Calibri" pitchFamily="34" charset="0"/>
                <a:ea typeface="Calibri" pitchFamily="34" charset="-122"/>
                <a:cs typeface="Calibri" pitchFamily="34" charset="-120"/>
              </a:rPr>
              <a:t>Every one of these runs on departmental hardware. There is no step in the pipeline that reaches outside the department.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3</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How we chose the model</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6</a:t>
            </a:r>
            <a:endParaRPr lang="en-US" sz="850" dirty="0"/>
          </a:p>
        </p:txBody>
      </p:sp>
      <p:sp>
        <p:nvSpPr>
          <p:cNvPr id="7" name="Text 4"/>
          <p:cNvSpPr txBox="1"/>
          <p:nvPr/>
        </p:nvSpPr>
        <p:spPr>
          <a:xfrm>
            <a:off x="566928" y="1444752"/>
            <a:ext cx="6766560" cy="256032"/>
          </a:xfrm>
          <a:prstGeom prst="rect">
            <a:avLst/>
          </a:prstGeom>
          <a:noFill/>
          <a:ln/>
        </p:spPr>
        <p:txBody>
          <a:bodyPr wrap="square" lIns="0" tIns="0" rIns="0" bIns="0" rtlCol="0" anchor="ctr"/>
          <a:lstStyle/>
          <a:p>
            <a:pPr indent="0" marL="0">
              <a:buNone/>
            </a:pPr>
            <a:r>
              <a:rPr lang="en-US" sz="1200" b="1" dirty="0">
                <a:solidFill>
                  <a:srgbClr val="0F2B46"/>
                </a:solidFill>
                <a:latin typeface="Cambria" pitchFamily="34" charset="0"/>
                <a:ea typeface="Cambria" pitchFamily="34" charset="-122"/>
                <a:cs typeface="Cambria" pitchFamily="34" charset="-120"/>
              </a:rPr>
              <a:t>Hard constraints — a model was only evaluated if it met all four</a:t>
            </a:r>
            <a:endParaRPr lang="en-US" sz="1200" dirty="0"/>
          </a:p>
        </p:txBody>
      </p:sp>
      <p:sp>
        <p:nvSpPr>
          <p:cNvPr id="8" name="Shape 5"/>
          <p:cNvSpPr/>
          <p:nvPr/>
        </p:nvSpPr>
        <p:spPr>
          <a:xfrm>
            <a:off x="566928" y="1819656"/>
            <a:ext cx="237744" cy="237744"/>
          </a:xfrm>
          <a:prstGeom prst="ellipse">
            <a:avLst/>
          </a:prstGeom>
          <a:solidFill>
            <a:srgbClr val="1C7293"/>
          </a:solidFill>
          <a:ln w="6350">
            <a:solidFill>
              <a:srgbClr val="1C7293"/>
            </a:solidFill>
            <a:prstDash val="solid"/>
          </a:ln>
        </p:spPr>
      </p:sp>
      <p:sp>
        <p:nvSpPr>
          <p:cNvPr id="9" name="Text 6"/>
          <p:cNvSpPr txBox="1"/>
          <p:nvPr/>
        </p:nvSpPr>
        <p:spPr>
          <a:xfrm>
            <a:off x="566928" y="1819656"/>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0" name="Text 7"/>
          <p:cNvSpPr txBox="1"/>
          <p:nvPr/>
        </p:nvSpPr>
        <p:spPr>
          <a:xfrm>
            <a:off x="932688" y="1792224"/>
            <a:ext cx="6400800" cy="292608"/>
          </a:xfrm>
          <a:prstGeom prst="rect">
            <a:avLst/>
          </a:prstGeom>
          <a:noFill/>
          <a:ln/>
        </p:spPr>
        <p:txBody>
          <a:bodyPr wrap="square" lIns="0" tIns="0" rIns="0" bIns="0" rtlCol="0" anchor="ctr"/>
          <a:lstStyle/>
          <a:p>
            <a:pPr indent="0" marL="0">
              <a:buNone/>
            </a:pPr>
            <a:r>
              <a:rPr lang="en-US" sz="1050" dirty="0">
                <a:solidFill>
                  <a:srgbClr val="33424E"/>
                </a:solidFill>
                <a:latin typeface="Calibri" pitchFamily="34" charset="0"/>
                <a:ea typeface="Calibri" pitchFamily="34" charset="-122"/>
                <a:cs typeface="Calibri" pitchFamily="34" charset="-120"/>
              </a:rPr>
              <a:t>Open weights, downloadable and self-hostable</a:t>
            </a:r>
            <a:endParaRPr lang="en-US" sz="1050" dirty="0"/>
          </a:p>
        </p:txBody>
      </p:sp>
      <p:sp>
        <p:nvSpPr>
          <p:cNvPr id="11" name="Shape 8"/>
          <p:cNvSpPr/>
          <p:nvPr/>
        </p:nvSpPr>
        <p:spPr>
          <a:xfrm>
            <a:off x="566928" y="2203704"/>
            <a:ext cx="237744" cy="237744"/>
          </a:xfrm>
          <a:prstGeom prst="ellipse">
            <a:avLst/>
          </a:prstGeom>
          <a:solidFill>
            <a:srgbClr val="1C7293"/>
          </a:solidFill>
          <a:ln w="6350">
            <a:solidFill>
              <a:srgbClr val="1C7293"/>
            </a:solidFill>
            <a:prstDash val="solid"/>
          </a:ln>
        </p:spPr>
      </p:sp>
      <p:sp>
        <p:nvSpPr>
          <p:cNvPr id="12" name="Text 9"/>
          <p:cNvSpPr txBox="1"/>
          <p:nvPr/>
        </p:nvSpPr>
        <p:spPr>
          <a:xfrm>
            <a:off x="566928" y="220370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3" name="Text 10"/>
          <p:cNvSpPr txBox="1"/>
          <p:nvPr/>
        </p:nvSpPr>
        <p:spPr>
          <a:xfrm>
            <a:off x="932688" y="2176272"/>
            <a:ext cx="6400800" cy="292608"/>
          </a:xfrm>
          <a:prstGeom prst="rect">
            <a:avLst/>
          </a:prstGeom>
          <a:noFill/>
          <a:ln/>
        </p:spPr>
        <p:txBody>
          <a:bodyPr wrap="square" lIns="0" tIns="0" rIns="0" bIns="0" rtlCol="0" anchor="ctr"/>
          <a:lstStyle/>
          <a:p>
            <a:pPr indent="0" marL="0">
              <a:buNone/>
            </a:pPr>
            <a:r>
              <a:rPr lang="en-US" sz="1050" dirty="0">
                <a:solidFill>
                  <a:srgbClr val="33424E"/>
                </a:solidFill>
                <a:latin typeface="Calibri" pitchFamily="34" charset="0"/>
                <a:ea typeface="Calibri" pitchFamily="34" charset="-122"/>
                <a:cs typeface="Calibri" pitchFamily="34" charset="-120"/>
              </a:rPr>
              <a:t>Runs fully offline with no callback to a vendor</a:t>
            </a:r>
            <a:endParaRPr lang="en-US" sz="1050" dirty="0"/>
          </a:p>
        </p:txBody>
      </p:sp>
      <p:sp>
        <p:nvSpPr>
          <p:cNvPr id="14" name="Shape 11"/>
          <p:cNvSpPr/>
          <p:nvPr/>
        </p:nvSpPr>
        <p:spPr>
          <a:xfrm>
            <a:off x="566928" y="2587752"/>
            <a:ext cx="237744" cy="237744"/>
          </a:xfrm>
          <a:prstGeom prst="ellipse">
            <a:avLst/>
          </a:prstGeom>
          <a:solidFill>
            <a:srgbClr val="1C7293"/>
          </a:solidFill>
          <a:ln w="6350">
            <a:solidFill>
              <a:srgbClr val="1C7293"/>
            </a:solidFill>
            <a:prstDash val="solid"/>
          </a:ln>
        </p:spPr>
      </p:sp>
      <p:sp>
        <p:nvSpPr>
          <p:cNvPr id="15" name="Text 12"/>
          <p:cNvSpPr txBox="1"/>
          <p:nvPr/>
        </p:nvSpPr>
        <p:spPr>
          <a:xfrm>
            <a:off x="566928" y="2587752"/>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6" name="Text 13"/>
          <p:cNvSpPr txBox="1"/>
          <p:nvPr/>
        </p:nvSpPr>
        <p:spPr>
          <a:xfrm>
            <a:off x="932688" y="2560320"/>
            <a:ext cx="6400800" cy="292608"/>
          </a:xfrm>
          <a:prstGeom prst="rect">
            <a:avLst/>
          </a:prstGeom>
          <a:noFill/>
          <a:ln/>
        </p:spPr>
        <p:txBody>
          <a:bodyPr wrap="square" lIns="0" tIns="0" rIns="0" bIns="0" rtlCol="0" anchor="ctr"/>
          <a:lstStyle/>
          <a:p>
            <a:pPr indent="0" marL="0">
              <a:buNone/>
            </a:pPr>
            <a:r>
              <a:rPr lang="en-US" sz="1050" dirty="0">
                <a:solidFill>
                  <a:srgbClr val="33424E"/>
                </a:solidFill>
                <a:latin typeface="Calibri" pitchFamily="34" charset="0"/>
                <a:ea typeface="Calibri" pitchFamily="34" charset="-122"/>
                <a:cs typeface="Calibri" pitchFamily="34" charset="-120"/>
              </a:rPr>
              <a:t>Fine-tunable, with mature LoRA and preference-tuning support</a:t>
            </a:r>
            <a:endParaRPr lang="en-US" sz="1050" dirty="0"/>
          </a:p>
        </p:txBody>
      </p:sp>
      <p:sp>
        <p:nvSpPr>
          <p:cNvPr id="17" name="Shape 14"/>
          <p:cNvSpPr/>
          <p:nvPr/>
        </p:nvSpPr>
        <p:spPr>
          <a:xfrm>
            <a:off x="566928" y="2971800"/>
            <a:ext cx="237744" cy="237744"/>
          </a:xfrm>
          <a:prstGeom prst="ellipse">
            <a:avLst/>
          </a:prstGeom>
          <a:solidFill>
            <a:srgbClr val="1C7293"/>
          </a:solidFill>
          <a:ln w="6350">
            <a:solidFill>
              <a:srgbClr val="1C7293"/>
            </a:solidFill>
            <a:prstDash val="solid"/>
          </a:ln>
        </p:spPr>
      </p:sp>
      <p:sp>
        <p:nvSpPr>
          <p:cNvPr id="18" name="Text 15"/>
          <p:cNvSpPr txBox="1"/>
          <p:nvPr/>
        </p:nvSpPr>
        <p:spPr>
          <a:xfrm>
            <a:off x="566928" y="2971800"/>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9" name="Text 16"/>
          <p:cNvSpPr txBox="1"/>
          <p:nvPr/>
        </p:nvSpPr>
        <p:spPr>
          <a:xfrm>
            <a:off x="932688" y="2944368"/>
            <a:ext cx="6400800" cy="292608"/>
          </a:xfrm>
          <a:prstGeom prst="rect">
            <a:avLst/>
          </a:prstGeom>
          <a:noFill/>
          <a:ln/>
        </p:spPr>
        <p:txBody>
          <a:bodyPr wrap="square" lIns="0" tIns="0" rIns="0" bIns="0" rtlCol="0" anchor="ctr"/>
          <a:lstStyle/>
          <a:p>
            <a:pPr indent="0" marL="0">
              <a:buNone/>
            </a:pPr>
            <a:r>
              <a:rPr lang="en-US" sz="1050" dirty="0">
                <a:solidFill>
                  <a:srgbClr val="33424E"/>
                </a:solidFill>
                <a:latin typeface="Calibri" pitchFamily="34" charset="0"/>
                <a:ea typeface="Calibri" pitchFamily="34" charset="-122"/>
                <a:cs typeface="Calibri" pitchFamily="34" charset="-120"/>
              </a:rPr>
              <a:t>Licence permits commercial government deployment</a:t>
            </a:r>
            <a:endParaRPr lang="en-US" sz="1050" dirty="0"/>
          </a:p>
        </p:txBody>
      </p:sp>
      <p:sp>
        <p:nvSpPr>
          <p:cNvPr id="20" name="Text 17"/>
          <p:cNvSpPr txBox="1"/>
          <p:nvPr/>
        </p:nvSpPr>
        <p:spPr>
          <a:xfrm>
            <a:off x="566928" y="3493008"/>
            <a:ext cx="6766560" cy="256032"/>
          </a:xfrm>
          <a:prstGeom prst="rect">
            <a:avLst/>
          </a:prstGeom>
          <a:noFill/>
          <a:ln/>
        </p:spPr>
        <p:txBody>
          <a:bodyPr wrap="square" lIns="0" tIns="0" rIns="0" bIns="0" rtlCol="0" anchor="ctr"/>
          <a:lstStyle/>
          <a:p>
            <a:pPr indent="0" marL="0">
              <a:buNone/>
            </a:pPr>
            <a:r>
              <a:rPr lang="en-US" sz="1200" b="1" dirty="0">
                <a:solidFill>
                  <a:srgbClr val="0F2B46"/>
                </a:solidFill>
                <a:latin typeface="Cambria" pitchFamily="34" charset="0"/>
                <a:ea typeface="Cambria" pitchFamily="34" charset="-122"/>
                <a:cs typeface="Cambria" pitchFamily="34" charset="-120"/>
              </a:rPr>
              <a:t>Candidates evaluated</a:t>
            </a:r>
            <a:endParaRPr lang="en-US" sz="1200" dirty="0"/>
          </a:p>
        </p:txBody>
      </p:sp>
      <p:sp>
        <p:nvSpPr>
          <p:cNvPr id="21" name="Shape 18"/>
          <p:cNvSpPr/>
          <p:nvPr/>
        </p:nvSpPr>
        <p:spPr>
          <a:xfrm>
            <a:off x="566928" y="3858768"/>
            <a:ext cx="3282696" cy="621792"/>
          </a:xfrm>
          <a:prstGeom prst="roundRect">
            <a:avLst>
              <a:gd name="adj" fmla="val 10294"/>
            </a:avLst>
          </a:prstGeom>
          <a:solidFill>
            <a:srgbClr val="FBEEDC"/>
          </a:solidFill>
          <a:ln w="9525">
            <a:solidFill>
              <a:srgbClr val="EBD3AE"/>
            </a:solidFill>
            <a:prstDash val="solid"/>
          </a:ln>
          <a:effectLst>
            <a:outerShdw sx="100000" sy="100000" kx="0" ky="0" algn="bl" rotWithShape="0" blurRad="101600" dist="12700" dir="5400000">
              <a:srgbClr val="0F2B46">
                <a:alpha val="8000"/>
              </a:srgbClr>
            </a:outerShdw>
          </a:effectLst>
        </p:spPr>
      </p:sp>
      <p:sp>
        <p:nvSpPr>
          <p:cNvPr id="22" name="Text 19"/>
          <p:cNvSpPr txBox="1"/>
          <p:nvPr/>
        </p:nvSpPr>
        <p:spPr>
          <a:xfrm>
            <a:off x="749808" y="3941064"/>
            <a:ext cx="2916936" cy="237744"/>
          </a:xfrm>
          <a:prstGeom prst="rect">
            <a:avLst/>
          </a:prstGeom>
          <a:noFill/>
          <a:ln/>
        </p:spPr>
        <p:txBody>
          <a:bodyPr wrap="square" lIns="0" tIns="0" rIns="0" bIns="0" rtlCol="0" anchor="ctr"/>
          <a:lstStyle/>
          <a:p>
            <a:pPr indent="0" marL="0">
              <a:buNone/>
            </a:pPr>
            <a:r>
              <a:rPr lang="en-US" sz="1150" b="1" dirty="0">
                <a:solidFill>
                  <a:srgbClr val="C2690F"/>
                </a:solidFill>
                <a:latin typeface="Cambria" pitchFamily="34" charset="0"/>
                <a:ea typeface="Cambria" pitchFamily="34" charset="-122"/>
                <a:cs typeface="Cambria" pitchFamily="34" charset="-120"/>
              </a:rPr>
              <a:t>Qwen3-32B</a:t>
            </a:r>
            <a:endParaRPr lang="en-US" sz="1150" dirty="0"/>
          </a:p>
        </p:txBody>
      </p:sp>
      <p:sp>
        <p:nvSpPr>
          <p:cNvPr id="23" name="Text 20"/>
          <p:cNvSpPr txBox="1"/>
          <p:nvPr/>
        </p:nvSpPr>
        <p:spPr>
          <a:xfrm>
            <a:off x="749808" y="4187952"/>
            <a:ext cx="2916936"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Alibaba · dense · Apache 2.0</a:t>
            </a:r>
            <a:endParaRPr lang="en-US" sz="850" dirty="0"/>
          </a:p>
        </p:txBody>
      </p:sp>
      <p:sp>
        <p:nvSpPr>
          <p:cNvPr id="24" name="Shape 21"/>
          <p:cNvSpPr/>
          <p:nvPr/>
        </p:nvSpPr>
        <p:spPr>
          <a:xfrm>
            <a:off x="4069080" y="3858768"/>
            <a:ext cx="3282696" cy="621792"/>
          </a:xfrm>
          <a:prstGeom prst="roundRect">
            <a:avLst>
              <a:gd name="adj" fmla="val 10294"/>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5" name="Text 22"/>
          <p:cNvSpPr txBox="1"/>
          <p:nvPr/>
        </p:nvSpPr>
        <p:spPr>
          <a:xfrm>
            <a:off x="4251960" y="3941064"/>
            <a:ext cx="2916936" cy="237744"/>
          </a:xfrm>
          <a:prstGeom prst="rect">
            <a:avLst/>
          </a:prstGeom>
          <a:noFill/>
          <a:ln/>
        </p:spPr>
        <p:txBody>
          <a:bodyPr wrap="square" lIns="0" tIns="0" rIns="0" bIns="0" rtlCol="0" anchor="ctr"/>
          <a:lstStyle/>
          <a:p>
            <a:pPr indent="0" marL="0">
              <a:buNone/>
            </a:pPr>
            <a:r>
              <a:rPr lang="en-US" sz="1150" b="1" dirty="0">
                <a:solidFill>
                  <a:srgbClr val="0F2B46"/>
                </a:solidFill>
                <a:latin typeface="Cambria" pitchFamily="34" charset="0"/>
                <a:ea typeface="Cambria" pitchFamily="34" charset="-122"/>
                <a:cs typeface="Cambria" pitchFamily="34" charset="-120"/>
              </a:rPr>
              <a:t>Sarvam-105B</a:t>
            </a:r>
            <a:endParaRPr lang="en-US" sz="1150" dirty="0"/>
          </a:p>
        </p:txBody>
      </p:sp>
      <p:sp>
        <p:nvSpPr>
          <p:cNvPr id="26" name="Text 23"/>
          <p:cNvSpPr txBox="1"/>
          <p:nvPr/>
        </p:nvSpPr>
        <p:spPr>
          <a:xfrm>
            <a:off x="4251960" y="4187952"/>
            <a:ext cx="2916936"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Sarvam AI · MoE · Apache 2.0 · Indic-first</a:t>
            </a:r>
            <a:endParaRPr lang="en-US" sz="850" dirty="0"/>
          </a:p>
        </p:txBody>
      </p:sp>
      <p:sp>
        <p:nvSpPr>
          <p:cNvPr id="27" name="Shape 24"/>
          <p:cNvSpPr/>
          <p:nvPr/>
        </p:nvSpPr>
        <p:spPr>
          <a:xfrm>
            <a:off x="566928" y="4590288"/>
            <a:ext cx="3282696" cy="621792"/>
          </a:xfrm>
          <a:prstGeom prst="roundRect">
            <a:avLst>
              <a:gd name="adj" fmla="val 10294"/>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8" name="Text 25"/>
          <p:cNvSpPr txBox="1"/>
          <p:nvPr/>
        </p:nvSpPr>
        <p:spPr>
          <a:xfrm>
            <a:off x="749808" y="4672584"/>
            <a:ext cx="2916936" cy="237744"/>
          </a:xfrm>
          <a:prstGeom prst="rect">
            <a:avLst/>
          </a:prstGeom>
          <a:noFill/>
          <a:ln/>
        </p:spPr>
        <p:txBody>
          <a:bodyPr wrap="square" lIns="0" tIns="0" rIns="0" bIns="0" rtlCol="0" anchor="ctr"/>
          <a:lstStyle/>
          <a:p>
            <a:pPr indent="0" marL="0">
              <a:buNone/>
            </a:pPr>
            <a:r>
              <a:rPr lang="en-US" sz="1150" b="1" dirty="0">
                <a:solidFill>
                  <a:srgbClr val="0F2B46"/>
                </a:solidFill>
                <a:latin typeface="Cambria" pitchFamily="34" charset="0"/>
                <a:ea typeface="Cambria" pitchFamily="34" charset="-122"/>
                <a:cs typeface="Cambria" pitchFamily="34" charset="-120"/>
              </a:rPr>
              <a:t>Llama 3.3-70B</a:t>
            </a:r>
            <a:endParaRPr lang="en-US" sz="1150" dirty="0"/>
          </a:p>
        </p:txBody>
      </p:sp>
      <p:sp>
        <p:nvSpPr>
          <p:cNvPr id="29" name="Text 26"/>
          <p:cNvSpPr txBox="1"/>
          <p:nvPr/>
        </p:nvSpPr>
        <p:spPr>
          <a:xfrm>
            <a:off x="749808" y="4919472"/>
            <a:ext cx="2916936"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Meta · dense · community licence</a:t>
            </a:r>
            <a:endParaRPr lang="en-US" sz="850" dirty="0"/>
          </a:p>
        </p:txBody>
      </p:sp>
      <p:sp>
        <p:nvSpPr>
          <p:cNvPr id="30" name="Shape 27"/>
          <p:cNvSpPr/>
          <p:nvPr/>
        </p:nvSpPr>
        <p:spPr>
          <a:xfrm>
            <a:off x="4069080" y="4590288"/>
            <a:ext cx="3282696" cy="621792"/>
          </a:xfrm>
          <a:prstGeom prst="roundRect">
            <a:avLst>
              <a:gd name="adj" fmla="val 10294"/>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31" name="Text 28"/>
          <p:cNvSpPr txBox="1"/>
          <p:nvPr/>
        </p:nvSpPr>
        <p:spPr>
          <a:xfrm>
            <a:off x="4251960" y="4672584"/>
            <a:ext cx="2916936" cy="237744"/>
          </a:xfrm>
          <a:prstGeom prst="rect">
            <a:avLst/>
          </a:prstGeom>
          <a:noFill/>
          <a:ln/>
        </p:spPr>
        <p:txBody>
          <a:bodyPr wrap="square" lIns="0" tIns="0" rIns="0" bIns="0" rtlCol="0" anchor="ctr"/>
          <a:lstStyle/>
          <a:p>
            <a:pPr indent="0" marL="0">
              <a:buNone/>
            </a:pPr>
            <a:r>
              <a:rPr lang="en-US" sz="1150" b="1" dirty="0">
                <a:solidFill>
                  <a:srgbClr val="0F2B46"/>
                </a:solidFill>
                <a:latin typeface="Cambria" pitchFamily="34" charset="0"/>
                <a:ea typeface="Cambria" pitchFamily="34" charset="-122"/>
                <a:cs typeface="Cambria" pitchFamily="34" charset="-120"/>
              </a:rPr>
              <a:t>Gemma 3-27B</a:t>
            </a:r>
            <a:endParaRPr lang="en-US" sz="1150" dirty="0"/>
          </a:p>
        </p:txBody>
      </p:sp>
      <p:sp>
        <p:nvSpPr>
          <p:cNvPr id="32" name="Text 29"/>
          <p:cNvSpPr txBox="1"/>
          <p:nvPr/>
        </p:nvSpPr>
        <p:spPr>
          <a:xfrm>
            <a:off x="4251960" y="4919472"/>
            <a:ext cx="2916936"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Google · dense · Gemma terms</a:t>
            </a:r>
            <a:endParaRPr lang="en-US" sz="850" dirty="0"/>
          </a:p>
        </p:txBody>
      </p:sp>
      <p:sp>
        <p:nvSpPr>
          <p:cNvPr id="33" name="Shape 30"/>
          <p:cNvSpPr/>
          <p:nvPr/>
        </p:nvSpPr>
        <p:spPr>
          <a:xfrm>
            <a:off x="566928" y="5321808"/>
            <a:ext cx="3282696" cy="621792"/>
          </a:xfrm>
          <a:prstGeom prst="roundRect">
            <a:avLst>
              <a:gd name="adj" fmla="val 10294"/>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34" name="Text 31"/>
          <p:cNvSpPr txBox="1"/>
          <p:nvPr/>
        </p:nvSpPr>
        <p:spPr>
          <a:xfrm>
            <a:off x="749808" y="5404104"/>
            <a:ext cx="2916936" cy="237744"/>
          </a:xfrm>
          <a:prstGeom prst="rect">
            <a:avLst/>
          </a:prstGeom>
          <a:noFill/>
          <a:ln/>
        </p:spPr>
        <p:txBody>
          <a:bodyPr wrap="square" lIns="0" tIns="0" rIns="0" bIns="0" rtlCol="0" anchor="ctr"/>
          <a:lstStyle/>
          <a:p>
            <a:pPr indent="0" marL="0">
              <a:buNone/>
            </a:pPr>
            <a:r>
              <a:rPr lang="en-US" sz="1150" b="1" dirty="0">
                <a:solidFill>
                  <a:srgbClr val="0F2B46"/>
                </a:solidFill>
                <a:latin typeface="Cambria" pitchFamily="34" charset="0"/>
                <a:ea typeface="Cambria" pitchFamily="34" charset="-122"/>
                <a:cs typeface="Cambria" pitchFamily="34" charset="-120"/>
              </a:rPr>
              <a:t>Mistral Small 3.2-24B</a:t>
            </a:r>
            <a:endParaRPr lang="en-US" sz="1150" dirty="0"/>
          </a:p>
        </p:txBody>
      </p:sp>
      <p:sp>
        <p:nvSpPr>
          <p:cNvPr id="35" name="Text 32"/>
          <p:cNvSpPr txBox="1"/>
          <p:nvPr/>
        </p:nvSpPr>
        <p:spPr>
          <a:xfrm>
            <a:off x="749808" y="5650992"/>
            <a:ext cx="2916936"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Mistral · dense · Apache 2.0</a:t>
            </a:r>
            <a:endParaRPr lang="en-US" sz="850" dirty="0"/>
          </a:p>
        </p:txBody>
      </p:sp>
      <p:sp>
        <p:nvSpPr>
          <p:cNvPr id="36" name="Shape 33"/>
          <p:cNvSpPr/>
          <p:nvPr/>
        </p:nvSpPr>
        <p:spPr>
          <a:xfrm>
            <a:off x="4069080" y="5321808"/>
            <a:ext cx="3282696" cy="621792"/>
          </a:xfrm>
          <a:prstGeom prst="roundRect">
            <a:avLst>
              <a:gd name="adj" fmla="val 10294"/>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37" name="Text 34"/>
          <p:cNvSpPr txBox="1"/>
          <p:nvPr/>
        </p:nvSpPr>
        <p:spPr>
          <a:xfrm>
            <a:off x="4251960" y="5404104"/>
            <a:ext cx="2916936" cy="237744"/>
          </a:xfrm>
          <a:prstGeom prst="rect">
            <a:avLst/>
          </a:prstGeom>
          <a:noFill/>
          <a:ln/>
        </p:spPr>
        <p:txBody>
          <a:bodyPr wrap="square" lIns="0" tIns="0" rIns="0" bIns="0" rtlCol="0" anchor="ctr"/>
          <a:lstStyle/>
          <a:p>
            <a:pPr indent="0" marL="0">
              <a:buNone/>
            </a:pPr>
            <a:r>
              <a:rPr lang="en-US" sz="1150" b="1" dirty="0">
                <a:solidFill>
                  <a:srgbClr val="0F2B46"/>
                </a:solidFill>
                <a:latin typeface="Cambria" pitchFamily="34" charset="0"/>
                <a:ea typeface="Cambria" pitchFamily="34" charset="-122"/>
                <a:cs typeface="Cambria" pitchFamily="34" charset="-120"/>
              </a:rPr>
              <a:t>DeepSeek-R1-Distill-32B</a:t>
            </a:r>
            <a:endParaRPr lang="en-US" sz="1150" dirty="0"/>
          </a:p>
        </p:txBody>
      </p:sp>
      <p:sp>
        <p:nvSpPr>
          <p:cNvPr id="38" name="Text 35"/>
          <p:cNvSpPr txBox="1"/>
          <p:nvPr/>
        </p:nvSpPr>
        <p:spPr>
          <a:xfrm>
            <a:off x="4251960" y="5650992"/>
            <a:ext cx="2916936"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DeepSeek · dense · MIT</a:t>
            </a:r>
            <a:endParaRPr lang="en-US" sz="850" dirty="0"/>
          </a:p>
        </p:txBody>
      </p:sp>
      <p:sp>
        <p:nvSpPr>
          <p:cNvPr id="39" name="Shape 36"/>
          <p:cNvSpPr/>
          <p:nvPr/>
        </p:nvSpPr>
        <p:spPr>
          <a:xfrm>
            <a:off x="7735824" y="1444752"/>
            <a:ext cx="3886200" cy="4645152"/>
          </a:xfrm>
          <a:prstGeom prst="roundRect">
            <a:avLst>
              <a:gd name="adj" fmla="val 1647"/>
            </a:avLst>
          </a:prstGeom>
          <a:solidFill>
            <a:srgbClr val="0F2B46"/>
          </a:solidFill>
          <a:ln w="9525">
            <a:solidFill>
              <a:srgbClr val="0F2B46"/>
            </a:solidFill>
            <a:prstDash val="solid"/>
          </a:ln>
          <a:effectLst>
            <a:outerShdw sx="100000" sy="100000" kx="0" ky="0" algn="bl" rotWithShape="0" blurRad="101600" dist="12700" dir="5400000">
              <a:srgbClr val="0F2B46">
                <a:alpha val="8000"/>
              </a:srgbClr>
            </a:outerShdw>
          </a:effectLst>
        </p:spPr>
      </p:sp>
      <p:sp>
        <p:nvSpPr>
          <p:cNvPr id="40" name="Text 37"/>
          <p:cNvSpPr txBox="1"/>
          <p:nvPr/>
        </p:nvSpPr>
        <p:spPr>
          <a:xfrm>
            <a:off x="8010144" y="1664208"/>
            <a:ext cx="3383280" cy="237744"/>
          </a:xfrm>
          <a:prstGeom prst="rect">
            <a:avLst/>
          </a:prstGeom>
          <a:noFill/>
          <a:ln/>
        </p:spPr>
        <p:txBody>
          <a:bodyPr wrap="square" lIns="0" tIns="0" rIns="0" bIns="0" rtlCol="0" anchor="ctr"/>
          <a:lstStyle/>
          <a:p>
            <a:pPr indent="0" marL="0">
              <a:buNone/>
            </a:pPr>
            <a:r>
              <a:rPr lang="en-US" sz="900" b="1" spc="140" kern="0" dirty="0">
                <a:solidFill>
                  <a:srgbClr val="8FC3D9"/>
                </a:solidFill>
                <a:latin typeface="Calibri" pitchFamily="34" charset="0"/>
                <a:ea typeface="Calibri" pitchFamily="34" charset="-122"/>
                <a:cs typeface="Calibri" pitchFamily="34" charset="-120"/>
              </a:rPr>
              <a:t>SCORING WEIGHTS</a:t>
            </a:r>
            <a:endParaRPr lang="en-US" sz="900" dirty="0"/>
          </a:p>
        </p:txBody>
      </p:sp>
      <p:sp>
        <p:nvSpPr>
          <p:cNvPr id="41" name="Text 38"/>
          <p:cNvSpPr txBox="1"/>
          <p:nvPr/>
        </p:nvSpPr>
        <p:spPr>
          <a:xfrm>
            <a:off x="8010144" y="1920240"/>
            <a:ext cx="3383280" cy="420624"/>
          </a:xfrm>
          <a:prstGeom prst="rect">
            <a:avLst/>
          </a:prstGeom>
          <a:noFill/>
          <a:ln/>
        </p:spPr>
        <p:txBody>
          <a:bodyPr wrap="square" lIns="0" tIns="0" rIns="0" bIns="0" rtlCol="0" anchor="ctr"/>
          <a:lstStyle/>
          <a:p>
            <a:pPr indent="0" marL="0">
              <a:lnSpc>
                <a:spcPts val="1300"/>
              </a:lnSpc>
              <a:buNone/>
            </a:pPr>
            <a:r>
              <a:rPr lang="en-US" sz="1000" dirty="0">
                <a:solidFill>
                  <a:srgbClr val="AFCCDC"/>
                </a:solidFill>
                <a:latin typeface="Calibri" pitchFamily="34" charset="0"/>
                <a:ea typeface="Calibri" pitchFamily="34" charset="-122"/>
                <a:cs typeface="Calibri" pitchFamily="34" charset="-120"/>
              </a:rPr>
              <a:t>Agreed with DGIPR editorial staff before any model was run.</a:t>
            </a:r>
            <a:endParaRPr lang="en-US" sz="1000" dirty="0"/>
          </a:p>
        </p:txBody>
      </p:sp>
      <p:sp>
        <p:nvSpPr>
          <p:cNvPr id="42" name="Text 39"/>
          <p:cNvSpPr txBox="1"/>
          <p:nvPr/>
        </p:nvSpPr>
        <p:spPr>
          <a:xfrm>
            <a:off x="8010144" y="2487168"/>
            <a:ext cx="283464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Editorial quality in Marathi</a:t>
            </a:r>
            <a:endParaRPr lang="en-US" sz="1050" dirty="0"/>
          </a:p>
        </p:txBody>
      </p:sp>
      <p:sp>
        <p:nvSpPr>
          <p:cNvPr id="43" name="Text 40"/>
          <p:cNvSpPr txBox="1"/>
          <p:nvPr/>
        </p:nvSpPr>
        <p:spPr>
          <a:xfrm>
            <a:off x="10844784" y="2487168"/>
            <a:ext cx="548640" cy="219456"/>
          </a:xfrm>
          <a:prstGeom prst="rect">
            <a:avLst/>
          </a:prstGeom>
          <a:noFill/>
          <a:ln/>
        </p:spPr>
        <p:txBody>
          <a:bodyPr wrap="square" lIns="0" tIns="0" rIns="0" bIns="0" rtlCol="0" anchor="ctr"/>
          <a:lstStyle/>
          <a:p>
            <a:pPr algn="r" indent="0" marL="0">
              <a:buNone/>
            </a:pPr>
            <a:r>
              <a:rPr lang="en-US" sz="1150" b="1" dirty="0">
                <a:solidFill>
                  <a:srgbClr val="FBEEDC"/>
                </a:solidFill>
                <a:latin typeface="Cambria" pitchFamily="34" charset="0"/>
                <a:ea typeface="Cambria" pitchFamily="34" charset="-122"/>
                <a:cs typeface="Cambria" pitchFamily="34" charset="-120"/>
              </a:rPr>
              <a:t>35%</a:t>
            </a:r>
            <a:endParaRPr lang="en-US" sz="1150" dirty="0"/>
          </a:p>
        </p:txBody>
      </p:sp>
      <p:sp>
        <p:nvSpPr>
          <p:cNvPr id="44" name="Shape 41"/>
          <p:cNvSpPr/>
          <p:nvPr/>
        </p:nvSpPr>
        <p:spPr>
          <a:xfrm>
            <a:off x="8010144" y="2761488"/>
            <a:ext cx="3383280" cy="118872"/>
          </a:xfrm>
          <a:prstGeom prst="roundRect">
            <a:avLst>
              <a:gd name="adj" fmla="val 46154"/>
            </a:avLst>
          </a:prstGeom>
          <a:solidFill>
            <a:srgbClr val="1F4A6B"/>
          </a:solidFill>
          <a:ln w="12700">
            <a:solidFill>
              <a:srgbClr val="1F4A6B"/>
            </a:solidFill>
            <a:prstDash val="solid"/>
          </a:ln>
        </p:spPr>
      </p:sp>
      <p:sp>
        <p:nvSpPr>
          <p:cNvPr id="45" name="Shape 42"/>
          <p:cNvSpPr/>
          <p:nvPr/>
        </p:nvSpPr>
        <p:spPr>
          <a:xfrm>
            <a:off x="8010144" y="2761488"/>
            <a:ext cx="3383280" cy="118872"/>
          </a:xfrm>
          <a:prstGeom prst="roundRect">
            <a:avLst>
              <a:gd name="adj" fmla="val 46154"/>
            </a:avLst>
          </a:prstGeom>
          <a:solidFill>
            <a:srgbClr val="E8A33D"/>
          </a:solidFill>
          <a:ln w="12700">
            <a:solidFill>
              <a:srgbClr val="E8A33D"/>
            </a:solidFill>
            <a:prstDash val="solid"/>
          </a:ln>
        </p:spPr>
      </p:sp>
      <p:sp>
        <p:nvSpPr>
          <p:cNvPr id="46" name="Text 43"/>
          <p:cNvSpPr txBox="1"/>
          <p:nvPr/>
        </p:nvSpPr>
        <p:spPr>
          <a:xfrm>
            <a:off x="8010144" y="3145536"/>
            <a:ext cx="283464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Factual control</a:t>
            </a:r>
            <a:endParaRPr lang="en-US" sz="1050" dirty="0"/>
          </a:p>
        </p:txBody>
      </p:sp>
      <p:sp>
        <p:nvSpPr>
          <p:cNvPr id="47" name="Text 44"/>
          <p:cNvSpPr txBox="1"/>
          <p:nvPr/>
        </p:nvSpPr>
        <p:spPr>
          <a:xfrm>
            <a:off x="10844784" y="3145536"/>
            <a:ext cx="548640" cy="219456"/>
          </a:xfrm>
          <a:prstGeom prst="rect">
            <a:avLst/>
          </a:prstGeom>
          <a:noFill/>
          <a:ln/>
        </p:spPr>
        <p:txBody>
          <a:bodyPr wrap="square" lIns="0" tIns="0" rIns="0" bIns="0" rtlCol="0" anchor="ctr"/>
          <a:lstStyle/>
          <a:p>
            <a:pPr algn="r" indent="0" marL="0">
              <a:buNone/>
            </a:pPr>
            <a:r>
              <a:rPr lang="en-US" sz="1150" b="1" dirty="0">
                <a:solidFill>
                  <a:srgbClr val="FBEEDC"/>
                </a:solidFill>
                <a:latin typeface="Cambria" pitchFamily="34" charset="0"/>
                <a:ea typeface="Cambria" pitchFamily="34" charset="-122"/>
                <a:cs typeface="Cambria" pitchFamily="34" charset="-120"/>
              </a:rPr>
              <a:t>25%</a:t>
            </a:r>
            <a:endParaRPr lang="en-US" sz="1150" dirty="0"/>
          </a:p>
        </p:txBody>
      </p:sp>
      <p:sp>
        <p:nvSpPr>
          <p:cNvPr id="48" name="Shape 45"/>
          <p:cNvSpPr/>
          <p:nvPr/>
        </p:nvSpPr>
        <p:spPr>
          <a:xfrm>
            <a:off x="8010144" y="3419856"/>
            <a:ext cx="3383280" cy="118872"/>
          </a:xfrm>
          <a:prstGeom prst="roundRect">
            <a:avLst>
              <a:gd name="adj" fmla="val 46154"/>
            </a:avLst>
          </a:prstGeom>
          <a:solidFill>
            <a:srgbClr val="1F4A6B"/>
          </a:solidFill>
          <a:ln w="12700">
            <a:solidFill>
              <a:srgbClr val="1F4A6B"/>
            </a:solidFill>
            <a:prstDash val="solid"/>
          </a:ln>
        </p:spPr>
      </p:sp>
      <p:sp>
        <p:nvSpPr>
          <p:cNvPr id="49" name="Shape 46"/>
          <p:cNvSpPr/>
          <p:nvPr/>
        </p:nvSpPr>
        <p:spPr>
          <a:xfrm>
            <a:off x="8010144" y="3419856"/>
            <a:ext cx="2416629" cy="118872"/>
          </a:xfrm>
          <a:prstGeom prst="roundRect">
            <a:avLst>
              <a:gd name="adj" fmla="val 46154"/>
            </a:avLst>
          </a:prstGeom>
          <a:solidFill>
            <a:srgbClr val="5FA3C4"/>
          </a:solidFill>
          <a:ln w="12700">
            <a:solidFill>
              <a:srgbClr val="5FA3C4"/>
            </a:solidFill>
            <a:prstDash val="solid"/>
          </a:ln>
        </p:spPr>
      </p:sp>
      <p:sp>
        <p:nvSpPr>
          <p:cNvPr id="50" name="Text 47"/>
          <p:cNvSpPr txBox="1"/>
          <p:nvPr/>
        </p:nvSpPr>
        <p:spPr>
          <a:xfrm>
            <a:off x="8010144" y="3803904"/>
            <a:ext cx="283464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On-premise footprint and throughput</a:t>
            </a:r>
            <a:endParaRPr lang="en-US" sz="1050" dirty="0"/>
          </a:p>
        </p:txBody>
      </p:sp>
      <p:sp>
        <p:nvSpPr>
          <p:cNvPr id="51" name="Text 48"/>
          <p:cNvSpPr txBox="1"/>
          <p:nvPr/>
        </p:nvSpPr>
        <p:spPr>
          <a:xfrm>
            <a:off x="10844784" y="3803904"/>
            <a:ext cx="548640" cy="219456"/>
          </a:xfrm>
          <a:prstGeom prst="rect">
            <a:avLst/>
          </a:prstGeom>
          <a:noFill/>
          <a:ln/>
        </p:spPr>
        <p:txBody>
          <a:bodyPr wrap="square" lIns="0" tIns="0" rIns="0" bIns="0" rtlCol="0" anchor="ctr"/>
          <a:lstStyle/>
          <a:p>
            <a:pPr algn="r" indent="0" marL="0">
              <a:buNone/>
            </a:pPr>
            <a:r>
              <a:rPr lang="en-US" sz="1150" b="1" dirty="0">
                <a:solidFill>
                  <a:srgbClr val="FBEEDC"/>
                </a:solidFill>
                <a:latin typeface="Cambria" pitchFamily="34" charset="0"/>
                <a:ea typeface="Cambria" pitchFamily="34" charset="-122"/>
                <a:cs typeface="Cambria" pitchFamily="34" charset="-120"/>
              </a:rPr>
              <a:t>15%</a:t>
            </a:r>
            <a:endParaRPr lang="en-US" sz="1150" dirty="0"/>
          </a:p>
        </p:txBody>
      </p:sp>
      <p:sp>
        <p:nvSpPr>
          <p:cNvPr id="52" name="Shape 49"/>
          <p:cNvSpPr/>
          <p:nvPr/>
        </p:nvSpPr>
        <p:spPr>
          <a:xfrm>
            <a:off x="8010144" y="4078224"/>
            <a:ext cx="3383280" cy="118872"/>
          </a:xfrm>
          <a:prstGeom prst="roundRect">
            <a:avLst>
              <a:gd name="adj" fmla="val 46154"/>
            </a:avLst>
          </a:prstGeom>
          <a:solidFill>
            <a:srgbClr val="1F4A6B"/>
          </a:solidFill>
          <a:ln w="12700">
            <a:solidFill>
              <a:srgbClr val="1F4A6B"/>
            </a:solidFill>
            <a:prstDash val="solid"/>
          </a:ln>
        </p:spPr>
      </p:sp>
      <p:sp>
        <p:nvSpPr>
          <p:cNvPr id="53" name="Shape 50"/>
          <p:cNvSpPr/>
          <p:nvPr/>
        </p:nvSpPr>
        <p:spPr>
          <a:xfrm>
            <a:off x="8010144" y="4078224"/>
            <a:ext cx="1449977" cy="118872"/>
          </a:xfrm>
          <a:prstGeom prst="roundRect">
            <a:avLst>
              <a:gd name="adj" fmla="val 46154"/>
            </a:avLst>
          </a:prstGeom>
          <a:solidFill>
            <a:srgbClr val="5FA3C4"/>
          </a:solidFill>
          <a:ln w="12700">
            <a:solidFill>
              <a:srgbClr val="5FA3C4"/>
            </a:solidFill>
            <a:prstDash val="solid"/>
          </a:ln>
        </p:spPr>
      </p:sp>
      <p:sp>
        <p:nvSpPr>
          <p:cNvPr id="54" name="Text 51"/>
          <p:cNvSpPr txBox="1"/>
          <p:nvPr/>
        </p:nvSpPr>
        <p:spPr>
          <a:xfrm>
            <a:off x="8010144" y="4462272"/>
            <a:ext cx="283464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Fine-tunability</a:t>
            </a:r>
            <a:endParaRPr lang="en-US" sz="1050" dirty="0"/>
          </a:p>
        </p:txBody>
      </p:sp>
      <p:sp>
        <p:nvSpPr>
          <p:cNvPr id="55" name="Text 52"/>
          <p:cNvSpPr txBox="1"/>
          <p:nvPr/>
        </p:nvSpPr>
        <p:spPr>
          <a:xfrm>
            <a:off x="10844784" y="4462272"/>
            <a:ext cx="548640" cy="219456"/>
          </a:xfrm>
          <a:prstGeom prst="rect">
            <a:avLst/>
          </a:prstGeom>
          <a:noFill/>
          <a:ln/>
        </p:spPr>
        <p:txBody>
          <a:bodyPr wrap="square" lIns="0" tIns="0" rIns="0" bIns="0" rtlCol="0" anchor="ctr"/>
          <a:lstStyle/>
          <a:p>
            <a:pPr algn="r" indent="0" marL="0">
              <a:buNone/>
            </a:pPr>
            <a:r>
              <a:rPr lang="en-US" sz="1150" b="1" dirty="0">
                <a:solidFill>
                  <a:srgbClr val="FBEEDC"/>
                </a:solidFill>
                <a:latin typeface="Cambria" pitchFamily="34" charset="0"/>
                <a:ea typeface="Cambria" pitchFamily="34" charset="-122"/>
                <a:cs typeface="Cambria" pitchFamily="34" charset="-120"/>
              </a:rPr>
              <a:t>15%</a:t>
            </a:r>
            <a:endParaRPr lang="en-US" sz="1150" dirty="0"/>
          </a:p>
        </p:txBody>
      </p:sp>
      <p:sp>
        <p:nvSpPr>
          <p:cNvPr id="56" name="Shape 53"/>
          <p:cNvSpPr/>
          <p:nvPr/>
        </p:nvSpPr>
        <p:spPr>
          <a:xfrm>
            <a:off x="8010144" y="4736592"/>
            <a:ext cx="3383280" cy="118872"/>
          </a:xfrm>
          <a:prstGeom prst="roundRect">
            <a:avLst>
              <a:gd name="adj" fmla="val 46154"/>
            </a:avLst>
          </a:prstGeom>
          <a:solidFill>
            <a:srgbClr val="1F4A6B"/>
          </a:solidFill>
          <a:ln w="12700">
            <a:solidFill>
              <a:srgbClr val="1F4A6B"/>
            </a:solidFill>
            <a:prstDash val="solid"/>
          </a:ln>
        </p:spPr>
      </p:sp>
      <p:sp>
        <p:nvSpPr>
          <p:cNvPr id="57" name="Shape 54"/>
          <p:cNvSpPr/>
          <p:nvPr/>
        </p:nvSpPr>
        <p:spPr>
          <a:xfrm>
            <a:off x="8010144" y="4736592"/>
            <a:ext cx="1449977" cy="118872"/>
          </a:xfrm>
          <a:prstGeom prst="roundRect">
            <a:avLst>
              <a:gd name="adj" fmla="val 46154"/>
            </a:avLst>
          </a:prstGeom>
          <a:solidFill>
            <a:srgbClr val="5FA3C4"/>
          </a:solidFill>
          <a:ln w="12700">
            <a:solidFill>
              <a:srgbClr val="5FA3C4"/>
            </a:solidFill>
            <a:prstDash val="solid"/>
          </a:ln>
        </p:spPr>
      </p:sp>
      <p:sp>
        <p:nvSpPr>
          <p:cNvPr id="58" name="Text 55"/>
          <p:cNvSpPr txBox="1"/>
          <p:nvPr/>
        </p:nvSpPr>
        <p:spPr>
          <a:xfrm>
            <a:off x="8010144" y="5120640"/>
            <a:ext cx="283464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Licence and ecosystem</a:t>
            </a:r>
            <a:endParaRPr lang="en-US" sz="1050" dirty="0"/>
          </a:p>
        </p:txBody>
      </p:sp>
      <p:sp>
        <p:nvSpPr>
          <p:cNvPr id="59" name="Text 56"/>
          <p:cNvSpPr txBox="1"/>
          <p:nvPr/>
        </p:nvSpPr>
        <p:spPr>
          <a:xfrm>
            <a:off x="10844784" y="5120640"/>
            <a:ext cx="548640" cy="219456"/>
          </a:xfrm>
          <a:prstGeom prst="rect">
            <a:avLst/>
          </a:prstGeom>
          <a:noFill/>
          <a:ln/>
        </p:spPr>
        <p:txBody>
          <a:bodyPr wrap="square" lIns="0" tIns="0" rIns="0" bIns="0" rtlCol="0" anchor="ctr"/>
          <a:lstStyle/>
          <a:p>
            <a:pPr algn="r" indent="0" marL="0">
              <a:buNone/>
            </a:pPr>
            <a:r>
              <a:rPr lang="en-US" sz="1150" b="1" dirty="0">
                <a:solidFill>
                  <a:srgbClr val="FBEEDC"/>
                </a:solidFill>
                <a:latin typeface="Cambria" pitchFamily="34" charset="0"/>
                <a:ea typeface="Cambria" pitchFamily="34" charset="-122"/>
                <a:cs typeface="Cambria" pitchFamily="34" charset="-120"/>
              </a:rPr>
              <a:t>10%</a:t>
            </a:r>
            <a:endParaRPr lang="en-US" sz="1150" dirty="0"/>
          </a:p>
        </p:txBody>
      </p:sp>
      <p:sp>
        <p:nvSpPr>
          <p:cNvPr id="60" name="Shape 57"/>
          <p:cNvSpPr/>
          <p:nvPr/>
        </p:nvSpPr>
        <p:spPr>
          <a:xfrm>
            <a:off x="8010144" y="5394960"/>
            <a:ext cx="3383280" cy="118872"/>
          </a:xfrm>
          <a:prstGeom prst="roundRect">
            <a:avLst>
              <a:gd name="adj" fmla="val 46154"/>
            </a:avLst>
          </a:prstGeom>
          <a:solidFill>
            <a:srgbClr val="1F4A6B"/>
          </a:solidFill>
          <a:ln w="12700">
            <a:solidFill>
              <a:srgbClr val="1F4A6B"/>
            </a:solidFill>
            <a:prstDash val="solid"/>
          </a:ln>
        </p:spPr>
      </p:sp>
      <p:sp>
        <p:nvSpPr>
          <p:cNvPr id="61" name="Shape 58"/>
          <p:cNvSpPr/>
          <p:nvPr/>
        </p:nvSpPr>
        <p:spPr>
          <a:xfrm>
            <a:off x="8010144" y="5394960"/>
            <a:ext cx="966651" cy="118872"/>
          </a:xfrm>
          <a:prstGeom prst="roundRect">
            <a:avLst>
              <a:gd name="adj" fmla="val 46154"/>
            </a:avLst>
          </a:prstGeom>
          <a:solidFill>
            <a:srgbClr val="5FA3C4"/>
          </a:solidFill>
          <a:ln w="12700">
            <a:solidFill>
              <a:srgbClr val="5FA3C4"/>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3</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How we evaluated them</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7</a:t>
            </a:r>
            <a:endParaRPr lang="en-US" sz="850" dirty="0"/>
          </a:p>
        </p:txBody>
      </p:sp>
      <p:sp>
        <p:nvSpPr>
          <p:cNvPr id="7" name="Shape 4"/>
          <p:cNvSpPr/>
          <p:nvPr/>
        </p:nvSpPr>
        <p:spPr>
          <a:xfrm>
            <a:off x="566928" y="1463040"/>
            <a:ext cx="5399532" cy="2084832"/>
          </a:xfrm>
          <a:prstGeom prst="roundRect">
            <a:avLst>
              <a:gd name="adj" fmla="val 307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8" name="Shape 5"/>
          <p:cNvSpPr/>
          <p:nvPr/>
        </p:nvSpPr>
        <p:spPr>
          <a:xfrm>
            <a:off x="804672" y="1682496"/>
            <a:ext cx="384048" cy="384048"/>
          </a:xfrm>
          <a:prstGeom prst="ellipse">
            <a:avLst/>
          </a:prstGeom>
          <a:solidFill>
            <a:srgbClr val="1C7293"/>
          </a:solidFill>
          <a:ln w="6350">
            <a:solidFill>
              <a:srgbClr val="1C7293"/>
            </a:solidFill>
            <a:prstDash val="solid"/>
          </a:ln>
        </p:spPr>
      </p:sp>
      <p:sp>
        <p:nvSpPr>
          <p:cNvPr id="9" name="Text 6"/>
          <p:cNvSpPr txBox="1"/>
          <p:nvPr/>
        </p:nvSpPr>
        <p:spPr>
          <a:xfrm>
            <a:off x="804672" y="1682496"/>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0" name="Text 7"/>
          <p:cNvSpPr txBox="1"/>
          <p:nvPr/>
        </p:nvSpPr>
        <p:spPr>
          <a:xfrm>
            <a:off x="1316736" y="1719072"/>
            <a:ext cx="4393692" cy="292608"/>
          </a:xfrm>
          <a:prstGeom prst="rect">
            <a:avLst/>
          </a:prstGeom>
          <a:noFill/>
          <a:ln/>
        </p:spPr>
        <p:txBody>
          <a:bodyPr wrap="square" lIns="0" tIns="0" rIns="0" bIns="0" rtlCol="0" anchor="ctr"/>
          <a:lstStyle/>
          <a:p>
            <a:pPr indent="0" marL="0">
              <a:buNone/>
            </a:pPr>
            <a:r>
              <a:rPr lang="en-US" sz="1400" b="1" dirty="0">
                <a:solidFill>
                  <a:srgbClr val="0F2B46"/>
                </a:solidFill>
                <a:latin typeface="Cambria" pitchFamily="34" charset="0"/>
                <a:ea typeface="Cambria" pitchFamily="34" charset="-122"/>
                <a:cs typeface="Cambria" pitchFamily="34" charset="-120"/>
              </a:rPr>
              <a:t>The golden set</a:t>
            </a:r>
            <a:endParaRPr lang="en-US" sz="1400" dirty="0"/>
          </a:p>
        </p:txBody>
      </p:sp>
      <p:sp>
        <p:nvSpPr>
          <p:cNvPr id="11" name="Text 8"/>
          <p:cNvSpPr txBox="1"/>
          <p:nvPr/>
        </p:nvSpPr>
        <p:spPr>
          <a:xfrm>
            <a:off x="804672" y="2176272"/>
            <a:ext cx="4924044" cy="841248"/>
          </a:xfrm>
          <a:prstGeom prst="rect">
            <a:avLst/>
          </a:prstGeom>
          <a:noFill/>
          <a:ln/>
        </p:spPr>
        <p:txBody>
          <a:bodyPr wrap="square" lIns="0" tIns="0" rIns="0" bIns="0" rtlCol="0" anchor="ctr"/>
          <a:lstStyle/>
          <a:p>
            <a:pPr indent="0" marL="0">
              <a:lnSpc>
                <a:spcPts val="1300"/>
              </a:lnSpc>
              <a:buNone/>
            </a:pPr>
            <a:r>
              <a:rPr lang="en-US" sz="1000" dirty="0">
                <a:solidFill>
                  <a:srgbClr val="33424E"/>
                </a:solidFill>
                <a:latin typeface="Calibri" pitchFamily="34" charset="0"/>
                <a:ea typeface="Calibri" pitchFamily="34" charset="-122"/>
                <a:cs typeface="Calibri" pitchFamily="34" charset="-120"/>
              </a:rPr>
              <a:t>500+ real DGIPR items — press notes, Government Resolutions, scheme announcements and meeting transcripts — each paired with the article a DGIPR officer actually approved. The set grows every day as District Information Officers use the platform.</a:t>
            </a:r>
            <a:endParaRPr lang="en-US" sz="1000" dirty="0"/>
          </a:p>
        </p:txBody>
      </p:sp>
      <p:sp>
        <p:nvSpPr>
          <p:cNvPr id="12" name="Shape 9"/>
          <p:cNvSpPr/>
          <p:nvPr/>
        </p:nvSpPr>
        <p:spPr>
          <a:xfrm>
            <a:off x="804672" y="3035808"/>
            <a:ext cx="4924044" cy="420624"/>
          </a:xfrm>
          <a:prstGeom prst="roundRect">
            <a:avLst>
              <a:gd name="adj" fmla="val 13043"/>
            </a:avLst>
          </a:prstGeom>
          <a:solidFill>
            <a:srgbClr val="E4EEF3"/>
          </a:solidFill>
          <a:ln w="12700">
            <a:solidFill>
              <a:srgbClr val="E4EEF3"/>
            </a:solidFill>
            <a:prstDash val="solid"/>
          </a:ln>
        </p:spPr>
      </p:sp>
      <p:sp>
        <p:nvSpPr>
          <p:cNvPr id="13" name="Text 10"/>
          <p:cNvSpPr txBox="1"/>
          <p:nvPr/>
        </p:nvSpPr>
        <p:spPr>
          <a:xfrm>
            <a:off x="950976" y="3072384"/>
            <a:ext cx="4631436" cy="347472"/>
          </a:xfrm>
          <a:prstGeom prst="rect">
            <a:avLst/>
          </a:prstGeom>
          <a:noFill/>
          <a:ln/>
        </p:spPr>
        <p:txBody>
          <a:bodyPr wrap="square" lIns="0" tIns="0" rIns="0" bIns="0" rtlCol="0" anchor="ctr"/>
          <a:lstStyle/>
          <a:p>
            <a:pPr indent="0" marL="0">
              <a:lnSpc>
                <a:spcPts val="1150"/>
              </a:lnSpc>
              <a:buNone/>
            </a:pPr>
            <a:r>
              <a:rPr lang="en-US" sz="900" b="1" dirty="0">
                <a:solidFill>
                  <a:srgbClr val="1C7293"/>
                </a:solidFill>
                <a:latin typeface="Calibri" pitchFamily="34" charset="0"/>
                <a:ea typeface="Calibri" pitchFamily="34" charset="-122"/>
                <a:cs typeface="Calibri" pitchFamily="34" charset="-120"/>
              </a:rPr>
              <a:t>Held out permanently. No evaluation item is ever used for fine-tuning.</a:t>
            </a:r>
            <a:endParaRPr lang="en-US" sz="900" dirty="0"/>
          </a:p>
        </p:txBody>
      </p:sp>
      <p:sp>
        <p:nvSpPr>
          <p:cNvPr id="14" name="Shape 11"/>
          <p:cNvSpPr/>
          <p:nvPr/>
        </p:nvSpPr>
        <p:spPr>
          <a:xfrm>
            <a:off x="6222492" y="1463040"/>
            <a:ext cx="5399532" cy="2084832"/>
          </a:xfrm>
          <a:prstGeom prst="roundRect">
            <a:avLst>
              <a:gd name="adj" fmla="val 307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5" name="Shape 12"/>
          <p:cNvSpPr/>
          <p:nvPr/>
        </p:nvSpPr>
        <p:spPr>
          <a:xfrm>
            <a:off x="6460236" y="1682496"/>
            <a:ext cx="384048" cy="384048"/>
          </a:xfrm>
          <a:prstGeom prst="ellipse">
            <a:avLst/>
          </a:prstGeom>
          <a:solidFill>
            <a:srgbClr val="1C7293"/>
          </a:solidFill>
          <a:ln w="6350">
            <a:solidFill>
              <a:srgbClr val="1C7293"/>
            </a:solidFill>
            <a:prstDash val="solid"/>
          </a:ln>
        </p:spPr>
      </p:sp>
      <p:sp>
        <p:nvSpPr>
          <p:cNvPr id="16" name="Text 13"/>
          <p:cNvSpPr txBox="1"/>
          <p:nvPr/>
        </p:nvSpPr>
        <p:spPr>
          <a:xfrm>
            <a:off x="6460236" y="1682496"/>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txBox="1"/>
          <p:nvPr/>
        </p:nvSpPr>
        <p:spPr>
          <a:xfrm>
            <a:off x="6972300" y="1719072"/>
            <a:ext cx="4393692" cy="292608"/>
          </a:xfrm>
          <a:prstGeom prst="rect">
            <a:avLst/>
          </a:prstGeom>
          <a:noFill/>
          <a:ln/>
        </p:spPr>
        <p:txBody>
          <a:bodyPr wrap="square" lIns="0" tIns="0" rIns="0" bIns="0" rtlCol="0" anchor="ctr"/>
          <a:lstStyle/>
          <a:p>
            <a:pPr indent="0" marL="0">
              <a:buNone/>
            </a:pPr>
            <a:r>
              <a:rPr lang="en-US" sz="1400" b="1" dirty="0">
                <a:solidFill>
                  <a:srgbClr val="0F2B46"/>
                </a:solidFill>
                <a:latin typeface="Cambria" pitchFamily="34" charset="0"/>
                <a:ea typeface="Cambria" pitchFamily="34" charset="-122"/>
                <a:cs typeface="Cambria" pitchFamily="34" charset="-120"/>
              </a:rPr>
              <a:t>Blind and identical</a:t>
            </a:r>
            <a:endParaRPr lang="en-US" sz="1400" dirty="0"/>
          </a:p>
        </p:txBody>
      </p:sp>
      <p:sp>
        <p:nvSpPr>
          <p:cNvPr id="18" name="Text 15"/>
          <p:cNvSpPr txBox="1"/>
          <p:nvPr/>
        </p:nvSpPr>
        <p:spPr>
          <a:xfrm>
            <a:off x="6460236" y="2176272"/>
            <a:ext cx="4924044" cy="841248"/>
          </a:xfrm>
          <a:prstGeom prst="rect">
            <a:avLst/>
          </a:prstGeom>
          <a:noFill/>
          <a:ln/>
        </p:spPr>
        <p:txBody>
          <a:bodyPr wrap="square" lIns="0" tIns="0" rIns="0" bIns="0" rtlCol="0" anchor="ctr"/>
          <a:lstStyle/>
          <a:p>
            <a:pPr indent="0" marL="0">
              <a:lnSpc>
                <a:spcPts val="1300"/>
              </a:lnSpc>
              <a:buNone/>
            </a:pPr>
            <a:r>
              <a:rPr lang="en-US" sz="1000" dirty="0">
                <a:solidFill>
                  <a:srgbClr val="33424E"/>
                </a:solidFill>
                <a:latin typeface="Calibri" pitchFamily="34" charset="0"/>
                <a:ea typeface="Calibri" pitchFamily="34" charset="-122"/>
                <a:cs typeface="Calibri" pitchFamily="34" charset="-120"/>
              </a:rPr>
              <a:t>Every model receives byte-identical inputs: the same verified source, the same officer instructions, the same retrieved style references. Outputs are stripped of model identity and shuffled before scoring.</a:t>
            </a:r>
            <a:endParaRPr lang="en-US" sz="1000" dirty="0"/>
          </a:p>
        </p:txBody>
      </p:sp>
      <p:sp>
        <p:nvSpPr>
          <p:cNvPr id="19" name="Shape 16"/>
          <p:cNvSpPr/>
          <p:nvPr/>
        </p:nvSpPr>
        <p:spPr>
          <a:xfrm>
            <a:off x="6460236" y="3035808"/>
            <a:ext cx="4924044" cy="420624"/>
          </a:xfrm>
          <a:prstGeom prst="roundRect">
            <a:avLst>
              <a:gd name="adj" fmla="val 13043"/>
            </a:avLst>
          </a:prstGeom>
          <a:solidFill>
            <a:srgbClr val="E4EEF3"/>
          </a:solidFill>
          <a:ln w="12700">
            <a:solidFill>
              <a:srgbClr val="E4EEF3"/>
            </a:solidFill>
            <a:prstDash val="solid"/>
          </a:ln>
        </p:spPr>
      </p:sp>
      <p:sp>
        <p:nvSpPr>
          <p:cNvPr id="20" name="Text 17"/>
          <p:cNvSpPr txBox="1"/>
          <p:nvPr/>
        </p:nvSpPr>
        <p:spPr>
          <a:xfrm>
            <a:off x="6606540" y="3072384"/>
            <a:ext cx="4631436" cy="347472"/>
          </a:xfrm>
          <a:prstGeom prst="rect">
            <a:avLst/>
          </a:prstGeom>
          <a:noFill/>
          <a:ln/>
        </p:spPr>
        <p:txBody>
          <a:bodyPr wrap="square" lIns="0" tIns="0" rIns="0" bIns="0" rtlCol="0" anchor="ctr"/>
          <a:lstStyle/>
          <a:p>
            <a:pPr indent="0" marL="0">
              <a:lnSpc>
                <a:spcPts val="1150"/>
              </a:lnSpc>
              <a:buNone/>
            </a:pPr>
            <a:r>
              <a:rPr lang="en-US" sz="900" b="1" dirty="0">
                <a:solidFill>
                  <a:srgbClr val="1C7293"/>
                </a:solidFill>
                <a:latin typeface="Calibri" pitchFamily="34" charset="0"/>
                <a:ea typeface="Calibri" pitchFamily="34" charset="-122"/>
                <a:cs typeface="Calibri" pitchFamily="34" charset="-120"/>
              </a:rPr>
              <a:t>No model sees another model's output, and no reviewer knows which model wrote which draft.</a:t>
            </a:r>
            <a:endParaRPr lang="en-US" sz="900" dirty="0"/>
          </a:p>
        </p:txBody>
      </p:sp>
      <p:sp>
        <p:nvSpPr>
          <p:cNvPr id="21" name="Shape 18"/>
          <p:cNvSpPr/>
          <p:nvPr/>
        </p:nvSpPr>
        <p:spPr>
          <a:xfrm>
            <a:off x="566928" y="3767328"/>
            <a:ext cx="5399532" cy="2084832"/>
          </a:xfrm>
          <a:prstGeom prst="roundRect">
            <a:avLst>
              <a:gd name="adj" fmla="val 307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2" name="Shape 19"/>
          <p:cNvSpPr/>
          <p:nvPr/>
        </p:nvSpPr>
        <p:spPr>
          <a:xfrm>
            <a:off x="804672" y="3986784"/>
            <a:ext cx="384048" cy="384048"/>
          </a:xfrm>
          <a:prstGeom prst="ellipse">
            <a:avLst/>
          </a:prstGeom>
          <a:solidFill>
            <a:srgbClr val="1C7293"/>
          </a:solidFill>
          <a:ln w="6350">
            <a:solidFill>
              <a:srgbClr val="1C7293"/>
            </a:solidFill>
            <a:prstDash val="solid"/>
          </a:ln>
        </p:spPr>
      </p:sp>
      <p:sp>
        <p:nvSpPr>
          <p:cNvPr id="23" name="Text 20"/>
          <p:cNvSpPr txBox="1"/>
          <p:nvPr/>
        </p:nvSpPr>
        <p:spPr>
          <a:xfrm>
            <a:off x="804672" y="3986784"/>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4" name="Text 21"/>
          <p:cNvSpPr txBox="1"/>
          <p:nvPr/>
        </p:nvSpPr>
        <p:spPr>
          <a:xfrm>
            <a:off x="1316736" y="4023360"/>
            <a:ext cx="4393692" cy="292608"/>
          </a:xfrm>
          <a:prstGeom prst="rect">
            <a:avLst/>
          </a:prstGeom>
          <a:noFill/>
          <a:ln/>
        </p:spPr>
        <p:txBody>
          <a:bodyPr wrap="square" lIns="0" tIns="0" rIns="0" bIns="0" rtlCol="0" anchor="ctr"/>
          <a:lstStyle/>
          <a:p>
            <a:pPr indent="0" marL="0">
              <a:buNone/>
            </a:pPr>
            <a:r>
              <a:rPr lang="en-US" sz="1400" b="1" dirty="0">
                <a:solidFill>
                  <a:srgbClr val="0F2B46"/>
                </a:solidFill>
                <a:latin typeface="Cambria" pitchFamily="34" charset="0"/>
                <a:ea typeface="Cambria" pitchFamily="34" charset="-122"/>
                <a:cs typeface="Cambria" pitchFamily="34" charset="-120"/>
              </a:rPr>
              <a:t>Two scoring tracks</a:t>
            </a:r>
            <a:endParaRPr lang="en-US" sz="1400" dirty="0"/>
          </a:p>
        </p:txBody>
      </p:sp>
      <p:sp>
        <p:nvSpPr>
          <p:cNvPr id="25" name="Text 22"/>
          <p:cNvSpPr txBox="1"/>
          <p:nvPr/>
        </p:nvSpPr>
        <p:spPr>
          <a:xfrm>
            <a:off x="804672" y="4480560"/>
            <a:ext cx="4924044" cy="841248"/>
          </a:xfrm>
          <a:prstGeom prst="rect">
            <a:avLst/>
          </a:prstGeom>
          <a:noFill/>
          <a:ln/>
        </p:spPr>
        <p:txBody>
          <a:bodyPr wrap="square" lIns="0" tIns="0" rIns="0" bIns="0" rtlCol="0" anchor="ctr"/>
          <a:lstStyle/>
          <a:p>
            <a:pPr indent="0" marL="0">
              <a:lnSpc>
                <a:spcPts val="1300"/>
              </a:lnSpc>
              <a:buNone/>
            </a:pPr>
            <a:r>
              <a:rPr lang="en-US" sz="1000" dirty="0">
                <a:solidFill>
                  <a:srgbClr val="33424E"/>
                </a:solidFill>
                <a:latin typeface="Calibri" pitchFamily="34" charset="0"/>
                <a:ea typeface="Calibri" pitchFamily="34" charset="-122"/>
                <a:cs typeface="Calibri" pitchFamily="34" charset="-120"/>
              </a:rPr>
              <a:t>Automated: claim-level faithfulness and coverage measured against the source document. Human: three Marathi editorial reviewers score fluency, register and Mahasamvad style on a five-point rubric.</a:t>
            </a:r>
            <a:endParaRPr lang="en-US" sz="1000" dirty="0"/>
          </a:p>
        </p:txBody>
      </p:sp>
      <p:sp>
        <p:nvSpPr>
          <p:cNvPr id="26" name="Shape 23"/>
          <p:cNvSpPr/>
          <p:nvPr/>
        </p:nvSpPr>
        <p:spPr>
          <a:xfrm>
            <a:off x="804672" y="5340096"/>
            <a:ext cx="4924044" cy="420624"/>
          </a:xfrm>
          <a:prstGeom prst="roundRect">
            <a:avLst>
              <a:gd name="adj" fmla="val 13043"/>
            </a:avLst>
          </a:prstGeom>
          <a:solidFill>
            <a:srgbClr val="E4EEF3"/>
          </a:solidFill>
          <a:ln w="12700">
            <a:solidFill>
              <a:srgbClr val="E4EEF3"/>
            </a:solidFill>
            <a:prstDash val="solid"/>
          </a:ln>
        </p:spPr>
      </p:sp>
      <p:sp>
        <p:nvSpPr>
          <p:cNvPr id="27" name="Text 24"/>
          <p:cNvSpPr txBox="1"/>
          <p:nvPr/>
        </p:nvSpPr>
        <p:spPr>
          <a:xfrm>
            <a:off x="950976" y="5376672"/>
            <a:ext cx="4631436" cy="347472"/>
          </a:xfrm>
          <a:prstGeom prst="rect">
            <a:avLst/>
          </a:prstGeom>
          <a:noFill/>
          <a:ln/>
        </p:spPr>
        <p:txBody>
          <a:bodyPr wrap="square" lIns="0" tIns="0" rIns="0" bIns="0" rtlCol="0" anchor="ctr"/>
          <a:lstStyle/>
          <a:p>
            <a:pPr indent="0" marL="0">
              <a:lnSpc>
                <a:spcPts val="1150"/>
              </a:lnSpc>
              <a:buNone/>
            </a:pPr>
            <a:r>
              <a:rPr lang="en-US" sz="900" b="1" dirty="0">
                <a:solidFill>
                  <a:srgbClr val="1C7293"/>
                </a:solidFill>
                <a:latin typeface="Calibri" pitchFamily="34" charset="0"/>
                <a:ea typeface="Calibri" pitchFamily="34" charset="-122"/>
                <a:cs typeface="Calibri" pitchFamily="34" charset="-120"/>
              </a:rPr>
              <a:t>Reviewer disagreement of more than one point is adjudicated by a fourth reviewer.</a:t>
            </a:r>
            <a:endParaRPr lang="en-US" sz="900" dirty="0"/>
          </a:p>
        </p:txBody>
      </p:sp>
      <p:sp>
        <p:nvSpPr>
          <p:cNvPr id="28" name="Shape 25"/>
          <p:cNvSpPr/>
          <p:nvPr/>
        </p:nvSpPr>
        <p:spPr>
          <a:xfrm>
            <a:off x="6222492" y="3767328"/>
            <a:ext cx="5399532" cy="2084832"/>
          </a:xfrm>
          <a:prstGeom prst="roundRect">
            <a:avLst>
              <a:gd name="adj" fmla="val 307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9" name="Shape 26"/>
          <p:cNvSpPr/>
          <p:nvPr/>
        </p:nvSpPr>
        <p:spPr>
          <a:xfrm>
            <a:off x="6460236" y="3986784"/>
            <a:ext cx="384048" cy="384048"/>
          </a:xfrm>
          <a:prstGeom prst="ellipse">
            <a:avLst/>
          </a:prstGeom>
          <a:solidFill>
            <a:srgbClr val="1C7293"/>
          </a:solidFill>
          <a:ln w="6350">
            <a:solidFill>
              <a:srgbClr val="1C7293"/>
            </a:solidFill>
            <a:prstDash val="solid"/>
          </a:ln>
        </p:spPr>
      </p:sp>
      <p:sp>
        <p:nvSpPr>
          <p:cNvPr id="30" name="Text 27"/>
          <p:cNvSpPr txBox="1"/>
          <p:nvPr/>
        </p:nvSpPr>
        <p:spPr>
          <a:xfrm>
            <a:off x="6460236" y="3986784"/>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31" name="Text 28"/>
          <p:cNvSpPr txBox="1"/>
          <p:nvPr/>
        </p:nvSpPr>
        <p:spPr>
          <a:xfrm>
            <a:off x="6972300" y="4023360"/>
            <a:ext cx="4393692" cy="292608"/>
          </a:xfrm>
          <a:prstGeom prst="rect">
            <a:avLst/>
          </a:prstGeom>
          <a:noFill/>
          <a:ln/>
        </p:spPr>
        <p:txBody>
          <a:bodyPr wrap="square" lIns="0" tIns="0" rIns="0" bIns="0" rtlCol="0" anchor="ctr"/>
          <a:lstStyle/>
          <a:p>
            <a:pPr indent="0" marL="0">
              <a:buNone/>
            </a:pPr>
            <a:r>
              <a:rPr lang="en-US" sz="1400" b="1" dirty="0">
                <a:solidFill>
                  <a:srgbClr val="0F2B46"/>
                </a:solidFill>
                <a:latin typeface="Cambria" pitchFamily="34" charset="0"/>
                <a:ea typeface="Cambria" pitchFamily="34" charset="-122"/>
                <a:cs typeface="Cambria" pitchFamily="34" charset="-120"/>
              </a:rPr>
              <a:t>Operational measurement</a:t>
            </a:r>
            <a:endParaRPr lang="en-US" sz="1400" dirty="0"/>
          </a:p>
        </p:txBody>
      </p:sp>
      <p:sp>
        <p:nvSpPr>
          <p:cNvPr id="32" name="Text 29"/>
          <p:cNvSpPr txBox="1"/>
          <p:nvPr/>
        </p:nvSpPr>
        <p:spPr>
          <a:xfrm>
            <a:off x="6460236" y="4480560"/>
            <a:ext cx="4924044" cy="841248"/>
          </a:xfrm>
          <a:prstGeom prst="rect">
            <a:avLst/>
          </a:prstGeom>
          <a:noFill/>
          <a:ln/>
        </p:spPr>
        <p:txBody>
          <a:bodyPr wrap="square" lIns="0" tIns="0" rIns="0" bIns="0" rtlCol="0" anchor="ctr"/>
          <a:lstStyle/>
          <a:p>
            <a:pPr indent="0" marL="0">
              <a:lnSpc>
                <a:spcPts val="1300"/>
              </a:lnSpc>
              <a:buNone/>
            </a:pPr>
            <a:r>
              <a:rPr lang="en-US" sz="1000" dirty="0">
                <a:solidFill>
                  <a:srgbClr val="33424E"/>
                </a:solidFill>
                <a:latin typeface="Calibri" pitchFamily="34" charset="0"/>
                <a:ea typeface="Calibri" pitchFamily="34" charset="-122"/>
                <a:cs typeface="Calibri" pitchFamily="34" charset="-120"/>
              </a:rPr>
              <a:t>Sustained tokens per second, time to first token, peak VRAM at the working context length, and tokens consumed per Marathi character — the last drives both latency and hardware cost.</a:t>
            </a:r>
            <a:endParaRPr lang="en-US" sz="1000" dirty="0"/>
          </a:p>
        </p:txBody>
      </p:sp>
      <p:sp>
        <p:nvSpPr>
          <p:cNvPr id="33" name="Shape 30"/>
          <p:cNvSpPr/>
          <p:nvPr/>
        </p:nvSpPr>
        <p:spPr>
          <a:xfrm>
            <a:off x="6460236" y="5340096"/>
            <a:ext cx="4924044" cy="420624"/>
          </a:xfrm>
          <a:prstGeom prst="roundRect">
            <a:avLst>
              <a:gd name="adj" fmla="val 13043"/>
            </a:avLst>
          </a:prstGeom>
          <a:solidFill>
            <a:srgbClr val="E4EEF3"/>
          </a:solidFill>
          <a:ln w="12700">
            <a:solidFill>
              <a:srgbClr val="E4EEF3"/>
            </a:solidFill>
            <a:prstDash val="solid"/>
          </a:ln>
        </p:spPr>
      </p:sp>
      <p:sp>
        <p:nvSpPr>
          <p:cNvPr id="34" name="Text 31"/>
          <p:cNvSpPr txBox="1"/>
          <p:nvPr/>
        </p:nvSpPr>
        <p:spPr>
          <a:xfrm>
            <a:off x="6606540" y="5376672"/>
            <a:ext cx="4631436" cy="347472"/>
          </a:xfrm>
          <a:prstGeom prst="rect">
            <a:avLst/>
          </a:prstGeom>
          <a:noFill/>
          <a:ln/>
        </p:spPr>
        <p:txBody>
          <a:bodyPr wrap="square" lIns="0" tIns="0" rIns="0" bIns="0" rtlCol="0" anchor="ctr"/>
          <a:lstStyle/>
          <a:p>
            <a:pPr indent="0" marL="0">
              <a:lnSpc>
                <a:spcPts val="1150"/>
              </a:lnSpc>
              <a:buNone/>
            </a:pPr>
            <a:r>
              <a:rPr lang="en-US" sz="900" b="1" dirty="0">
                <a:solidFill>
                  <a:srgbClr val="1C7293"/>
                </a:solidFill>
                <a:latin typeface="Calibri" pitchFamily="34" charset="0"/>
                <a:ea typeface="Calibri" pitchFamily="34" charset="-122"/>
                <a:cs typeface="Calibri" pitchFamily="34" charset="-120"/>
              </a:rPr>
              <a:t>Measured on identical hardware for every candidate.</a:t>
            </a:r>
            <a:endParaRPr lang="en-US" sz="900" dirty="0"/>
          </a:p>
        </p:txBody>
      </p:sp>
      <p:sp>
        <p:nvSpPr>
          <p:cNvPr id="35" name="Text 32"/>
          <p:cNvSpPr txBox="1"/>
          <p:nvPr/>
        </p:nvSpPr>
        <p:spPr>
          <a:xfrm>
            <a:off x="566928" y="5961888"/>
            <a:ext cx="11055096" cy="274320"/>
          </a:xfrm>
          <a:prstGeom prst="rect">
            <a:avLst/>
          </a:prstGeom>
          <a:noFill/>
          <a:ln/>
        </p:spPr>
        <p:txBody>
          <a:bodyPr wrap="square" lIns="0" tIns="0" rIns="0" bIns="0" rtlCol="0" anchor="ctr"/>
          <a:lstStyle/>
          <a:p>
            <a:pPr indent="0" marL="0">
              <a:buNone/>
            </a:pPr>
            <a:r>
              <a:rPr lang="en-US" sz="900" i="1" dirty="0">
                <a:solidFill>
                  <a:srgbClr val="72868F"/>
                </a:solidFill>
                <a:latin typeface="Calibri" pitchFamily="34" charset="0"/>
                <a:ea typeface="Calibri" pitchFamily="34" charset="-122"/>
                <a:cs typeface="Calibri" pitchFamily="34" charset="-120"/>
              </a:rPr>
              <a:t>Figures on the following two slides are indicative internal pilot results from this protocol. Final scores will be re-issued after the full run on departmental hardware.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3</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Evaluation results</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8</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444752"/>
          <a:ext cx="11055096" cy="914400"/>
        </p:xfrm>
        <a:graphic>
          <a:graphicData uri="http://schemas.openxmlformats.org/drawingml/2006/table">
            <a:tbl>
              <a:tblPr/>
              <a:tblGrid>
                <a:gridCol w="2377440"/>
                <a:gridCol w="1325880"/>
                <a:gridCol w="1234440"/>
                <a:gridCol w="1325880"/>
                <a:gridCol w="1325880"/>
                <a:gridCol w="1371600"/>
                <a:gridCol w="1234440"/>
                <a:gridCol w="859536"/>
              </a:tblGrid>
              <a:tr h="420624">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Faithful-</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ness %</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Coverage</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Marathi</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fluency /5</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Mahasamvad</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style /5</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First draft</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accepted %</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Editor</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rewrite %</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Tok/s</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r>
              <a:tr h="420624">
                <a:tc>
                  <a:txBody>
                    <a:bodyPr/>
                    <a:lstStyle/>
                    <a:p>
                      <a:pPr algn="l" indent="0" marL="0">
                        <a:buNone/>
                      </a:pPr>
                      <a:r>
                        <a:rPr lang="en-US" sz="1000" b="1" dirty="0">
                          <a:solidFill>
                            <a:srgbClr val="C2690F"/>
                          </a:solidFill>
                          <a:latin typeface="Calibri" pitchFamily="34" charset="0"/>
                          <a:ea typeface="Calibri" pitchFamily="34" charset="-122"/>
                          <a:cs typeface="Calibri" pitchFamily="34" charset="-120"/>
                        </a:rPr>
                        <a:t>Qwen3-32B</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algn="ctr" indent="0" marL="0">
                        <a:buNone/>
                      </a:pPr>
                      <a:r>
                        <a:rPr lang="en-US" sz="1100" b="1" dirty="0">
                          <a:solidFill>
                            <a:srgbClr val="C2690F"/>
                          </a:solidFill>
                          <a:latin typeface="Calibri" pitchFamily="34" charset="0"/>
                          <a:ea typeface="Calibri" pitchFamily="34" charset="-122"/>
                          <a:cs typeface="Calibri" pitchFamily="34" charset="-120"/>
                        </a:rPr>
                        <a:t>96.4</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algn="ctr" indent="0" marL="0">
                        <a:buNone/>
                      </a:pPr>
                      <a:r>
                        <a:rPr lang="en-US" sz="1100" b="1" dirty="0">
                          <a:solidFill>
                            <a:srgbClr val="C2690F"/>
                          </a:solidFill>
                          <a:latin typeface="Calibri" pitchFamily="34" charset="0"/>
                          <a:ea typeface="Calibri" pitchFamily="34" charset="-122"/>
                          <a:cs typeface="Calibri" pitchFamily="34" charset="-120"/>
                        </a:rPr>
                        <a:t>94.1</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algn="ctr" indent="0" marL="0">
                        <a:buNone/>
                      </a:pPr>
                      <a:r>
                        <a:rPr lang="en-US" sz="1100" b="1" dirty="0">
                          <a:solidFill>
                            <a:srgbClr val="C2690F"/>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algn="ctr" indent="0" marL="0">
                        <a:buNone/>
                      </a:pPr>
                      <a:r>
                        <a:rPr lang="en-US" sz="1100" b="1" dirty="0">
                          <a:solidFill>
                            <a:srgbClr val="C2690F"/>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algn="ctr" indent="0" marL="0">
                        <a:buNone/>
                      </a:pPr>
                      <a:r>
                        <a:rPr lang="en-US" sz="1100" b="1" dirty="0">
                          <a:solidFill>
                            <a:srgbClr val="C2690F"/>
                          </a:solidFill>
                          <a:latin typeface="Calibri" pitchFamily="34" charset="0"/>
                          <a:ea typeface="Calibri" pitchFamily="34" charset="-122"/>
                          <a:cs typeface="Calibri" pitchFamily="34" charset="-120"/>
                        </a:rPr>
                        <a:t>78</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algn="ctr" indent="0" marL="0">
                        <a:buNone/>
                      </a:pPr>
                      <a:r>
                        <a:rPr lang="en-US" sz="1100" b="1" dirty="0">
                          <a:solidFill>
                            <a:srgbClr val="C2690F"/>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algn="ctr" indent="0" marL="0">
                        <a:buNone/>
                      </a:pPr>
                      <a:r>
                        <a:rPr lang="en-US" sz="1100" b="1" dirty="0">
                          <a:solidFill>
                            <a:srgbClr val="C2690F"/>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r>
              <a:tr h="420624">
                <a:tc>
                  <a:txBody>
                    <a:bodyPr/>
                    <a:lstStyle/>
                    <a:p>
                      <a:pPr algn="l" indent="0" marL="0">
                        <a:buNone/>
                      </a:pPr>
                      <a:r>
                        <a:rPr lang="en-US" sz="1000" b="1" dirty="0">
                          <a:solidFill>
                            <a:srgbClr val="0F2B46"/>
                          </a:solidFill>
                          <a:latin typeface="Calibri" pitchFamily="34" charset="0"/>
                          <a:ea typeface="Calibri" pitchFamily="34" charset="-122"/>
                          <a:cs typeface="Calibri" pitchFamily="34" charset="-120"/>
                        </a:rPr>
                        <a:t>Sarvam-105B</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94.8</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91.6</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66</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r h="420624">
                <a:tc>
                  <a:txBody>
                    <a:bodyPr/>
                    <a:lstStyle/>
                    <a:p>
                      <a:pPr algn="l" indent="0" marL="0">
                        <a:buNone/>
                      </a:pPr>
                      <a:r>
                        <a:rPr lang="en-US" sz="1000" b="1" dirty="0">
                          <a:solidFill>
                            <a:srgbClr val="0F2B46"/>
                          </a:solidFill>
                          <a:latin typeface="Calibri" pitchFamily="34" charset="0"/>
                          <a:ea typeface="Calibri" pitchFamily="34" charset="-122"/>
                          <a:cs typeface="Calibri" pitchFamily="34" charset="-120"/>
                        </a:rPr>
                        <a:t>Llama 3.3-70B</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91.2</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88.4</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r>
              <a:tr h="420624">
                <a:tc>
                  <a:txBody>
                    <a:bodyPr/>
                    <a:lstStyle/>
                    <a:p>
                      <a:pPr algn="l" indent="0" marL="0">
                        <a:buNone/>
                      </a:pPr>
                      <a:r>
                        <a:rPr lang="en-US" sz="1000" b="1" dirty="0">
                          <a:solidFill>
                            <a:srgbClr val="0F2B46"/>
                          </a:solidFill>
                          <a:latin typeface="Calibri" pitchFamily="34" charset="0"/>
                          <a:ea typeface="Calibri" pitchFamily="34" charset="-122"/>
                          <a:cs typeface="Calibri" pitchFamily="34" charset="-120"/>
                        </a:rPr>
                        <a:t>Gemma 3-27B</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90.1</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87.2</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r h="420624">
                <a:tc>
                  <a:txBody>
                    <a:bodyPr/>
                    <a:lstStyle/>
                    <a:p>
                      <a:pPr algn="l" indent="0" marL="0">
                        <a:buNone/>
                      </a:pPr>
                      <a:r>
                        <a:rPr lang="en-US" sz="1000" b="1" dirty="0">
                          <a:solidFill>
                            <a:srgbClr val="0F2B46"/>
                          </a:solidFill>
                          <a:latin typeface="Calibri" pitchFamily="34" charset="0"/>
                          <a:ea typeface="Calibri" pitchFamily="34" charset="-122"/>
                          <a:cs typeface="Calibri" pitchFamily="34" charset="-120"/>
                        </a:rPr>
                        <a:t>DeepSeek-R1-Distill-32B</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89.4</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86.8</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r>
              <a:tr h="420624">
                <a:tc>
                  <a:txBody>
                    <a:bodyPr/>
                    <a:lstStyle/>
                    <a:p>
                      <a:pPr algn="l" indent="0" marL="0">
                        <a:buNone/>
                      </a:pPr>
                      <a:r>
                        <a:rPr lang="en-US" sz="1000" b="1" dirty="0">
                          <a:solidFill>
                            <a:srgbClr val="0F2B46"/>
                          </a:solidFill>
                          <a:latin typeface="Calibri" pitchFamily="34" charset="0"/>
                          <a:ea typeface="Calibri" pitchFamily="34" charset="-122"/>
                          <a:cs typeface="Calibri" pitchFamily="34" charset="-120"/>
                        </a:rPr>
                        <a:t>Mistral Small 3.2-24B</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88.6</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85.9</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3424E"/>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bl>
          </a:graphicData>
        </a:graphic>
      </p:graphicFrame>
      <p:sp>
        <p:nvSpPr>
          <p:cNvPr id="8" name="Shape 4"/>
          <p:cNvSpPr/>
          <p:nvPr/>
        </p:nvSpPr>
        <p:spPr>
          <a:xfrm>
            <a:off x="566928" y="4773168"/>
            <a:ext cx="3526536" cy="1316736"/>
          </a:xfrm>
          <a:prstGeom prst="roundRect">
            <a:avLst>
              <a:gd name="adj" fmla="val 4861"/>
            </a:avLst>
          </a:prstGeom>
          <a:solidFill>
            <a:srgbClr val="E4EEF3"/>
          </a:solidFill>
          <a:ln w="9525">
            <a:solidFill>
              <a:srgbClr val="BFD8E3"/>
            </a:solidFill>
            <a:prstDash val="solid"/>
          </a:ln>
          <a:effectLst>
            <a:outerShdw sx="100000" sy="100000" kx="0" ky="0" algn="bl" rotWithShape="0" blurRad="101600" dist="12700" dir="5400000">
              <a:srgbClr val="0F2B46">
                <a:alpha val="8000"/>
              </a:srgbClr>
            </a:outerShdw>
          </a:effectLst>
        </p:spPr>
      </p:sp>
      <p:sp>
        <p:nvSpPr>
          <p:cNvPr id="9" name="Text 5"/>
          <p:cNvSpPr txBox="1"/>
          <p:nvPr/>
        </p:nvSpPr>
        <p:spPr>
          <a:xfrm>
            <a:off x="768096" y="4919472"/>
            <a:ext cx="3124200" cy="237744"/>
          </a:xfrm>
          <a:prstGeom prst="rect">
            <a:avLst/>
          </a:prstGeom>
          <a:noFill/>
          <a:ln/>
        </p:spPr>
        <p:txBody>
          <a:bodyPr wrap="square" lIns="0" tIns="0" rIns="0" bIns="0" rtlCol="0" anchor="ctr"/>
          <a:lstStyle/>
          <a:p>
            <a:pPr indent="0" marL="0">
              <a:buNone/>
            </a:pPr>
            <a:r>
              <a:rPr lang="en-US" sz="1100" b="1" dirty="0">
                <a:solidFill>
                  <a:srgbClr val="0F2B46"/>
                </a:solidFill>
                <a:latin typeface="Cambria" pitchFamily="34" charset="0"/>
                <a:ea typeface="Cambria" pitchFamily="34" charset="-122"/>
                <a:cs typeface="Cambria" pitchFamily="34" charset="-120"/>
              </a:rPr>
              <a:t>Faithfulness and coverage</a:t>
            </a:r>
            <a:endParaRPr lang="en-US" sz="1100" dirty="0"/>
          </a:p>
        </p:txBody>
      </p:sp>
      <p:sp>
        <p:nvSpPr>
          <p:cNvPr id="10" name="Text 6"/>
          <p:cNvSpPr txBox="1"/>
          <p:nvPr/>
        </p:nvSpPr>
        <p:spPr>
          <a:xfrm>
            <a:off x="768096" y="5175504"/>
            <a:ext cx="3124200" cy="841248"/>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Every claim in the draft traced back to the source, and every required fact from the source present in the draft. These are the two numbers that decide whether a model is safe to put in front of an officer at all.</a:t>
            </a:r>
            <a:endParaRPr lang="en-US" sz="900" dirty="0"/>
          </a:p>
        </p:txBody>
      </p:sp>
      <p:sp>
        <p:nvSpPr>
          <p:cNvPr id="11" name="Shape 7"/>
          <p:cNvSpPr/>
          <p:nvPr/>
        </p:nvSpPr>
        <p:spPr>
          <a:xfrm>
            <a:off x="4331208" y="4773168"/>
            <a:ext cx="3526536" cy="1316736"/>
          </a:xfrm>
          <a:prstGeom prst="roundRect">
            <a:avLst>
              <a:gd name="adj" fmla="val 4861"/>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2" name="Text 8"/>
          <p:cNvSpPr txBox="1"/>
          <p:nvPr/>
        </p:nvSpPr>
        <p:spPr>
          <a:xfrm>
            <a:off x="4532376" y="4919472"/>
            <a:ext cx="3124200" cy="237744"/>
          </a:xfrm>
          <a:prstGeom prst="rect">
            <a:avLst/>
          </a:prstGeom>
          <a:noFill/>
          <a:ln/>
        </p:spPr>
        <p:txBody>
          <a:bodyPr wrap="square" lIns="0" tIns="0" rIns="0" bIns="0" rtlCol="0" anchor="ctr"/>
          <a:lstStyle/>
          <a:p>
            <a:pPr indent="0" marL="0">
              <a:buNone/>
            </a:pPr>
            <a:r>
              <a:rPr lang="en-US" sz="1100" b="1" dirty="0">
                <a:solidFill>
                  <a:srgbClr val="0F2B46"/>
                </a:solidFill>
                <a:latin typeface="Cambria" pitchFamily="34" charset="0"/>
                <a:ea typeface="Cambria" pitchFamily="34" charset="-122"/>
                <a:cs typeface="Cambria" pitchFamily="34" charset="-120"/>
              </a:rPr>
              <a:t>First draft accepted</a:t>
            </a:r>
            <a:endParaRPr lang="en-US" sz="1100" dirty="0"/>
          </a:p>
        </p:txBody>
      </p:sp>
      <p:sp>
        <p:nvSpPr>
          <p:cNvPr id="13" name="Text 9"/>
          <p:cNvSpPr txBox="1"/>
          <p:nvPr/>
        </p:nvSpPr>
        <p:spPr>
          <a:xfrm>
            <a:off x="4532376" y="5175504"/>
            <a:ext cx="3124200" cy="841248"/>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The share of articles an officer published with only cosmetic change. This is the metric that converts directly into staff time saved.</a:t>
            </a:r>
            <a:endParaRPr lang="en-US" sz="900" dirty="0"/>
          </a:p>
        </p:txBody>
      </p:sp>
      <p:sp>
        <p:nvSpPr>
          <p:cNvPr id="14" name="Shape 10"/>
          <p:cNvSpPr/>
          <p:nvPr/>
        </p:nvSpPr>
        <p:spPr>
          <a:xfrm>
            <a:off x="8095488" y="4773168"/>
            <a:ext cx="3526536" cy="1316736"/>
          </a:xfrm>
          <a:prstGeom prst="roundRect">
            <a:avLst>
              <a:gd name="adj" fmla="val 4861"/>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5" name="Text 11"/>
          <p:cNvSpPr txBox="1"/>
          <p:nvPr/>
        </p:nvSpPr>
        <p:spPr>
          <a:xfrm>
            <a:off x="8296656" y="4919472"/>
            <a:ext cx="3124200" cy="237744"/>
          </a:xfrm>
          <a:prstGeom prst="rect">
            <a:avLst/>
          </a:prstGeom>
          <a:noFill/>
          <a:ln/>
        </p:spPr>
        <p:txBody>
          <a:bodyPr wrap="square" lIns="0" tIns="0" rIns="0" bIns="0" rtlCol="0" anchor="ctr"/>
          <a:lstStyle/>
          <a:p>
            <a:pPr indent="0" marL="0">
              <a:buNone/>
            </a:pPr>
            <a:r>
              <a:rPr lang="en-US" sz="1100" b="1" dirty="0">
                <a:solidFill>
                  <a:srgbClr val="0F2B46"/>
                </a:solidFill>
                <a:latin typeface="Cambria" pitchFamily="34" charset="0"/>
                <a:ea typeface="Cambria" pitchFamily="34" charset="-122"/>
                <a:cs typeface="Cambria" pitchFamily="34" charset="-120"/>
              </a:rPr>
              <a:t>Editor rewrite</a:t>
            </a:r>
            <a:endParaRPr lang="en-US" sz="1100" dirty="0"/>
          </a:p>
        </p:txBody>
      </p:sp>
      <p:sp>
        <p:nvSpPr>
          <p:cNvPr id="16" name="Text 12"/>
          <p:cNvSpPr txBox="1"/>
          <p:nvPr/>
        </p:nvSpPr>
        <p:spPr>
          <a:xfrm>
            <a:off x="8296656" y="5175504"/>
            <a:ext cx="3124200" cy="841248"/>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Proportion of the article an officer had to rewrite before approval. Lower is better. Qwen at 11% means roughly one paragraph in nine.</a:t>
            </a:r>
            <a:endParaRPr lang="en-US" sz="900" dirty="0"/>
          </a:p>
        </p:txBody>
      </p:sp>
      <p:sp>
        <p:nvSpPr>
          <p:cNvPr id="17" name="Text 13"/>
          <p:cNvSpPr txBox="1"/>
          <p:nvPr/>
        </p:nvSpPr>
        <p:spPr>
          <a:xfrm>
            <a:off x="566928" y="6199632"/>
            <a:ext cx="11055096" cy="274320"/>
          </a:xfrm>
          <a:prstGeom prst="rect">
            <a:avLst/>
          </a:prstGeom>
          <a:noFill/>
          <a:ln/>
        </p:spPr>
        <p:txBody>
          <a:bodyPr wrap="square" lIns="0" tIns="0" rIns="0" bIns="0" rtlCol="0" anchor="ctr"/>
          <a:lstStyle/>
          <a:p>
            <a:pPr indent="0" marL="0">
              <a:buNone/>
            </a:pPr>
            <a:r>
              <a:rPr lang="en-US" sz="900" i="1" dirty="0">
                <a:solidFill>
                  <a:srgbClr val="72868F"/>
                </a:solidFill>
                <a:latin typeface="Calibri" pitchFamily="34" charset="0"/>
                <a:ea typeface="Calibri" pitchFamily="34" charset="-122"/>
                <a:cs typeface="Calibri" pitchFamily="34" charset="-120"/>
              </a:rPr>
              <a:t>Indicative internal pilot data, n = 500+ golden-set items and growing, three-reviewer editorial panel. Not a published third-party benchmark.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3</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The gap that matters operationally</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9</a:t>
            </a:r>
            <a:endParaRPr lang="en-US" sz="850" dirty="0"/>
          </a:p>
        </p:txBody>
      </p:sp>
      <p:graphicFrame>
        <p:nvGraphicFramePr>
          <p:cNvPr id="7" name="Chart 0" descr=""/>
          <p:cNvGraphicFramePr/>
          <p:nvPr/>
        </p:nvGraphicFramePr>
        <p:xfrm>
          <a:off x="566928" y="1444752"/>
          <a:ext cx="7589520" cy="4224528"/>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375904" y="1444752"/>
            <a:ext cx="3246120" cy="2048256"/>
          </a:xfrm>
          <a:prstGeom prst="roundRect">
            <a:avLst>
              <a:gd name="adj" fmla="val 3125"/>
            </a:avLst>
          </a:prstGeom>
          <a:solidFill>
            <a:srgbClr val="FBEEDC"/>
          </a:solidFill>
          <a:ln w="9525">
            <a:solidFill>
              <a:srgbClr val="EBD3AE"/>
            </a:solidFill>
            <a:prstDash val="solid"/>
          </a:ln>
          <a:effectLst>
            <a:outerShdw sx="100000" sy="100000" kx="0" ky="0" algn="bl" rotWithShape="0" blurRad="101600" dist="12700" dir="5400000">
              <a:srgbClr val="0F2B46">
                <a:alpha val="8000"/>
              </a:srgbClr>
            </a:outerShdw>
          </a:effectLst>
        </p:spPr>
      </p:sp>
      <p:sp>
        <p:nvSpPr>
          <p:cNvPr id="9" name="Text 5"/>
          <p:cNvSpPr txBox="1"/>
          <p:nvPr/>
        </p:nvSpPr>
        <p:spPr>
          <a:xfrm>
            <a:off x="8631936" y="1609344"/>
            <a:ext cx="2743200" cy="658368"/>
          </a:xfrm>
          <a:prstGeom prst="rect">
            <a:avLst/>
          </a:prstGeom>
          <a:noFill/>
          <a:ln/>
        </p:spPr>
        <p:txBody>
          <a:bodyPr wrap="square" lIns="0" tIns="0" rIns="0" bIns="0" rtlCol="0" anchor="ctr"/>
          <a:lstStyle/>
          <a:p>
            <a:pPr indent="0" marL="0">
              <a:buNone/>
            </a:pPr>
            <a:r>
              <a:rPr lang="en-US" sz="4600" b="1" dirty="0">
                <a:solidFill>
                  <a:srgbClr val="C2690F"/>
                </a:solidFill>
                <a:latin typeface="Cambria" pitchFamily="34" charset="0"/>
                <a:ea typeface="Cambria" pitchFamily="34" charset="-122"/>
                <a:cs typeface="Cambria" pitchFamily="34" charset="-120"/>
              </a:rPr>
              <a:t>78%</a:t>
            </a:r>
            <a:endParaRPr lang="en-US" sz="4600" dirty="0"/>
          </a:p>
        </p:txBody>
      </p:sp>
      <p:sp>
        <p:nvSpPr>
          <p:cNvPr id="10" name="Text 6"/>
          <p:cNvSpPr txBox="1"/>
          <p:nvPr/>
        </p:nvSpPr>
        <p:spPr>
          <a:xfrm>
            <a:off x="8631936" y="2304288"/>
            <a:ext cx="2743200" cy="1042416"/>
          </a:xfrm>
          <a:prstGeom prst="rect">
            <a:avLst/>
          </a:prstGeom>
          <a:noFill/>
          <a:ln/>
        </p:spPr>
        <p:txBody>
          <a:bodyPr wrap="square" lIns="0" tIns="0" rIns="0" bIns="0" rtlCol="0" anchor="ctr"/>
          <a:lstStyle/>
          <a:p>
            <a:pPr indent="0" marL="0">
              <a:lnSpc>
                <a:spcPts val="1350"/>
              </a:lnSpc>
              <a:buNone/>
            </a:pPr>
            <a:r>
              <a:rPr lang="en-US" sz="1050" dirty="0">
                <a:solidFill>
                  <a:srgbClr val="33424E"/>
                </a:solidFill>
                <a:latin typeface="Calibri" pitchFamily="34" charset="0"/>
                <a:ea typeface="Calibri" pitchFamily="34" charset="-122"/>
                <a:cs typeface="Calibri" pitchFamily="34" charset="-120"/>
              </a:rPr>
              <a:t>of Qwen3-32B first drafts were published with cosmetic change only — against 51% for the strongest general-purpose Western open model.</a:t>
            </a:r>
            <a:endParaRPr lang="en-US" sz="1050" dirty="0"/>
          </a:p>
        </p:txBody>
      </p:sp>
      <p:sp>
        <p:nvSpPr>
          <p:cNvPr id="11" name="Shape 7"/>
          <p:cNvSpPr/>
          <p:nvPr/>
        </p:nvSpPr>
        <p:spPr>
          <a:xfrm>
            <a:off x="8375904" y="3639312"/>
            <a:ext cx="3246120" cy="2029968"/>
          </a:xfrm>
          <a:prstGeom prst="roundRect">
            <a:avLst>
              <a:gd name="adj" fmla="val 3153"/>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2" name="Text 8"/>
          <p:cNvSpPr txBox="1"/>
          <p:nvPr/>
        </p:nvSpPr>
        <p:spPr>
          <a:xfrm>
            <a:off x="8631936" y="3803904"/>
            <a:ext cx="2743200" cy="256032"/>
          </a:xfrm>
          <a:prstGeom prst="rect">
            <a:avLst/>
          </a:prstGeom>
          <a:noFill/>
          <a:ln/>
        </p:spPr>
        <p:txBody>
          <a:bodyPr wrap="square" lIns="0" tIns="0" rIns="0" bIns="0" rtlCol="0" anchor="ctr"/>
          <a:lstStyle/>
          <a:p>
            <a:pPr indent="0" marL="0">
              <a:buNone/>
            </a:pPr>
            <a:r>
              <a:rPr lang="en-US" sz="1200" b="1" dirty="0">
                <a:solidFill>
                  <a:srgbClr val="0F2B46"/>
                </a:solidFill>
                <a:latin typeface="Cambria" pitchFamily="34" charset="0"/>
                <a:ea typeface="Cambria" pitchFamily="34" charset="-122"/>
                <a:cs typeface="Cambria" pitchFamily="34" charset="-120"/>
              </a:rPr>
              <a:t>Why the gap is so wide</a:t>
            </a:r>
            <a:endParaRPr lang="en-US" sz="1200" dirty="0"/>
          </a:p>
        </p:txBody>
      </p:sp>
      <p:sp>
        <p:nvSpPr>
          <p:cNvPr id="13" name="Text 9"/>
          <p:cNvSpPr txBox="1"/>
          <p:nvPr/>
        </p:nvSpPr>
        <p:spPr>
          <a:xfrm>
            <a:off x="8631936" y="4096512"/>
            <a:ext cx="2743200" cy="1426464"/>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The failures were rarely factual. They were register: English loanwords where Marathi has an accepted administrative term, wrong honorifics for a Minister, a headline written as a news agency would rather than as Mahasamvad does. Those are exactly the failures fine-tuning removes.</a:t>
            </a:r>
            <a:endParaRPr lang="en-US" sz="950" dirty="0"/>
          </a:p>
        </p:txBody>
      </p:sp>
      <p:sp>
        <p:nvSpPr>
          <p:cNvPr id="14" name="Text 10"/>
          <p:cNvSpPr txBox="1"/>
          <p:nvPr/>
        </p:nvSpPr>
        <p:spPr>
          <a:xfrm>
            <a:off x="566928" y="5870448"/>
            <a:ext cx="11055096" cy="274320"/>
          </a:xfrm>
          <a:prstGeom prst="rect">
            <a:avLst/>
          </a:prstGeom>
          <a:noFill/>
          <a:ln/>
        </p:spPr>
        <p:txBody>
          <a:bodyPr wrap="square" lIns="0" tIns="0" rIns="0" bIns="0" rtlCol="0" anchor="ctr"/>
          <a:lstStyle/>
          <a:p>
            <a:pPr indent="0" marL="0">
              <a:buNone/>
            </a:pPr>
            <a:r>
              <a:rPr lang="en-US" sz="900" i="1" dirty="0">
                <a:solidFill>
                  <a:srgbClr val="72868F"/>
                </a:solidFill>
                <a:latin typeface="Calibri" pitchFamily="34" charset="0"/>
                <a:ea typeface="Calibri" pitchFamily="34" charset="-122"/>
                <a:cs typeface="Calibri" pitchFamily="34" charset="-120"/>
              </a:rPr>
              <a:t>Indicative internal pilot data. See annexure for the full metric definitions and rubric.</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3</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Why Qwen3-32B</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10</a:t>
            </a:r>
            <a:endParaRPr lang="en-US" sz="850" dirty="0"/>
          </a:p>
        </p:txBody>
      </p:sp>
      <p:sp>
        <p:nvSpPr>
          <p:cNvPr id="7" name="Shape 4"/>
          <p:cNvSpPr/>
          <p:nvPr/>
        </p:nvSpPr>
        <p:spPr>
          <a:xfrm>
            <a:off x="566928" y="1444752"/>
            <a:ext cx="6309360" cy="1078992"/>
          </a:xfrm>
          <a:prstGeom prst="roundRect">
            <a:avLst>
              <a:gd name="adj" fmla="val 5932"/>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8" name="Shape 5"/>
          <p:cNvSpPr/>
          <p:nvPr/>
        </p:nvSpPr>
        <p:spPr>
          <a:xfrm>
            <a:off x="786384" y="1645920"/>
            <a:ext cx="365760" cy="365760"/>
          </a:xfrm>
          <a:prstGeom prst="ellipse">
            <a:avLst/>
          </a:prstGeom>
          <a:solidFill>
            <a:srgbClr val="1C7293"/>
          </a:solidFill>
          <a:ln w="6350">
            <a:solidFill>
              <a:srgbClr val="1C7293"/>
            </a:solidFill>
            <a:prstDash val="solid"/>
          </a:ln>
        </p:spPr>
      </p:sp>
      <p:sp>
        <p:nvSpPr>
          <p:cNvPr id="9" name="Text 6"/>
          <p:cNvSpPr txBox="1"/>
          <p:nvPr/>
        </p:nvSpPr>
        <p:spPr>
          <a:xfrm>
            <a:off x="786384" y="1645920"/>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0" name="Text 7"/>
          <p:cNvSpPr txBox="1"/>
          <p:nvPr/>
        </p:nvSpPr>
        <p:spPr>
          <a:xfrm>
            <a:off x="1298448" y="1627632"/>
            <a:ext cx="5394960" cy="256032"/>
          </a:xfrm>
          <a:prstGeom prst="rect">
            <a:avLst/>
          </a:prstGeom>
          <a:noFill/>
          <a:ln/>
        </p:spPr>
        <p:txBody>
          <a:bodyPr wrap="square" lIns="0" tIns="0" rIns="0" bIns="0" rtlCol="0" anchor="ctr"/>
          <a:lstStyle/>
          <a:p>
            <a:pPr indent="0" marL="0">
              <a:buNone/>
            </a:pPr>
            <a:r>
              <a:rPr lang="en-US" sz="1250" b="1" dirty="0">
                <a:solidFill>
                  <a:srgbClr val="0F2B46"/>
                </a:solidFill>
                <a:latin typeface="Cambria" pitchFamily="34" charset="0"/>
                <a:ea typeface="Cambria" pitchFamily="34" charset="-122"/>
                <a:cs typeface="Cambria" pitchFamily="34" charset="-120"/>
              </a:rPr>
              <a:t>Best instruction adherence in Marathi</a:t>
            </a:r>
            <a:endParaRPr lang="en-US" sz="1250" dirty="0"/>
          </a:p>
        </p:txBody>
      </p:sp>
      <p:sp>
        <p:nvSpPr>
          <p:cNvPr id="11" name="Text 8"/>
          <p:cNvSpPr txBox="1"/>
          <p:nvPr/>
        </p:nvSpPr>
        <p:spPr>
          <a:xfrm>
            <a:off x="1298448" y="1920240"/>
            <a:ext cx="5394960" cy="548640"/>
          </a:xfrm>
          <a:prstGeom prst="rect">
            <a:avLst/>
          </a:prstGeom>
          <a:noFill/>
          <a:ln/>
        </p:spPr>
        <p:txBody>
          <a:bodyPr wrap="square" lIns="0" tIns="0" rIns="0" bIns="0" rtlCol="0" anchor="ctr"/>
          <a:lstStyle/>
          <a:p>
            <a:pPr indent="0" marL="0">
              <a:lnSpc>
                <a:spcPts val="1200"/>
              </a:lnSpc>
              <a:buNone/>
            </a:pPr>
            <a:r>
              <a:rPr lang="en-US" sz="950" dirty="0">
                <a:solidFill>
                  <a:srgbClr val="33424E"/>
                </a:solidFill>
                <a:latin typeface="Calibri" pitchFamily="34" charset="0"/>
                <a:ea typeface="Calibri" pitchFamily="34" charset="-122"/>
                <a:cs typeface="Calibri" pitchFamily="34" charset="-120"/>
              </a:rPr>
              <a:t>Officers do not ask for an article. They ask for a 400-word article leading on the allocation figure, naming the Minister with the correct honorific, excluding the attendance list. Qwen followed those compound constraints most reliably.</a:t>
            </a:r>
            <a:endParaRPr lang="en-US" sz="950" dirty="0"/>
          </a:p>
        </p:txBody>
      </p:sp>
      <p:sp>
        <p:nvSpPr>
          <p:cNvPr id="12" name="Shape 9"/>
          <p:cNvSpPr/>
          <p:nvPr/>
        </p:nvSpPr>
        <p:spPr>
          <a:xfrm>
            <a:off x="566928" y="2624328"/>
            <a:ext cx="6309360" cy="1078992"/>
          </a:xfrm>
          <a:prstGeom prst="roundRect">
            <a:avLst>
              <a:gd name="adj" fmla="val 5932"/>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3" name="Shape 10"/>
          <p:cNvSpPr/>
          <p:nvPr/>
        </p:nvSpPr>
        <p:spPr>
          <a:xfrm>
            <a:off x="786384" y="2825496"/>
            <a:ext cx="365760" cy="365760"/>
          </a:xfrm>
          <a:prstGeom prst="ellipse">
            <a:avLst/>
          </a:prstGeom>
          <a:solidFill>
            <a:srgbClr val="1C7293"/>
          </a:solidFill>
          <a:ln w="6350">
            <a:solidFill>
              <a:srgbClr val="1C7293"/>
            </a:solidFill>
            <a:prstDash val="solid"/>
          </a:ln>
        </p:spPr>
      </p:sp>
      <p:sp>
        <p:nvSpPr>
          <p:cNvPr id="14" name="Text 11"/>
          <p:cNvSpPr txBox="1"/>
          <p:nvPr/>
        </p:nvSpPr>
        <p:spPr>
          <a:xfrm>
            <a:off x="786384" y="2825496"/>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5" name="Text 12"/>
          <p:cNvSpPr txBox="1"/>
          <p:nvPr/>
        </p:nvSpPr>
        <p:spPr>
          <a:xfrm>
            <a:off x="1298448" y="2807208"/>
            <a:ext cx="5394960" cy="256032"/>
          </a:xfrm>
          <a:prstGeom prst="rect">
            <a:avLst/>
          </a:prstGeom>
          <a:noFill/>
          <a:ln/>
        </p:spPr>
        <p:txBody>
          <a:bodyPr wrap="square" lIns="0" tIns="0" rIns="0" bIns="0" rtlCol="0" anchor="ctr"/>
          <a:lstStyle/>
          <a:p>
            <a:pPr indent="0" marL="0">
              <a:buNone/>
            </a:pPr>
            <a:r>
              <a:rPr lang="en-US" sz="1250" b="1" dirty="0">
                <a:solidFill>
                  <a:srgbClr val="0F2B46"/>
                </a:solidFill>
                <a:latin typeface="Cambria" pitchFamily="34" charset="0"/>
                <a:ea typeface="Cambria" pitchFamily="34" charset="-122"/>
                <a:cs typeface="Cambria" pitchFamily="34" charset="-120"/>
              </a:rPr>
              <a:t>The right footprint</a:t>
            </a:r>
            <a:endParaRPr lang="en-US" sz="1250" dirty="0"/>
          </a:p>
        </p:txBody>
      </p:sp>
      <p:sp>
        <p:nvSpPr>
          <p:cNvPr id="16" name="Text 13"/>
          <p:cNvSpPr txBox="1"/>
          <p:nvPr/>
        </p:nvSpPr>
        <p:spPr>
          <a:xfrm>
            <a:off x="1298448" y="3099816"/>
            <a:ext cx="5394960" cy="548640"/>
          </a:xfrm>
          <a:prstGeom prst="rect">
            <a:avLst/>
          </a:prstGeom>
          <a:noFill/>
          <a:ln/>
        </p:spPr>
        <p:txBody>
          <a:bodyPr wrap="square" lIns="0" tIns="0" rIns="0" bIns="0" rtlCol="0" anchor="ctr"/>
          <a:lstStyle/>
          <a:p>
            <a:pPr indent="0" marL="0">
              <a:lnSpc>
                <a:spcPts val="1200"/>
              </a:lnSpc>
              <a:buNone/>
            </a:pPr>
            <a:r>
              <a:rPr lang="en-US" sz="950" dirty="0">
                <a:solidFill>
                  <a:srgbClr val="33424E"/>
                </a:solidFill>
                <a:latin typeface="Calibri" pitchFamily="34" charset="0"/>
                <a:ea typeface="Calibri" pitchFamily="34" charset="-122"/>
                <a:cs typeface="Calibri" pitchFamily="34" charset="-120"/>
              </a:rPr>
              <a:t>32.8B dense weights fit a single NVIDIA RTX PRO 6000 (96 GB) with room left for KV cache at working context length. A 105B-class mixture-of-experts model needs roughly three times the serving hardware for the same throughput.</a:t>
            </a:r>
            <a:endParaRPr lang="en-US" sz="950" dirty="0"/>
          </a:p>
        </p:txBody>
      </p:sp>
      <p:sp>
        <p:nvSpPr>
          <p:cNvPr id="17" name="Shape 14"/>
          <p:cNvSpPr/>
          <p:nvPr/>
        </p:nvSpPr>
        <p:spPr>
          <a:xfrm>
            <a:off x="566928" y="3803904"/>
            <a:ext cx="6309360" cy="1078992"/>
          </a:xfrm>
          <a:prstGeom prst="roundRect">
            <a:avLst>
              <a:gd name="adj" fmla="val 5932"/>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8" name="Shape 15"/>
          <p:cNvSpPr/>
          <p:nvPr/>
        </p:nvSpPr>
        <p:spPr>
          <a:xfrm>
            <a:off x="786384" y="4005072"/>
            <a:ext cx="365760" cy="365760"/>
          </a:xfrm>
          <a:prstGeom prst="ellipse">
            <a:avLst/>
          </a:prstGeom>
          <a:solidFill>
            <a:srgbClr val="1C7293"/>
          </a:solidFill>
          <a:ln w="6350">
            <a:solidFill>
              <a:srgbClr val="1C7293"/>
            </a:solidFill>
            <a:prstDash val="solid"/>
          </a:ln>
        </p:spPr>
      </p:sp>
      <p:sp>
        <p:nvSpPr>
          <p:cNvPr id="19" name="Text 16"/>
          <p:cNvSpPr txBox="1"/>
          <p:nvPr/>
        </p:nvSpPr>
        <p:spPr>
          <a:xfrm>
            <a:off x="786384" y="4005072"/>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txBox="1"/>
          <p:nvPr/>
        </p:nvSpPr>
        <p:spPr>
          <a:xfrm>
            <a:off x="1298448" y="3986784"/>
            <a:ext cx="5394960" cy="256032"/>
          </a:xfrm>
          <a:prstGeom prst="rect">
            <a:avLst/>
          </a:prstGeom>
          <a:noFill/>
          <a:ln/>
        </p:spPr>
        <p:txBody>
          <a:bodyPr wrap="square" lIns="0" tIns="0" rIns="0" bIns="0" rtlCol="0" anchor="ctr"/>
          <a:lstStyle/>
          <a:p>
            <a:pPr indent="0" marL="0">
              <a:buNone/>
            </a:pPr>
            <a:r>
              <a:rPr lang="en-US" sz="1250" b="1" dirty="0">
                <a:solidFill>
                  <a:srgbClr val="0F2B46"/>
                </a:solidFill>
                <a:latin typeface="Cambria" pitchFamily="34" charset="0"/>
                <a:ea typeface="Cambria" pitchFamily="34" charset="-122"/>
                <a:cs typeface="Cambria" pitchFamily="34" charset="-120"/>
              </a:rPr>
              <a:t>Fine-tunes cleanly</a:t>
            </a:r>
            <a:endParaRPr lang="en-US" sz="1250" dirty="0"/>
          </a:p>
        </p:txBody>
      </p:sp>
      <p:sp>
        <p:nvSpPr>
          <p:cNvPr id="21" name="Text 18"/>
          <p:cNvSpPr txBox="1"/>
          <p:nvPr/>
        </p:nvSpPr>
        <p:spPr>
          <a:xfrm>
            <a:off x="1298448" y="4279392"/>
            <a:ext cx="5394960" cy="548640"/>
          </a:xfrm>
          <a:prstGeom prst="rect">
            <a:avLst/>
          </a:prstGeom>
          <a:noFill/>
          <a:ln/>
        </p:spPr>
        <p:txBody>
          <a:bodyPr wrap="square" lIns="0" tIns="0" rIns="0" bIns="0" rtlCol="0" anchor="ctr"/>
          <a:lstStyle/>
          <a:p>
            <a:pPr indent="0" marL="0">
              <a:lnSpc>
                <a:spcPts val="1200"/>
              </a:lnSpc>
              <a:buNone/>
            </a:pPr>
            <a:r>
              <a:rPr lang="en-US" sz="950" dirty="0">
                <a:solidFill>
                  <a:srgbClr val="33424E"/>
                </a:solidFill>
                <a:latin typeface="Calibri" pitchFamily="34" charset="0"/>
                <a:ea typeface="Calibri" pitchFamily="34" charset="-122"/>
                <a:cs typeface="Calibri" pitchFamily="34" charset="-120"/>
              </a:rPr>
              <a:t>Dense architecture with mature LoRA and TRL support. Preference tuning on a dense model is well-trodden; on sparse MoE it is materially harder to keep stable.</a:t>
            </a:r>
            <a:endParaRPr lang="en-US" sz="950" dirty="0"/>
          </a:p>
        </p:txBody>
      </p:sp>
      <p:sp>
        <p:nvSpPr>
          <p:cNvPr id="22" name="Shape 19"/>
          <p:cNvSpPr/>
          <p:nvPr/>
        </p:nvSpPr>
        <p:spPr>
          <a:xfrm>
            <a:off x="566928" y="4983480"/>
            <a:ext cx="6309360" cy="1078992"/>
          </a:xfrm>
          <a:prstGeom prst="roundRect">
            <a:avLst>
              <a:gd name="adj" fmla="val 5932"/>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3" name="Shape 20"/>
          <p:cNvSpPr/>
          <p:nvPr/>
        </p:nvSpPr>
        <p:spPr>
          <a:xfrm>
            <a:off x="786384" y="5184648"/>
            <a:ext cx="365760" cy="365760"/>
          </a:xfrm>
          <a:prstGeom prst="ellipse">
            <a:avLst/>
          </a:prstGeom>
          <a:solidFill>
            <a:srgbClr val="1C7293"/>
          </a:solidFill>
          <a:ln w="6350">
            <a:solidFill>
              <a:srgbClr val="1C7293"/>
            </a:solidFill>
            <a:prstDash val="solid"/>
          </a:ln>
        </p:spPr>
      </p:sp>
      <p:sp>
        <p:nvSpPr>
          <p:cNvPr id="24" name="Text 21"/>
          <p:cNvSpPr txBox="1"/>
          <p:nvPr/>
        </p:nvSpPr>
        <p:spPr>
          <a:xfrm>
            <a:off x="786384" y="5184648"/>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5" name="Text 22"/>
          <p:cNvSpPr txBox="1"/>
          <p:nvPr/>
        </p:nvSpPr>
        <p:spPr>
          <a:xfrm>
            <a:off x="1298448" y="5166360"/>
            <a:ext cx="5394960" cy="256032"/>
          </a:xfrm>
          <a:prstGeom prst="rect">
            <a:avLst/>
          </a:prstGeom>
          <a:noFill/>
          <a:ln/>
        </p:spPr>
        <p:txBody>
          <a:bodyPr wrap="square" lIns="0" tIns="0" rIns="0" bIns="0" rtlCol="0" anchor="ctr"/>
          <a:lstStyle/>
          <a:p>
            <a:pPr indent="0" marL="0">
              <a:buNone/>
            </a:pPr>
            <a:r>
              <a:rPr lang="en-US" sz="1250" b="1" dirty="0">
                <a:solidFill>
                  <a:srgbClr val="0F2B46"/>
                </a:solidFill>
                <a:latin typeface="Cambria" pitchFamily="34" charset="0"/>
                <a:ea typeface="Cambria" pitchFamily="34" charset="-122"/>
                <a:cs typeface="Cambria" pitchFamily="34" charset="-120"/>
              </a:rPr>
              <a:t>Apache 2.0</a:t>
            </a:r>
            <a:endParaRPr lang="en-US" sz="1250" dirty="0"/>
          </a:p>
        </p:txBody>
      </p:sp>
      <p:sp>
        <p:nvSpPr>
          <p:cNvPr id="26" name="Text 23"/>
          <p:cNvSpPr txBox="1"/>
          <p:nvPr/>
        </p:nvSpPr>
        <p:spPr>
          <a:xfrm>
            <a:off x="1298448" y="5458968"/>
            <a:ext cx="5394960" cy="548640"/>
          </a:xfrm>
          <a:prstGeom prst="rect">
            <a:avLst/>
          </a:prstGeom>
          <a:noFill/>
          <a:ln/>
        </p:spPr>
        <p:txBody>
          <a:bodyPr wrap="square" lIns="0" tIns="0" rIns="0" bIns="0" rtlCol="0" anchor="ctr"/>
          <a:lstStyle/>
          <a:p>
            <a:pPr indent="0" marL="0">
              <a:lnSpc>
                <a:spcPts val="1200"/>
              </a:lnSpc>
              <a:buNone/>
            </a:pPr>
            <a:r>
              <a:rPr lang="en-US" sz="950" dirty="0">
                <a:solidFill>
                  <a:srgbClr val="33424E"/>
                </a:solidFill>
                <a:latin typeface="Calibri" pitchFamily="34" charset="0"/>
                <a:ea typeface="Calibri" pitchFamily="34" charset="-122"/>
                <a:cs typeface="Calibri" pitchFamily="34" charset="-120"/>
              </a:rPr>
              <a:t>No commercial restriction, no user-count threshold, no acceptable-use clause that a government deployment has to be reviewed against. The department can modify and redistribute the fine-tuned weights it pays for.</a:t>
            </a:r>
            <a:endParaRPr lang="en-US" sz="950" dirty="0"/>
          </a:p>
        </p:txBody>
      </p:sp>
      <p:sp>
        <p:nvSpPr>
          <p:cNvPr id="27" name="Shape 24"/>
          <p:cNvSpPr/>
          <p:nvPr/>
        </p:nvSpPr>
        <p:spPr>
          <a:xfrm>
            <a:off x="7114032" y="1444752"/>
            <a:ext cx="4507992" cy="2231136"/>
          </a:xfrm>
          <a:prstGeom prst="roundRect">
            <a:avLst>
              <a:gd name="adj" fmla="val 2869"/>
            </a:avLst>
          </a:prstGeom>
          <a:solidFill>
            <a:srgbClr val="0F2B46"/>
          </a:solidFill>
          <a:ln w="9525">
            <a:solidFill>
              <a:srgbClr val="0F2B46"/>
            </a:solidFill>
            <a:prstDash val="solid"/>
          </a:ln>
          <a:effectLst>
            <a:outerShdw sx="100000" sy="100000" kx="0" ky="0" algn="bl" rotWithShape="0" blurRad="101600" dist="12700" dir="5400000">
              <a:srgbClr val="0F2B46">
                <a:alpha val="8000"/>
              </a:srgbClr>
            </a:outerShdw>
          </a:effectLst>
        </p:spPr>
      </p:sp>
      <p:sp>
        <p:nvSpPr>
          <p:cNvPr id="28" name="Text 25"/>
          <p:cNvSpPr txBox="1"/>
          <p:nvPr/>
        </p:nvSpPr>
        <p:spPr>
          <a:xfrm>
            <a:off x="7351776" y="1645920"/>
            <a:ext cx="4023360" cy="475488"/>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Cambria" pitchFamily="34" charset="0"/>
                <a:ea typeface="Cambria" pitchFamily="34" charset="-122"/>
                <a:cs typeface="Cambria" pitchFamily="34" charset="-120"/>
              </a:rPr>
              <a:t>“Why not Sarvam-105B — an Indian model?”</a:t>
            </a:r>
            <a:endParaRPr lang="en-US" sz="1250" dirty="0"/>
          </a:p>
        </p:txBody>
      </p:sp>
      <p:sp>
        <p:nvSpPr>
          <p:cNvPr id="29" name="Text 26"/>
          <p:cNvSpPr txBox="1"/>
          <p:nvPr/>
        </p:nvSpPr>
        <p:spPr>
          <a:xfrm>
            <a:off x="7351776" y="2176272"/>
            <a:ext cx="4023360" cy="1316736"/>
          </a:xfrm>
          <a:prstGeom prst="rect">
            <a:avLst/>
          </a:prstGeom>
          <a:noFill/>
          <a:ln/>
        </p:spPr>
        <p:txBody>
          <a:bodyPr wrap="square" lIns="0" tIns="0" rIns="0" bIns="0" rtlCol="0" anchor="ctr"/>
          <a:lstStyle/>
          <a:p>
            <a:pPr indent="0" marL="0">
              <a:lnSpc>
                <a:spcPts val="1250"/>
              </a:lnSpc>
              <a:buNone/>
            </a:pPr>
            <a:r>
              <a:rPr lang="en-US" sz="950" dirty="0">
                <a:solidFill>
                  <a:srgbClr val="AFCCDC"/>
                </a:solidFill>
                <a:latin typeface="Calibri" pitchFamily="34" charset="0"/>
                <a:ea typeface="Calibri" pitchFamily="34" charset="-122"/>
                <a:cs typeface="Calibri" pitchFamily="34" charset="-120"/>
              </a:rPr>
              <a:t>It is a strong model and it scored marginally higher than Qwen on raw Marathi fluency. It scored lower on instruction adherence and Mahasamvad style, and its mixture-of-experts footprint roughly triples the serving hardware needed for DGIPR's volume. We hold it as a standing re-evaluation candidate: the platform is model-agnostic, and if a future Sarvam release wins the same blind evaluation, we switch.</a:t>
            </a:r>
            <a:endParaRPr lang="en-US" sz="950" dirty="0"/>
          </a:p>
        </p:txBody>
      </p:sp>
      <p:sp>
        <p:nvSpPr>
          <p:cNvPr id="30" name="Shape 27"/>
          <p:cNvSpPr/>
          <p:nvPr/>
        </p:nvSpPr>
        <p:spPr>
          <a:xfrm>
            <a:off x="7114032" y="3895344"/>
            <a:ext cx="4507992" cy="1920240"/>
          </a:xfrm>
          <a:prstGeom prst="roundRect">
            <a:avLst>
              <a:gd name="adj" fmla="val 3333"/>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31" name="Text 28"/>
          <p:cNvSpPr txBox="1"/>
          <p:nvPr/>
        </p:nvSpPr>
        <p:spPr>
          <a:xfrm>
            <a:off x="7351776" y="4096512"/>
            <a:ext cx="4023360" cy="475488"/>
          </a:xfrm>
          <a:prstGeom prst="rect">
            <a:avLst/>
          </a:prstGeom>
          <a:noFill/>
          <a:ln/>
        </p:spPr>
        <p:txBody>
          <a:bodyPr wrap="square" lIns="0" tIns="0" rIns="0" bIns="0" rtlCol="0" anchor="ctr"/>
          <a:lstStyle/>
          <a:p>
            <a:pPr indent="0" marL="0">
              <a:lnSpc>
                <a:spcPts val="1600"/>
              </a:lnSpc>
              <a:buNone/>
            </a:pPr>
            <a:r>
              <a:rPr lang="en-US" sz="1250" b="1" dirty="0">
                <a:solidFill>
                  <a:srgbClr val="0F2B46"/>
                </a:solidFill>
                <a:latin typeface="Cambria" pitchFamily="34" charset="0"/>
                <a:ea typeface="Cambria" pitchFamily="34" charset="-122"/>
                <a:cs typeface="Cambria" pitchFamily="34" charset="-120"/>
              </a:rPr>
              <a:t>“Why not Llama or Mistral?”</a:t>
            </a:r>
            <a:endParaRPr lang="en-US" sz="1250" dirty="0"/>
          </a:p>
        </p:txBody>
      </p:sp>
      <p:sp>
        <p:nvSpPr>
          <p:cNvPr id="32" name="Text 29"/>
          <p:cNvSpPr txBox="1"/>
          <p:nvPr/>
        </p:nvSpPr>
        <p:spPr>
          <a:xfrm>
            <a:off x="7351776" y="4626864"/>
            <a:ext cx="4023360" cy="1005840"/>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Materially weaker Devanagari fluency and higher unsupported-claim rates on our set. Llama's community licence also adds conditions that Apache 2.0 does not — a live consideration for software the department will own and modify.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4</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GPU and hardware requirements</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11</a:t>
            </a:r>
            <a:endParaRPr lang="en-US" sz="850" dirty="0"/>
          </a:p>
        </p:txBody>
      </p:sp>
      <p:sp>
        <p:nvSpPr>
          <p:cNvPr id="7" name="Shape 4"/>
          <p:cNvSpPr/>
          <p:nvPr/>
        </p:nvSpPr>
        <p:spPr>
          <a:xfrm>
            <a:off x="566928" y="1444752"/>
            <a:ext cx="5367528" cy="2395728"/>
          </a:xfrm>
          <a:prstGeom prst="roundRect">
            <a:avLst>
              <a:gd name="adj" fmla="val 2672"/>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8" name="Shape 5"/>
          <p:cNvSpPr/>
          <p:nvPr/>
        </p:nvSpPr>
        <p:spPr>
          <a:xfrm>
            <a:off x="822960" y="1627632"/>
            <a:ext cx="1691640" cy="274320"/>
          </a:xfrm>
          <a:prstGeom prst="roundRect">
            <a:avLst>
              <a:gd name="adj" fmla="val 50000"/>
            </a:avLst>
          </a:prstGeom>
          <a:solidFill>
            <a:srgbClr val="E4EEF3"/>
          </a:solidFill>
          <a:ln w="6350">
            <a:solidFill>
              <a:srgbClr val="E4EEF3"/>
            </a:solidFill>
            <a:prstDash val="solid"/>
          </a:ln>
        </p:spPr>
      </p:sp>
      <p:sp>
        <p:nvSpPr>
          <p:cNvPr id="9" name="Text 6"/>
          <p:cNvSpPr txBox="1"/>
          <p:nvPr/>
        </p:nvSpPr>
        <p:spPr>
          <a:xfrm>
            <a:off x="822960" y="1627632"/>
            <a:ext cx="1691640" cy="274320"/>
          </a:xfrm>
          <a:prstGeom prst="rect">
            <a:avLst/>
          </a:prstGeom>
          <a:noFill/>
          <a:ln/>
        </p:spPr>
        <p:txBody>
          <a:bodyPr wrap="square" lIns="0" tIns="0" rIns="0" bIns="0" rtlCol="0" anchor="ctr"/>
          <a:lstStyle/>
          <a:p>
            <a:pPr algn="ctr" indent="0" marL="0">
              <a:buNone/>
            </a:pPr>
            <a:r>
              <a:rPr lang="en-US" sz="950" b="1" dirty="0">
                <a:solidFill>
                  <a:srgbClr val="1C7293"/>
                </a:solidFill>
                <a:latin typeface="Calibri" pitchFamily="34" charset="0"/>
                <a:ea typeface="Calibri" pitchFamily="34" charset="-122"/>
                <a:cs typeface="Calibri" pitchFamily="34" charset="-120"/>
              </a:rPr>
              <a:t>IN USE TODAY</a:t>
            </a:r>
            <a:endParaRPr lang="en-US" sz="950" dirty="0"/>
          </a:p>
        </p:txBody>
      </p:sp>
      <p:sp>
        <p:nvSpPr>
          <p:cNvPr id="10" name="Text 7"/>
          <p:cNvSpPr txBox="1"/>
          <p:nvPr/>
        </p:nvSpPr>
        <p:spPr>
          <a:xfrm>
            <a:off x="822960" y="1993392"/>
            <a:ext cx="4846320" cy="292608"/>
          </a:xfrm>
          <a:prstGeom prst="rect">
            <a:avLst/>
          </a:prstGeom>
          <a:noFill/>
          <a:ln/>
        </p:spPr>
        <p:txBody>
          <a:bodyPr wrap="square" lIns="0" tIns="0" rIns="0" bIns="0" rtlCol="0" anchor="ctr"/>
          <a:lstStyle/>
          <a:p>
            <a:pPr indent="0" marL="0">
              <a:buNone/>
            </a:pPr>
            <a:r>
              <a:rPr lang="en-US" sz="1700" b="1" dirty="0">
                <a:solidFill>
                  <a:srgbClr val="0F2B46"/>
                </a:solidFill>
                <a:latin typeface="Cambria" pitchFamily="34" charset="0"/>
                <a:ea typeface="Cambria" pitchFamily="34" charset="-122"/>
                <a:cs typeface="Cambria" pitchFamily="34" charset="-120"/>
              </a:rPr>
              <a:t>Development environment</a:t>
            </a:r>
            <a:endParaRPr lang="en-US" sz="1700" dirty="0"/>
          </a:p>
        </p:txBody>
      </p:sp>
      <p:sp>
        <p:nvSpPr>
          <p:cNvPr id="11" name="Text 8"/>
          <p:cNvSpPr txBox="1"/>
          <p:nvPr/>
        </p:nvSpPr>
        <p:spPr>
          <a:xfrm>
            <a:off x="822960" y="2359152"/>
            <a:ext cx="841248" cy="219456"/>
          </a:xfrm>
          <a:prstGeom prst="rect">
            <a:avLst/>
          </a:prstGeom>
          <a:noFill/>
          <a:ln/>
        </p:spPr>
        <p:txBody>
          <a:bodyPr wrap="square" lIns="0" tIns="0" rIns="0" bIns="0" rtlCol="0" anchor="t"/>
          <a:lstStyle/>
          <a:p>
            <a:pPr indent="0" marL="0">
              <a:buNone/>
            </a:pPr>
            <a:r>
              <a:rPr lang="en-US" sz="900" b="1" dirty="0">
                <a:solidFill>
                  <a:srgbClr val="1C7293"/>
                </a:solidFill>
                <a:latin typeface="Calibri" pitchFamily="34" charset="0"/>
                <a:ea typeface="Calibri" pitchFamily="34" charset="-122"/>
                <a:cs typeface="Calibri" pitchFamily="34" charset="-120"/>
              </a:rPr>
              <a:t>GPU</a:t>
            </a:r>
            <a:endParaRPr lang="en-US" sz="900" dirty="0"/>
          </a:p>
        </p:txBody>
      </p:sp>
      <p:sp>
        <p:nvSpPr>
          <p:cNvPr id="12" name="Text 9"/>
          <p:cNvSpPr txBox="1"/>
          <p:nvPr/>
        </p:nvSpPr>
        <p:spPr>
          <a:xfrm>
            <a:off x="1682496" y="2359152"/>
            <a:ext cx="3977640" cy="237744"/>
          </a:xfrm>
          <a:prstGeom prst="rect">
            <a:avLst/>
          </a:prstGeom>
          <a:noFill/>
          <a:ln/>
        </p:spPr>
        <p:txBody>
          <a:bodyPr wrap="square" lIns="0" tIns="0" rIns="0" bIns="0" rtlCol="0" anchor="t"/>
          <a:lstStyle/>
          <a:p>
            <a:pPr indent="0" marL="0">
              <a:lnSpc>
                <a:spcPts val="1100"/>
              </a:lnSpc>
              <a:buNone/>
            </a:pPr>
            <a:r>
              <a:rPr lang="en-US" sz="950" dirty="0">
                <a:solidFill>
                  <a:srgbClr val="33424E"/>
                </a:solidFill>
                <a:latin typeface="Calibri" pitchFamily="34" charset="0"/>
                <a:ea typeface="Calibri" pitchFamily="34" charset="-122"/>
                <a:cs typeface="Calibri" pitchFamily="34" charset="-120"/>
              </a:rPr>
              <a:t>1 × NVIDIA RTX PRO 6000 Blackwell</a:t>
            </a:r>
            <a:endParaRPr lang="en-US" sz="950" dirty="0"/>
          </a:p>
        </p:txBody>
      </p:sp>
      <p:sp>
        <p:nvSpPr>
          <p:cNvPr id="13" name="Text 10"/>
          <p:cNvSpPr txBox="1"/>
          <p:nvPr/>
        </p:nvSpPr>
        <p:spPr>
          <a:xfrm>
            <a:off x="822960" y="2601468"/>
            <a:ext cx="841248" cy="219456"/>
          </a:xfrm>
          <a:prstGeom prst="rect">
            <a:avLst/>
          </a:prstGeom>
          <a:noFill/>
          <a:ln/>
        </p:spPr>
        <p:txBody>
          <a:bodyPr wrap="square" lIns="0" tIns="0" rIns="0" bIns="0" rtlCol="0" anchor="t"/>
          <a:lstStyle/>
          <a:p>
            <a:pPr indent="0" marL="0">
              <a:buNone/>
            </a:pPr>
            <a:r>
              <a:rPr lang="en-US" sz="900" b="1" dirty="0">
                <a:solidFill>
                  <a:srgbClr val="1C7293"/>
                </a:solidFill>
                <a:latin typeface="Calibri" pitchFamily="34" charset="0"/>
                <a:ea typeface="Calibri" pitchFamily="34" charset="-122"/>
                <a:cs typeface="Calibri" pitchFamily="34" charset="-120"/>
              </a:rPr>
              <a:t>Memory</a:t>
            </a:r>
            <a:endParaRPr lang="en-US" sz="900" dirty="0"/>
          </a:p>
        </p:txBody>
      </p:sp>
      <p:sp>
        <p:nvSpPr>
          <p:cNvPr id="14" name="Text 11"/>
          <p:cNvSpPr txBox="1"/>
          <p:nvPr/>
        </p:nvSpPr>
        <p:spPr>
          <a:xfrm>
            <a:off x="1682496" y="2601468"/>
            <a:ext cx="3977640" cy="237744"/>
          </a:xfrm>
          <a:prstGeom prst="rect">
            <a:avLst/>
          </a:prstGeom>
          <a:noFill/>
          <a:ln/>
        </p:spPr>
        <p:txBody>
          <a:bodyPr wrap="square" lIns="0" tIns="0" rIns="0" bIns="0" rtlCol="0" anchor="t"/>
          <a:lstStyle/>
          <a:p>
            <a:pPr indent="0" marL="0">
              <a:lnSpc>
                <a:spcPts val="1100"/>
              </a:lnSpc>
              <a:buNone/>
            </a:pPr>
            <a:r>
              <a:rPr lang="en-US" sz="950" dirty="0">
                <a:solidFill>
                  <a:srgbClr val="33424E"/>
                </a:solidFill>
                <a:latin typeface="Calibri" pitchFamily="34" charset="0"/>
                <a:ea typeface="Calibri" pitchFamily="34" charset="-122"/>
                <a:cs typeface="Calibri" pitchFamily="34" charset="-120"/>
              </a:rPr>
              <a:t>96 GB GDDR7 VRAM with ECC, 1,792 GB/s</a:t>
            </a:r>
            <a:endParaRPr lang="en-US" sz="950" dirty="0"/>
          </a:p>
        </p:txBody>
      </p:sp>
      <p:sp>
        <p:nvSpPr>
          <p:cNvPr id="15" name="Text 12"/>
          <p:cNvSpPr txBox="1"/>
          <p:nvPr/>
        </p:nvSpPr>
        <p:spPr>
          <a:xfrm>
            <a:off x="822960" y="2843784"/>
            <a:ext cx="841248" cy="219456"/>
          </a:xfrm>
          <a:prstGeom prst="rect">
            <a:avLst/>
          </a:prstGeom>
          <a:noFill/>
          <a:ln/>
        </p:spPr>
        <p:txBody>
          <a:bodyPr wrap="square" lIns="0" tIns="0" rIns="0" bIns="0" rtlCol="0" anchor="t"/>
          <a:lstStyle/>
          <a:p>
            <a:pPr indent="0" marL="0">
              <a:buNone/>
            </a:pPr>
            <a:r>
              <a:rPr lang="en-US" sz="900" b="1" dirty="0">
                <a:solidFill>
                  <a:srgbClr val="1C7293"/>
                </a:solidFill>
                <a:latin typeface="Calibri" pitchFamily="34" charset="0"/>
                <a:ea typeface="Calibri" pitchFamily="34" charset="-122"/>
                <a:cs typeface="Calibri" pitchFamily="34" charset="-120"/>
              </a:rPr>
              <a:t>Compute</a:t>
            </a:r>
            <a:endParaRPr lang="en-US" sz="900" dirty="0"/>
          </a:p>
        </p:txBody>
      </p:sp>
      <p:sp>
        <p:nvSpPr>
          <p:cNvPr id="16" name="Text 13"/>
          <p:cNvSpPr txBox="1"/>
          <p:nvPr/>
        </p:nvSpPr>
        <p:spPr>
          <a:xfrm>
            <a:off x="1682496" y="2843784"/>
            <a:ext cx="3977640" cy="237744"/>
          </a:xfrm>
          <a:prstGeom prst="rect">
            <a:avLst/>
          </a:prstGeom>
          <a:noFill/>
          <a:ln/>
        </p:spPr>
        <p:txBody>
          <a:bodyPr wrap="square" lIns="0" tIns="0" rIns="0" bIns="0" rtlCol="0" anchor="t"/>
          <a:lstStyle/>
          <a:p>
            <a:pPr indent="0" marL="0">
              <a:lnSpc>
                <a:spcPts val="1100"/>
              </a:lnSpc>
              <a:buNone/>
            </a:pPr>
            <a:r>
              <a:rPr lang="en-US" sz="950" dirty="0">
                <a:solidFill>
                  <a:srgbClr val="33424E"/>
                </a:solidFill>
                <a:latin typeface="Calibri" pitchFamily="34" charset="0"/>
                <a:ea typeface="Calibri" pitchFamily="34" charset="-122"/>
                <a:cs typeface="Calibri" pitchFamily="34" charset="-120"/>
              </a:rPr>
              <a:t>126 TFLOPS FP16 tensor, 24,064 CUDA cores</a:t>
            </a:r>
            <a:endParaRPr lang="en-US" sz="950" dirty="0"/>
          </a:p>
        </p:txBody>
      </p:sp>
      <p:sp>
        <p:nvSpPr>
          <p:cNvPr id="17" name="Text 14"/>
          <p:cNvSpPr txBox="1"/>
          <p:nvPr/>
        </p:nvSpPr>
        <p:spPr>
          <a:xfrm>
            <a:off x="822960" y="3086100"/>
            <a:ext cx="841248" cy="219456"/>
          </a:xfrm>
          <a:prstGeom prst="rect">
            <a:avLst/>
          </a:prstGeom>
          <a:noFill/>
          <a:ln/>
        </p:spPr>
        <p:txBody>
          <a:bodyPr wrap="square" lIns="0" tIns="0" rIns="0" bIns="0" rtlCol="0" anchor="t"/>
          <a:lstStyle/>
          <a:p>
            <a:pPr indent="0" marL="0">
              <a:buNone/>
            </a:pPr>
            <a:r>
              <a:rPr lang="en-US" sz="900" b="1" dirty="0">
                <a:solidFill>
                  <a:srgbClr val="1C7293"/>
                </a:solidFill>
                <a:latin typeface="Calibri" pitchFamily="34" charset="0"/>
                <a:ea typeface="Calibri" pitchFamily="34" charset="-122"/>
                <a:cs typeface="Calibri" pitchFamily="34" charset="-120"/>
              </a:rPr>
              <a:t>Provider</a:t>
            </a:r>
            <a:endParaRPr lang="en-US" sz="900" dirty="0"/>
          </a:p>
        </p:txBody>
      </p:sp>
      <p:sp>
        <p:nvSpPr>
          <p:cNvPr id="18" name="Text 15"/>
          <p:cNvSpPr txBox="1"/>
          <p:nvPr/>
        </p:nvSpPr>
        <p:spPr>
          <a:xfrm>
            <a:off x="1682496" y="3086100"/>
            <a:ext cx="3977640" cy="237744"/>
          </a:xfrm>
          <a:prstGeom prst="rect">
            <a:avLst/>
          </a:prstGeom>
          <a:noFill/>
          <a:ln/>
        </p:spPr>
        <p:txBody>
          <a:bodyPr wrap="square" lIns="0" tIns="0" rIns="0" bIns="0" rtlCol="0" anchor="t"/>
          <a:lstStyle/>
          <a:p>
            <a:pPr indent="0" marL="0">
              <a:lnSpc>
                <a:spcPts val="1100"/>
              </a:lnSpc>
              <a:buNone/>
            </a:pPr>
            <a:r>
              <a:rPr lang="en-US" sz="950" dirty="0">
                <a:solidFill>
                  <a:srgbClr val="33424E"/>
                </a:solidFill>
                <a:latin typeface="Calibri" pitchFamily="34" charset="0"/>
                <a:ea typeface="Calibri" pitchFamily="34" charset="-122"/>
                <a:cs typeface="Calibri" pitchFamily="34" charset="-120"/>
              </a:rPr>
              <a:t>RunPod, Secure Cloud</a:t>
            </a:r>
            <a:endParaRPr lang="en-US" sz="950" dirty="0"/>
          </a:p>
        </p:txBody>
      </p:sp>
      <p:sp>
        <p:nvSpPr>
          <p:cNvPr id="19" name="Text 16"/>
          <p:cNvSpPr txBox="1"/>
          <p:nvPr/>
        </p:nvSpPr>
        <p:spPr>
          <a:xfrm>
            <a:off x="822960" y="3328416"/>
            <a:ext cx="841248" cy="219456"/>
          </a:xfrm>
          <a:prstGeom prst="rect">
            <a:avLst/>
          </a:prstGeom>
          <a:noFill/>
          <a:ln/>
        </p:spPr>
        <p:txBody>
          <a:bodyPr wrap="square" lIns="0" tIns="0" rIns="0" bIns="0" rtlCol="0" anchor="t"/>
          <a:lstStyle/>
          <a:p>
            <a:pPr indent="0" marL="0">
              <a:buNone/>
            </a:pPr>
            <a:r>
              <a:rPr lang="en-US" sz="900" b="1" dirty="0">
                <a:solidFill>
                  <a:srgbClr val="1C7293"/>
                </a:solidFill>
                <a:latin typeface="Calibri" pitchFamily="34" charset="0"/>
                <a:ea typeface="Calibri" pitchFamily="34" charset="-122"/>
                <a:cs typeface="Calibri" pitchFamily="34" charset="-120"/>
              </a:rPr>
              <a:t>Cost</a:t>
            </a:r>
            <a:endParaRPr lang="en-US" sz="900" dirty="0"/>
          </a:p>
        </p:txBody>
      </p:sp>
      <p:sp>
        <p:nvSpPr>
          <p:cNvPr id="20" name="Text 17"/>
          <p:cNvSpPr txBox="1"/>
          <p:nvPr/>
        </p:nvSpPr>
        <p:spPr>
          <a:xfrm>
            <a:off x="1682496" y="3328416"/>
            <a:ext cx="3977640" cy="237744"/>
          </a:xfrm>
          <a:prstGeom prst="rect">
            <a:avLst/>
          </a:prstGeom>
          <a:noFill/>
          <a:ln/>
        </p:spPr>
        <p:txBody>
          <a:bodyPr wrap="square" lIns="0" tIns="0" rIns="0" bIns="0" rtlCol="0" anchor="t"/>
          <a:lstStyle/>
          <a:p>
            <a:pPr indent="0" marL="0">
              <a:lnSpc>
                <a:spcPts val="1100"/>
              </a:lnSpc>
              <a:buNone/>
            </a:pPr>
            <a:r>
              <a:rPr lang="en-US" sz="950" dirty="0">
                <a:solidFill>
                  <a:srgbClr val="33424E"/>
                </a:solidFill>
                <a:latin typeface="Calibri" pitchFamily="34" charset="0"/>
                <a:ea typeface="Calibri" pitchFamily="34" charset="-122"/>
                <a:cs typeface="Calibri" pitchFamily="34" charset="-120"/>
              </a:rPr>
              <a:t>$2.09 per hour  ·  ≈ $1,505 per month at 24×7</a:t>
            </a:r>
            <a:endParaRPr lang="en-US" sz="950" dirty="0"/>
          </a:p>
        </p:txBody>
      </p:sp>
      <p:sp>
        <p:nvSpPr>
          <p:cNvPr id="21" name="Text 18"/>
          <p:cNvSpPr txBox="1"/>
          <p:nvPr/>
        </p:nvSpPr>
        <p:spPr>
          <a:xfrm>
            <a:off x="822960" y="3570732"/>
            <a:ext cx="841248" cy="219456"/>
          </a:xfrm>
          <a:prstGeom prst="rect">
            <a:avLst/>
          </a:prstGeom>
          <a:noFill/>
          <a:ln/>
        </p:spPr>
        <p:txBody>
          <a:bodyPr wrap="square" lIns="0" tIns="0" rIns="0" bIns="0" rtlCol="0" anchor="t"/>
          <a:lstStyle/>
          <a:p>
            <a:pPr indent="0" marL="0">
              <a:buNone/>
            </a:pPr>
            <a:r>
              <a:rPr lang="en-US" sz="900" b="1" dirty="0">
                <a:solidFill>
                  <a:srgbClr val="1C7293"/>
                </a:solidFill>
                <a:latin typeface="Calibri" pitchFamily="34" charset="0"/>
                <a:ea typeface="Calibri" pitchFamily="34" charset="-122"/>
                <a:cs typeface="Calibri" pitchFamily="34" charset="-120"/>
              </a:rPr>
              <a:t>Used for</a:t>
            </a:r>
            <a:endParaRPr lang="en-US" sz="900" dirty="0"/>
          </a:p>
        </p:txBody>
      </p:sp>
      <p:sp>
        <p:nvSpPr>
          <p:cNvPr id="22" name="Text 19"/>
          <p:cNvSpPr txBox="1"/>
          <p:nvPr/>
        </p:nvSpPr>
        <p:spPr>
          <a:xfrm>
            <a:off x="1682496" y="3570732"/>
            <a:ext cx="3977640" cy="237744"/>
          </a:xfrm>
          <a:prstGeom prst="rect">
            <a:avLst/>
          </a:prstGeom>
          <a:noFill/>
          <a:ln/>
        </p:spPr>
        <p:txBody>
          <a:bodyPr wrap="square" lIns="0" tIns="0" rIns="0" bIns="0" rtlCol="0" anchor="t"/>
          <a:lstStyle/>
          <a:p>
            <a:pPr indent="0" marL="0">
              <a:lnSpc>
                <a:spcPts val="1100"/>
              </a:lnSpc>
              <a:buNone/>
            </a:pPr>
            <a:r>
              <a:rPr lang="en-US" sz="950" dirty="0">
                <a:solidFill>
                  <a:srgbClr val="33424E"/>
                </a:solidFill>
                <a:latin typeface="Calibri" pitchFamily="34" charset="0"/>
                <a:ea typeface="Calibri" pitchFamily="34" charset="-122"/>
                <a:cs typeface="Calibri" pitchFamily="34" charset="-120"/>
              </a:rPr>
              <a:t>Model evaluation, LoRA fine-tuning runs, RAG testing, pre-production validation</a:t>
            </a:r>
            <a:endParaRPr lang="en-US" sz="950" dirty="0"/>
          </a:p>
        </p:txBody>
      </p:sp>
      <p:sp>
        <p:nvSpPr>
          <p:cNvPr id="23" name="Shape 20"/>
          <p:cNvSpPr/>
          <p:nvPr/>
        </p:nvSpPr>
        <p:spPr>
          <a:xfrm>
            <a:off x="6254496" y="1444752"/>
            <a:ext cx="5367528" cy="2395728"/>
          </a:xfrm>
          <a:prstGeom prst="roundRect">
            <a:avLst>
              <a:gd name="adj" fmla="val 2672"/>
            </a:avLst>
          </a:prstGeom>
          <a:solidFill>
            <a:srgbClr val="0F2B46"/>
          </a:solidFill>
          <a:ln w="9525">
            <a:solidFill>
              <a:srgbClr val="0F2B46"/>
            </a:solidFill>
            <a:prstDash val="solid"/>
          </a:ln>
          <a:effectLst>
            <a:outerShdw sx="100000" sy="100000" kx="0" ky="0" algn="bl" rotWithShape="0" blurRad="101600" dist="12700" dir="5400000">
              <a:srgbClr val="0F2B46">
                <a:alpha val="8000"/>
              </a:srgbClr>
            </a:outerShdw>
          </a:effectLst>
        </p:spPr>
      </p:sp>
      <p:sp>
        <p:nvSpPr>
          <p:cNvPr id="24" name="Shape 21"/>
          <p:cNvSpPr/>
          <p:nvPr/>
        </p:nvSpPr>
        <p:spPr>
          <a:xfrm>
            <a:off x="6510528" y="1627632"/>
            <a:ext cx="2514600" cy="274320"/>
          </a:xfrm>
          <a:prstGeom prst="roundRect">
            <a:avLst>
              <a:gd name="adj" fmla="val 50000"/>
            </a:avLst>
          </a:prstGeom>
          <a:solidFill>
            <a:srgbClr val="1F4A6B"/>
          </a:solidFill>
          <a:ln w="6350">
            <a:solidFill>
              <a:srgbClr val="1F4A6B"/>
            </a:solidFill>
            <a:prstDash val="solid"/>
          </a:ln>
        </p:spPr>
      </p:sp>
      <p:sp>
        <p:nvSpPr>
          <p:cNvPr id="25" name="Text 22"/>
          <p:cNvSpPr txBox="1"/>
          <p:nvPr/>
        </p:nvSpPr>
        <p:spPr>
          <a:xfrm>
            <a:off x="6510528" y="1627632"/>
            <a:ext cx="2514600" cy="274320"/>
          </a:xfrm>
          <a:prstGeom prst="rect">
            <a:avLst/>
          </a:prstGeom>
          <a:noFill/>
          <a:ln/>
        </p:spPr>
        <p:txBody>
          <a:bodyPr wrap="square" lIns="0" tIns="0" rIns="0" bIns="0" rtlCol="0" anchor="ctr"/>
          <a:lstStyle/>
          <a:p>
            <a:pPr algn="ctr" indent="0" marL="0">
              <a:buNone/>
            </a:pPr>
            <a:r>
              <a:rPr lang="en-US" sz="950" b="1" dirty="0">
                <a:solidFill>
                  <a:srgbClr val="9FD0E8"/>
                </a:solidFill>
                <a:latin typeface="Calibri" pitchFamily="34" charset="0"/>
                <a:ea typeface="Calibri" pitchFamily="34" charset="-122"/>
                <a:cs typeface="Calibri" pitchFamily="34" charset="-120"/>
              </a:rPr>
              <a:t>PRODUCTION ARCHITECTURE</a:t>
            </a:r>
            <a:endParaRPr lang="en-US" sz="950" dirty="0"/>
          </a:p>
        </p:txBody>
      </p:sp>
      <p:sp>
        <p:nvSpPr>
          <p:cNvPr id="26" name="Text 23"/>
          <p:cNvSpPr txBox="1"/>
          <p:nvPr/>
        </p:nvSpPr>
        <p:spPr>
          <a:xfrm>
            <a:off x="6510528" y="1993392"/>
            <a:ext cx="4846320"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Departmental infrastructure</a:t>
            </a:r>
            <a:endParaRPr lang="en-US" sz="1700" dirty="0"/>
          </a:p>
        </p:txBody>
      </p:sp>
      <p:sp>
        <p:nvSpPr>
          <p:cNvPr id="27" name="Text 24"/>
          <p:cNvSpPr txBox="1"/>
          <p:nvPr/>
        </p:nvSpPr>
        <p:spPr>
          <a:xfrm>
            <a:off x="6510528" y="2359152"/>
            <a:ext cx="960120" cy="219456"/>
          </a:xfrm>
          <a:prstGeom prst="rect">
            <a:avLst/>
          </a:prstGeom>
          <a:noFill/>
          <a:ln/>
        </p:spPr>
        <p:txBody>
          <a:bodyPr wrap="square" lIns="0" tIns="0" rIns="0" bIns="0" rtlCol="0" anchor="t"/>
          <a:lstStyle/>
          <a:p>
            <a:pPr indent="0" marL="0">
              <a:buNone/>
            </a:pPr>
            <a:r>
              <a:rPr lang="en-US" sz="900" b="1" dirty="0">
                <a:solidFill>
                  <a:srgbClr val="8FC3D9"/>
                </a:solidFill>
                <a:latin typeface="Calibri" pitchFamily="34" charset="0"/>
                <a:ea typeface="Calibri" pitchFamily="34" charset="-122"/>
                <a:cs typeface="Calibri" pitchFamily="34" charset="-120"/>
              </a:rPr>
              <a:t>Model</a:t>
            </a:r>
            <a:endParaRPr lang="en-US" sz="900" dirty="0"/>
          </a:p>
        </p:txBody>
      </p:sp>
      <p:sp>
        <p:nvSpPr>
          <p:cNvPr id="28" name="Text 25"/>
          <p:cNvSpPr txBox="1"/>
          <p:nvPr/>
        </p:nvSpPr>
        <p:spPr>
          <a:xfrm>
            <a:off x="7488936" y="2359152"/>
            <a:ext cx="3931920" cy="237744"/>
          </a:xfrm>
          <a:prstGeom prst="rect">
            <a:avLst/>
          </a:prstGeom>
          <a:noFill/>
          <a:ln/>
        </p:spPr>
        <p:txBody>
          <a:bodyPr wrap="square" lIns="0" tIns="0" rIns="0" bIns="0" rtlCol="0" anchor="t"/>
          <a:lstStyle/>
          <a:p>
            <a:pPr indent="0" marL="0">
              <a:lnSpc>
                <a:spcPts val="1100"/>
              </a:lnSpc>
              <a:buNone/>
            </a:pPr>
            <a:r>
              <a:rPr lang="en-US" sz="950" dirty="0">
                <a:solidFill>
                  <a:srgbClr val="D5E5ED"/>
                </a:solidFill>
                <a:latin typeface="Calibri" pitchFamily="34" charset="0"/>
                <a:ea typeface="Calibri" pitchFamily="34" charset="-122"/>
                <a:cs typeface="Calibri" pitchFamily="34" charset="-120"/>
              </a:rPr>
              <a:t>Qwen3-32B — 66 GB at BF16, ≈ 35 GB at FP8</a:t>
            </a:r>
            <a:endParaRPr lang="en-US" sz="950" dirty="0"/>
          </a:p>
        </p:txBody>
      </p:sp>
      <p:sp>
        <p:nvSpPr>
          <p:cNvPr id="29" name="Text 26"/>
          <p:cNvSpPr txBox="1"/>
          <p:nvPr/>
        </p:nvSpPr>
        <p:spPr>
          <a:xfrm>
            <a:off x="6510528" y="2601468"/>
            <a:ext cx="960120" cy="219456"/>
          </a:xfrm>
          <a:prstGeom prst="rect">
            <a:avLst/>
          </a:prstGeom>
          <a:noFill/>
          <a:ln/>
        </p:spPr>
        <p:txBody>
          <a:bodyPr wrap="square" lIns="0" tIns="0" rIns="0" bIns="0" rtlCol="0" anchor="t"/>
          <a:lstStyle/>
          <a:p>
            <a:pPr indent="0" marL="0">
              <a:buNone/>
            </a:pPr>
            <a:r>
              <a:rPr lang="en-US" sz="900" b="1" dirty="0">
                <a:solidFill>
                  <a:srgbClr val="8FC3D9"/>
                </a:solidFill>
                <a:latin typeface="Calibri" pitchFamily="34" charset="0"/>
                <a:ea typeface="Calibri" pitchFamily="34" charset="-122"/>
                <a:cs typeface="Calibri" pitchFamily="34" charset="-120"/>
              </a:rPr>
              <a:t>Design</a:t>
            </a:r>
            <a:endParaRPr lang="en-US" sz="900" dirty="0"/>
          </a:p>
        </p:txBody>
      </p:sp>
      <p:sp>
        <p:nvSpPr>
          <p:cNvPr id="30" name="Text 27"/>
          <p:cNvSpPr txBox="1"/>
          <p:nvPr/>
        </p:nvSpPr>
        <p:spPr>
          <a:xfrm>
            <a:off x="7488936" y="2601468"/>
            <a:ext cx="3931920" cy="237744"/>
          </a:xfrm>
          <a:prstGeom prst="rect">
            <a:avLst/>
          </a:prstGeom>
          <a:noFill/>
          <a:ln/>
        </p:spPr>
        <p:txBody>
          <a:bodyPr wrap="square" lIns="0" tIns="0" rIns="0" bIns="0" rtlCol="0" anchor="t"/>
          <a:lstStyle/>
          <a:p>
            <a:pPr indent="0" marL="0">
              <a:lnSpc>
                <a:spcPts val="1100"/>
              </a:lnSpc>
              <a:buNone/>
            </a:pPr>
            <a:r>
              <a:rPr lang="en-US" sz="950" dirty="0">
                <a:solidFill>
                  <a:srgbClr val="D5E5ED"/>
                </a:solidFill>
                <a:latin typeface="Calibri" pitchFamily="34" charset="0"/>
                <a:ea typeface="Calibri" pitchFamily="34" charset="-122"/>
                <a:cs typeface="Calibri" pitchFamily="34" charset="-120"/>
              </a:rPr>
              <a:t>Horizontally scalable: identical inference nodes behind a load balancer</a:t>
            </a:r>
            <a:endParaRPr lang="en-US" sz="950" dirty="0"/>
          </a:p>
        </p:txBody>
      </p:sp>
      <p:sp>
        <p:nvSpPr>
          <p:cNvPr id="31" name="Text 28"/>
          <p:cNvSpPr txBox="1"/>
          <p:nvPr/>
        </p:nvSpPr>
        <p:spPr>
          <a:xfrm>
            <a:off x="6510528" y="2843784"/>
            <a:ext cx="960120" cy="219456"/>
          </a:xfrm>
          <a:prstGeom prst="rect">
            <a:avLst/>
          </a:prstGeom>
          <a:noFill/>
          <a:ln/>
        </p:spPr>
        <p:txBody>
          <a:bodyPr wrap="square" lIns="0" tIns="0" rIns="0" bIns="0" rtlCol="0" anchor="t"/>
          <a:lstStyle/>
          <a:p>
            <a:pPr indent="0" marL="0">
              <a:buNone/>
            </a:pPr>
            <a:r>
              <a:rPr lang="en-US" sz="900" b="1" dirty="0">
                <a:solidFill>
                  <a:srgbClr val="8FC3D9"/>
                </a:solidFill>
                <a:latin typeface="Calibri" pitchFamily="34" charset="0"/>
                <a:ea typeface="Calibri" pitchFamily="34" charset="-122"/>
                <a:cs typeface="Calibri" pitchFamily="34" charset="-120"/>
              </a:rPr>
              <a:t>Per node</a:t>
            </a:r>
            <a:endParaRPr lang="en-US" sz="900" dirty="0"/>
          </a:p>
        </p:txBody>
      </p:sp>
      <p:sp>
        <p:nvSpPr>
          <p:cNvPr id="32" name="Text 29"/>
          <p:cNvSpPr txBox="1"/>
          <p:nvPr/>
        </p:nvSpPr>
        <p:spPr>
          <a:xfrm>
            <a:off x="7488936" y="2843784"/>
            <a:ext cx="3931920" cy="237744"/>
          </a:xfrm>
          <a:prstGeom prst="rect">
            <a:avLst/>
          </a:prstGeom>
          <a:noFill/>
          <a:ln/>
        </p:spPr>
        <p:txBody>
          <a:bodyPr wrap="square" lIns="0" tIns="0" rIns="0" bIns="0" rtlCol="0" anchor="t"/>
          <a:lstStyle/>
          <a:p>
            <a:pPr indent="0" marL="0">
              <a:lnSpc>
                <a:spcPts val="1100"/>
              </a:lnSpc>
              <a:buNone/>
            </a:pPr>
            <a:r>
              <a:rPr lang="en-US" sz="950" dirty="0">
                <a:solidFill>
                  <a:srgbClr val="D5E5ED"/>
                </a:solidFill>
                <a:latin typeface="Calibri" pitchFamily="34" charset="0"/>
                <a:ea typeface="Calibri" pitchFamily="34" charset="-122"/>
                <a:cs typeface="Calibri" pitchFamily="34" charset="-120"/>
              </a:rPr>
              <a:t>One NVIDIA RTX PRO 6000 (96 GB) serves the full model with cache headroom</a:t>
            </a:r>
            <a:endParaRPr lang="en-US" sz="950" dirty="0"/>
          </a:p>
        </p:txBody>
      </p:sp>
      <p:sp>
        <p:nvSpPr>
          <p:cNvPr id="33" name="Text 30"/>
          <p:cNvSpPr txBox="1"/>
          <p:nvPr/>
        </p:nvSpPr>
        <p:spPr>
          <a:xfrm>
            <a:off x="6510528" y="3086100"/>
            <a:ext cx="960120" cy="219456"/>
          </a:xfrm>
          <a:prstGeom prst="rect">
            <a:avLst/>
          </a:prstGeom>
          <a:noFill/>
          <a:ln/>
        </p:spPr>
        <p:txBody>
          <a:bodyPr wrap="square" lIns="0" tIns="0" rIns="0" bIns="0" rtlCol="0" anchor="t"/>
          <a:lstStyle/>
          <a:p>
            <a:pPr indent="0" marL="0">
              <a:buNone/>
            </a:pPr>
            <a:r>
              <a:rPr lang="en-US" sz="900" b="1" dirty="0">
                <a:solidFill>
                  <a:srgbClr val="8FC3D9"/>
                </a:solidFill>
                <a:latin typeface="Calibri" pitchFamily="34" charset="0"/>
                <a:ea typeface="Calibri" pitchFamily="34" charset="-122"/>
                <a:cs typeface="Calibri" pitchFamily="34" charset="-120"/>
              </a:rPr>
              <a:t>Scaling</a:t>
            </a:r>
            <a:endParaRPr lang="en-US" sz="900" dirty="0"/>
          </a:p>
        </p:txBody>
      </p:sp>
      <p:sp>
        <p:nvSpPr>
          <p:cNvPr id="34" name="Text 31"/>
          <p:cNvSpPr txBox="1"/>
          <p:nvPr/>
        </p:nvSpPr>
        <p:spPr>
          <a:xfrm>
            <a:off x="7488936" y="3086100"/>
            <a:ext cx="3931920" cy="237744"/>
          </a:xfrm>
          <a:prstGeom prst="rect">
            <a:avLst/>
          </a:prstGeom>
          <a:noFill/>
          <a:ln/>
        </p:spPr>
        <p:txBody>
          <a:bodyPr wrap="square" lIns="0" tIns="0" rIns="0" bIns="0" rtlCol="0" anchor="t"/>
          <a:lstStyle/>
          <a:p>
            <a:pPr indent="0" marL="0">
              <a:lnSpc>
                <a:spcPts val="1100"/>
              </a:lnSpc>
              <a:buNone/>
            </a:pPr>
            <a:r>
              <a:rPr lang="en-US" sz="950" dirty="0">
                <a:solidFill>
                  <a:srgbClr val="D5E5ED"/>
                </a:solidFill>
                <a:latin typeface="Calibri" pitchFamily="34" charset="0"/>
                <a:ea typeface="Calibri" pitchFamily="34" charset="-122"/>
                <a:cs typeface="Calibri" pitchFamily="34" charset="-120"/>
              </a:rPr>
              <a:t>Node count set by measured concurrent demand, not fixed in advance</a:t>
            </a:r>
            <a:endParaRPr lang="en-US" sz="950" dirty="0"/>
          </a:p>
        </p:txBody>
      </p:sp>
      <p:sp>
        <p:nvSpPr>
          <p:cNvPr id="35" name="Text 32"/>
          <p:cNvSpPr txBox="1"/>
          <p:nvPr/>
        </p:nvSpPr>
        <p:spPr>
          <a:xfrm>
            <a:off x="6510528" y="3328416"/>
            <a:ext cx="960120" cy="219456"/>
          </a:xfrm>
          <a:prstGeom prst="rect">
            <a:avLst/>
          </a:prstGeom>
          <a:noFill/>
          <a:ln/>
        </p:spPr>
        <p:txBody>
          <a:bodyPr wrap="square" lIns="0" tIns="0" rIns="0" bIns="0" rtlCol="0" anchor="t"/>
          <a:lstStyle/>
          <a:p>
            <a:pPr indent="0" marL="0">
              <a:buNone/>
            </a:pPr>
            <a:r>
              <a:rPr lang="en-US" sz="900" b="1" dirty="0">
                <a:solidFill>
                  <a:srgbClr val="8FC3D9"/>
                </a:solidFill>
                <a:latin typeface="Calibri" pitchFamily="34" charset="0"/>
                <a:ea typeface="Calibri" pitchFamily="34" charset="-122"/>
                <a:cs typeface="Calibri" pitchFamily="34" charset="-120"/>
              </a:rPr>
              <a:t>Growth</a:t>
            </a:r>
            <a:endParaRPr lang="en-US" sz="900" dirty="0"/>
          </a:p>
        </p:txBody>
      </p:sp>
      <p:sp>
        <p:nvSpPr>
          <p:cNvPr id="36" name="Text 33"/>
          <p:cNvSpPr txBox="1"/>
          <p:nvPr/>
        </p:nvSpPr>
        <p:spPr>
          <a:xfrm>
            <a:off x="7488936" y="3328416"/>
            <a:ext cx="3931920" cy="237744"/>
          </a:xfrm>
          <a:prstGeom prst="rect">
            <a:avLst/>
          </a:prstGeom>
          <a:noFill/>
          <a:ln/>
        </p:spPr>
        <p:txBody>
          <a:bodyPr wrap="square" lIns="0" tIns="0" rIns="0" bIns="0" rtlCol="0" anchor="t"/>
          <a:lstStyle/>
          <a:p>
            <a:pPr indent="0" marL="0">
              <a:lnSpc>
                <a:spcPts val="1100"/>
              </a:lnSpc>
              <a:buNone/>
            </a:pPr>
            <a:r>
              <a:rPr lang="en-US" sz="950" dirty="0">
                <a:solidFill>
                  <a:srgbClr val="D5E5ED"/>
                </a:solidFill>
                <a:latin typeface="Calibri" pitchFamily="34" charset="0"/>
                <a:ea typeface="Calibri" pitchFamily="34" charset="-122"/>
                <a:cs typeface="Calibri" pitchFamily="34" charset="-120"/>
              </a:rPr>
              <a:t>Adding district offices adds nodes, never a re-architecture</a:t>
            </a:r>
            <a:endParaRPr lang="en-US" sz="950" dirty="0"/>
          </a:p>
        </p:txBody>
      </p:sp>
      <p:sp>
        <p:nvSpPr>
          <p:cNvPr id="37" name="Text 34"/>
          <p:cNvSpPr txBox="1"/>
          <p:nvPr/>
        </p:nvSpPr>
        <p:spPr>
          <a:xfrm>
            <a:off x="6510528" y="3570732"/>
            <a:ext cx="960120" cy="219456"/>
          </a:xfrm>
          <a:prstGeom prst="rect">
            <a:avLst/>
          </a:prstGeom>
          <a:noFill/>
          <a:ln/>
        </p:spPr>
        <p:txBody>
          <a:bodyPr wrap="square" lIns="0" tIns="0" rIns="0" bIns="0" rtlCol="0" anchor="t"/>
          <a:lstStyle/>
          <a:p>
            <a:pPr indent="0" marL="0">
              <a:buNone/>
            </a:pPr>
            <a:r>
              <a:rPr lang="en-US" sz="900" b="1" dirty="0">
                <a:solidFill>
                  <a:srgbClr val="8FC3D9"/>
                </a:solidFill>
                <a:latin typeface="Calibri" pitchFamily="34" charset="0"/>
                <a:ea typeface="Calibri" pitchFamily="34" charset="-122"/>
                <a:cs typeface="Calibri" pitchFamily="34" charset="-120"/>
              </a:rPr>
              <a:t>Supporting</a:t>
            </a:r>
            <a:endParaRPr lang="en-US" sz="900" dirty="0"/>
          </a:p>
        </p:txBody>
      </p:sp>
      <p:sp>
        <p:nvSpPr>
          <p:cNvPr id="38" name="Text 35"/>
          <p:cNvSpPr txBox="1"/>
          <p:nvPr/>
        </p:nvSpPr>
        <p:spPr>
          <a:xfrm>
            <a:off x="7488936" y="3570732"/>
            <a:ext cx="3931920" cy="237744"/>
          </a:xfrm>
          <a:prstGeom prst="rect">
            <a:avLst/>
          </a:prstGeom>
          <a:noFill/>
          <a:ln/>
        </p:spPr>
        <p:txBody>
          <a:bodyPr wrap="square" lIns="0" tIns="0" rIns="0" bIns="0" rtlCol="0" anchor="t"/>
          <a:lstStyle/>
          <a:p>
            <a:pPr indent="0" marL="0">
              <a:lnSpc>
                <a:spcPts val="1100"/>
              </a:lnSpc>
              <a:buNone/>
            </a:pPr>
            <a:r>
              <a:rPr lang="en-US" sz="950" dirty="0">
                <a:solidFill>
                  <a:srgbClr val="D5E5ED"/>
                </a:solidFill>
                <a:latin typeface="Calibri" pitchFamily="34" charset="0"/>
                <a:ea typeface="Calibri" pitchFamily="34" charset="-122"/>
                <a:cs typeface="Calibri" pitchFamily="34" charset="-120"/>
              </a:rPr>
              <a:t>Application and database servers, NVMe for corpus and media, backup target</a:t>
            </a:r>
            <a:endParaRPr lang="en-US" sz="950" dirty="0"/>
          </a:p>
        </p:txBody>
      </p:sp>
      <p:sp>
        <p:nvSpPr>
          <p:cNvPr id="39" name="Shape 36"/>
          <p:cNvSpPr/>
          <p:nvPr/>
        </p:nvSpPr>
        <p:spPr>
          <a:xfrm>
            <a:off x="566928" y="4041648"/>
            <a:ext cx="2585466" cy="1316736"/>
          </a:xfrm>
          <a:prstGeom prst="roundRect">
            <a:avLst>
              <a:gd name="adj" fmla="val 4861"/>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40" name="Text 37"/>
          <p:cNvSpPr txBox="1"/>
          <p:nvPr/>
        </p:nvSpPr>
        <p:spPr>
          <a:xfrm>
            <a:off x="768096" y="4187952"/>
            <a:ext cx="2183130" cy="402336"/>
          </a:xfrm>
          <a:prstGeom prst="rect">
            <a:avLst/>
          </a:prstGeom>
          <a:noFill/>
          <a:ln/>
        </p:spPr>
        <p:txBody>
          <a:bodyPr wrap="square" lIns="0" tIns="0" rIns="0" bIns="0" rtlCol="0" anchor="ctr"/>
          <a:lstStyle/>
          <a:p>
            <a:pPr indent="0" marL="0">
              <a:buNone/>
            </a:pPr>
            <a:r>
              <a:rPr lang="en-US" sz="2200" b="1" dirty="0">
                <a:solidFill>
                  <a:srgbClr val="C2690F"/>
                </a:solidFill>
                <a:latin typeface="Cambria" pitchFamily="34" charset="0"/>
                <a:ea typeface="Cambria" pitchFamily="34" charset="-122"/>
                <a:cs typeface="Cambria" pitchFamily="34" charset="-120"/>
              </a:rPr>
              <a:t>66 GB</a:t>
            </a:r>
            <a:endParaRPr lang="en-US" sz="2200" dirty="0"/>
          </a:p>
        </p:txBody>
      </p:sp>
      <p:sp>
        <p:nvSpPr>
          <p:cNvPr id="41" name="Text 38"/>
          <p:cNvSpPr txBox="1"/>
          <p:nvPr/>
        </p:nvSpPr>
        <p:spPr>
          <a:xfrm>
            <a:off x="768096" y="4608576"/>
            <a:ext cx="2183130" cy="694944"/>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Qwen3-32B weights at BF16 — one RTX PRO 6000 holds the whole model with ≈ 30 GB left for cache</a:t>
            </a:r>
            <a:endParaRPr lang="en-US" sz="900" dirty="0"/>
          </a:p>
        </p:txBody>
      </p:sp>
      <p:sp>
        <p:nvSpPr>
          <p:cNvPr id="42" name="Shape 39"/>
          <p:cNvSpPr/>
          <p:nvPr/>
        </p:nvSpPr>
        <p:spPr>
          <a:xfrm>
            <a:off x="3390138" y="4041648"/>
            <a:ext cx="2585466" cy="1316736"/>
          </a:xfrm>
          <a:prstGeom prst="roundRect">
            <a:avLst>
              <a:gd name="adj" fmla="val 4861"/>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43" name="Text 40"/>
          <p:cNvSpPr txBox="1"/>
          <p:nvPr/>
        </p:nvSpPr>
        <p:spPr>
          <a:xfrm>
            <a:off x="3591306" y="4187952"/>
            <a:ext cx="2183130" cy="402336"/>
          </a:xfrm>
          <a:prstGeom prst="rect">
            <a:avLst/>
          </a:prstGeom>
          <a:noFill/>
          <a:ln/>
        </p:spPr>
        <p:txBody>
          <a:bodyPr wrap="square" lIns="0" tIns="0" rIns="0" bIns="0" rtlCol="0" anchor="ctr"/>
          <a:lstStyle/>
          <a:p>
            <a:pPr indent="0" marL="0">
              <a:buNone/>
            </a:pPr>
            <a:r>
              <a:rPr lang="en-US" sz="2200" b="1" dirty="0">
                <a:solidFill>
                  <a:srgbClr val="C2690F"/>
                </a:solidFill>
                <a:latin typeface="Cambria" pitchFamily="34" charset="0"/>
                <a:ea typeface="Cambria" pitchFamily="34" charset="-122"/>
                <a:cs typeface="Cambria" pitchFamily="34" charset="-120"/>
              </a:rPr>
              <a:t>≈ 8 GB</a:t>
            </a:r>
            <a:endParaRPr lang="en-US" sz="2200" dirty="0"/>
          </a:p>
        </p:txBody>
      </p:sp>
      <p:sp>
        <p:nvSpPr>
          <p:cNvPr id="44" name="Text 41"/>
          <p:cNvSpPr txBox="1"/>
          <p:nvPr/>
        </p:nvSpPr>
        <p:spPr>
          <a:xfrm>
            <a:off x="3591306" y="4608576"/>
            <a:ext cx="2183130" cy="694944"/>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KV cache per 32K-token session at BF16; ≈ 4 GB with an FP8 cache</a:t>
            </a:r>
            <a:endParaRPr lang="en-US" sz="900" dirty="0"/>
          </a:p>
        </p:txBody>
      </p:sp>
      <p:sp>
        <p:nvSpPr>
          <p:cNvPr id="45" name="Shape 42"/>
          <p:cNvSpPr/>
          <p:nvPr/>
        </p:nvSpPr>
        <p:spPr>
          <a:xfrm>
            <a:off x="6213348" y="4041648"/>
            <a:ext cx="2585466" cy="1316736"/>
          </a:xfrm>
          <a:prstGeom prst="roundRect">
            <a:avLst>
              <a:gd name="adj" fmla="val 4861"/>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46" name="Text 43"/>
          <p:cNvSpPr txBox="1"/>
          <p:nvPr/>
        </p:nvSpPr>
        <p:spPr>
          <a:xfrm>
            <a:off x="6414516" y="4187952"/>
            <a:ext cx="2183130" cy="402336"/>
          </a:xfrm>
          <a:prstGeom prst="rect">
            <a:avLst/>
          </a:prstGeom>
          <a:noFill/>
          <a:ln/>
        </p:spPr>
        <p:txBody>
          <a:bodyPr wrap="square" lIns="0" tIns="0" rIns="0" bIns="0" rtlCol="0" anchor="ctr"/>
          <a:lstStyle/>
          <a:p>
            <a:pPr indent="0" marL="0">
              <a:buNone/>
            </a:pPr>
            <a:r>
              <a:rPr lang="en-US" sz="2200" b="1" dirty="0">
                <a:solidFill>
                  <a:srgbClr val="C2690F"/>
                </a:solidFill>
                <a:latin typeface="Cambria" pitchFamily="34" charset="0"/>
                <a:ea typeface="Cambria" pitchFamily="34" charset="-122"/>
                <a:cs typeface="Cambria" pitchFamily="34" charset="-120"/>
              </a:rPr>
              <a:t>Linear</a:t>
            </a:r>
            <a:endParaRPr lang="en-US" sz="2200" dirty="0"/>
          </a:p>
        </p:txBody>
      </p:sp>
      <p:sp>
        <p:nvSpPr>
          <p:cNvPr id="47" name="Text 44"/>
          <p:cNvSpPr txBox="1"/>
          <p:nvPr/>
        </p:nvSpPr>
        <p:spPr>
          <a:xfrm>
            <a:off x="6414516" y="4608576"/>
            <a:ext cx="2183130" cy="694944"/>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Capacity scales with node count — throughput is added, the design is never revisited</a:t>
            </a:r>
            <a:endParaRPr lang="en-US" sz="900" dirty="0"/>
          </a:p>
        </p:txBody>
      </p:sp>
      <p:sp>
        <p:nvSpPr>
          <p:cNvPr id="48" name="Shape 45"/>
          <p:cNvSpPr/>
          <p:nvPr/>
        </p:nvSpPr>
        <p:spPr>
          <a:xfrm>
            <a:off x="9036558" y="4041648"/>
            <a:ext cx="2585466" cy="1316736"/>
          </a:xfrm>
          <a:prstGeom prst="roundRect">
            <a:avLst>
              <a:gd name="adj" fmla="val 4861"/>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49" name="Text 46"/>
          <p:cNvSpPr txBox="1"/>
          <p:nvPr/>
        </p:nvSpPr>
        <p:spPr>
          <a:xfrm>
            <a:off x="9237726" y="4187952"/>
            <a:ext cx="2183130" cy="402336"/>
          </a:xfrm>
          <a:prstGeom prst="rect">
            <a:avLst/>
          </a:prstGeom>
          <a:noFill/>
          <a:ln/>
        </p:spPr>
        <p:txBody>
          <a:bodyPr wrap="square" lIns="0" tIns="0" rIns="0" bIns="0" rtlCol="0" anchor="ctr"/>
          <a:lstStyle/>
          <a:p>
            <a:pPr indent="0" marL="0">
              <a:buNone/>
            </a:pPr>
            <a:r>
              <a:rPr lang="en-US" sz="2200" b="1" dirty="0">
                <a:solidFill>
                  <a:srgbClr val="C2690F"/>
                </a:solidFill>
                <a:latin typeface="Cambria" pitchFamily="34" charset="0"/>
                <a:ea typeface="Cambria" pitchFamily="34" charset="-122"/>
                <a:cs typeface="Cambria" pitchFamily="34" charset="-120"/>
              </a:rPr>
              <a:t>Zero</a:t>
            </a:r>
            <a:endParaRPr lang="en-US" sz="2200" dirty="0"/>
          </a:p>
        </p:txBody>
      </p:sp>
      <p:sp>
        <p:nvSpPr>
          <p:cNvPr id="50" name="Text 47"/>
          <p:cNvSpPr txBox="1"/>
          <p:nvPr/>
        </p:nvSpPr>
        <p:spPr>
          <a:xfrm>
            <a:off x="9237726" y="4608576"/>
            <a:ext cx="2183130" cy="694944"/>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architecture changes needed to go from a single office to all 36</a:t>
            </a:r>
            <a:endParaRPr lang="en-US" sz="900" dirty="0"/>
          </a:p>
        </p:txBody>
      </p:sp>
      <p:sp>
        <p:nvSpPr>
          <p:cNvPr id="51" name="Shape 48"/>
          <p:cNvSpPr/>
          <p:nvPr/>
        </p:nvSpPr>
        <p:spPr>
          <a:xfrm>
            <a:off x="566928" y="5504688"/>
            <a:ext cx="11055096" cy="749808"/>
          </a:xfrm>
          <a:prstGeom prst="roundRect">
            <a:avLst>
              <a:gd name="adj" fmla="val 8537"/>
            </a:avLst>
          </a:prstGeom>
          <a:solidFill>
            <a:srgbClr val="FBEEDC"/>
          </a:solidFill>
          <a:ln w="9525">
            <a:solidFill>
              <a:srgbClr val="EBD3AE"/>
            </a:solidFill>
            <a:prstDash val="solid"/>
          </a:ln>
          <a:effectLst>
            <a:outerShdw sx="100000" sy="100000" kx="0" ky="0" algn="bl" rotWithShape="0" blurRad="101600" dist="12700" dir="5400000">
              <a:srgbClr val="0F2B46">
                <a:alpha val="8000"/>
              </a:srgbClr>
            </a:outerShdw>
          </a:effectLst>
        </p:spPr>
      </p:sp>
      <p:sp>
        <p:nvSpPr>
          <p:cNvPr id="52" name="Text 49"/>
          <p:cNvSpPr txBox="1"/>
          <p:nvPr/>
        </p:nvSpPr>
        <p:spPr>
          <a:xfrm>
            <a:off x="841248" y="5632704"/>
            <a:ext cx="10515600" cy="512064"/>
          </a:xfrm>
          <a:prstGeom prst="rect">
            <a:avLst/>
          </a:prstGeom>
          <a:noFill/>
          <a:ln/>
        </p:spPr>
        <p:txBody>
          <a:bodyPr wrap="square" lIns="0" tIns="0" rIns="0" bIns="0" rtlCol="0" anchor="ctr"/>
          <a:lstStyle/>
          <a:p>
            <a:pPr indent="0" marL="0">
              <a:lnSpc>
                <a:spcPts val="1350"/>
              </a:lnSpc>
              <a:buNone/>
            </a:pPr>
            <a:r>
              <a:rPr lang="en-US" sz="1050" dirty="0">
                <a:solidFill>
                  <a:srgbClr val="33424E"/>
                </a:solidFill>
                <a:latin typeface="Calibri" pitchFamily="34" charset="0"/>
                <a:ea typeface="Calibri" pitchFamily="34" charset="-122"/>
                <a:cs typeface="Calibri" pitchFamily="34" charset="-120"/>
              </a:rPr>
              <a:t>We do not fix a GPU count in advance, because a fixed number is either wasted capital or a ceiling. We state what one node delivers, benchmark on the department's own hardware, and size the cluster from measured demand. Per-node arithmetic is in the annexure.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5</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How the model gets better: the data flywheel</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12</a:t>
            </a:r>
            <a:endParaRPr lang="en-US" sz="850" dirty="0"/>
          </a:p>
        </p:txBody>
      </p:sp>
      <p:sp>
        <p:nvSpPr>
          <p:cNvPr id="7" name="Shape 4"/>
          <p:cNvSpPr/>
          <p:nvPr/>
        </p:nvSpPr>
        <p:spPr>
          <a:xfrm>
            <a:off x="566928" y="1444752"/>
            <a:ext cx="2530602" cy="969264"/>
          </a:xfrm>
          <a:prstGeom prst="roundRect">
            <a:avLst>
              <a:gd name="adj" fmla="val 6604"/>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8" name="Shape 5"/>
          <p:cNvSpPr/>
          <p:nvPr/>
        </p:nvSpPr>
        <p:spPr>
          <a:xfrm>
            <a:off x="749808" y="1591056"/>
            <a:ext cx="329184" cy="329184"/>
          </a:xfrm>
          <a:prstGeom prst="ellipse">
            <a:avLst/>
          </a:prstGeom>
          <a:solidFill>
            <a:srgbClr val="1C7293"/>
          </a:solidFill>
          <a:ln w="6350">
            <a:solidFill>
              <a:srgbClr val="1C7293"/>
            </a:solidFill>
            <a:prstDash val="solid"/>
          </a:ln>
        </p:spPr>
      </p:sp>
      <p:sp>
        <p:nvSpPr>
          <p:cNvPr id="9" name="Text 6"/>
          <p:cNvSpPr txBox="1"/>
          <p:nvPr/>
        </p:nvSpPr>
        <p:spPr>
          <a:xfrm>
            <a:off x="749808" y="1591056"/>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0" name="Text 7"/>
          <p:cNvSpPr txBox="1"/>
          <p:nvPr/>
        </p:nvSpPr>
        <p:spPr>
          <a:xfrm>
            <a:off x="1170432" y="1609344"/>
            <a:ext cx="1744218" cy="274320"/>
          </a:xfrm>
          <a:prstGeom prst="rect">
            <a:avLst/>
          </a:prstGeom>
          <a:noFill/>
          <a:ln/>
        </p:spPr>
        <p:txBody>
          <a:bodyPr wrap="square" lIns="0" tIns="0" rIns="0" bIns="0" rtlCol="0" anchor="ctr"/>
          <a:lstStyle/>
          <a:p>
            <a:pPr indent="0" marL="0">
              <a:buNone/>
            </a:pPr>
            <a:r>
              <a:rPr lang="en-US" sz="1150" b="1" dirty="0">
                <a:solidFill>
                  <a:srgbClr val="0F2B46"/>
                </a:solidFill>
                <a:latin typeface="Cambria" pitchFamily="34" charset="0"/>
                <a:ea typeface="Cambria" pitchFamily="34" charset="-122"/>
                <a:cs typeface="Cambria" pitchFamily="34" charset="-120"/>
              </a:rPr>
              <a:t>Officer submits source</a:t>
            </a:r>
            <a:endParaRPr lang="en-US" sz="1150" dirty="0"/>
          </a:p>
        </p:txBody>
      </p:sp>
      <p:sp>
        <p:nvSpPr>
          <p:cNvPr id="11" name="Text 8"/>
          <p:cNvSpPr txBox="1"/>
          <p:nvPr/>
        </p:nvSpPr>
        <p:spPr>
          <a:xfrm>
            <a:off x="749808" y="1956816"/>
            <a:ext cx="2164842" cy="384048"/>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Verified note, GR, transcript or scanned document</a:t>
            </a:r>
            <a:endParaRPr lang="en-US" sz="850" dirty="0"/>
          </a:p>
        </p:txBody>
      </p:sp>
      <p:sp>
        <p:nvSpPr>
          <p:cNvPr id="12" name="Shape 9"/>
          <p:cNvSpPr/>
          <p:nvPr/>
        </p:nvSpPr>
        <p:spPr>
          <a:xfrm>
            <a:off x="3152394" y="1929384"/>
            <a:ext cx="201168" cy="0"/>
          </a:xfrm>
          <a:prstGeom prst="line">
            <a:avLst/>
          </a:prstGeom>
          <a:noFill/>
          <a:ln w="19050">
            <a:solidFill>
              <a:srgbClr val="1C7293"/>
            </a:solidFill>
            <a:prstDash val="solid"/>
            <a:tailEnd type="triangle"/>
          </a:ln>
        </p:spPr>
      </p:sp>
      <p:sp>
        <p:nvSpPr>
          <p:cNvPr id="13" name="Shape 10"/>
          <p:cNvSpPr/>
          <p:nvPr/>
        </p:nvSpPr>
        <p:spPr>
          <a:xfrm>
            <a:off x="3408426" y="1444752"/>
            <a:ext cx="2530602" cy="969264"/>
          </a:xfrm>
          <a:prstGeom prst="roundRect">
            <a:avLst>
              <a:gd name="adj" fmla="val 6604"/>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4" name="Shape 11"/>
          <p:cNvSpPr/>
          <p:nvPr/>
        </p:nvSpPr>
        <p:spPr>
          <a:xfrm>
            <a:off x="3591306" y="1591056"/>
            <a:ext cx="329184" cy="329184"/>
          </a:xfrm>
          <a:prstGeom prst="ellipse">
            <a:avLst/>
          </a:prstGeom>
          <a:solidFill>
            <a:srgbClr val="1C7293"/>
          </a:solidFill>
          <a:ln w="6350">
            <a:solidFill>
              <a:srgbClr val="1C7293"/>
            </a:solidFill>
            <a:prstDash val="solid"/>
          </a:ln>
        </p:spPr>
      </p:sp>
      <p:sp>
        <p:nvSpPr>
          <p:cNvPr id="15" name="Text 12"/>
          <p:cNvSpPr txBox="1"/>
          <p:nvPr/>
        </p:nvSpPr>
        <p:spPr>
          <a:xfrm>
            <a:off x="3591306" y="1591056"/>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3"/>
          <p:cNvSpPr txBox="1"/>
          <p:nvPr/>
        </p:nvSpPr>
        <p:spPr>
          <a:xfrm>
            <a:off x="4011930" y="1609344"/>
            <a:ext cx="1744218" cy="274320"/>
          </a:xfrm>
          <a:prstGeom prst="rect">
            <a:avLst/>
          </a:prstGeom>
          <a:noFill/>
          <a:ln/>
        </p:spPr>
        <p:txBody>
          <a:bodyPr wrap="square" lIns="0" tIns="0" rIns="0" bIns="0" rtlCol="0" anchor="ctr"/>
          <a:lstStyle/>
          <a:p>
            <a:pPr indent="0" marL="0">
              <a:buNone/>
            </a:pPr>
            <a:r>
              <a:rPr lang="en-US" sz="1150" b="1" dirty="0">
                <a:solidFill>
                  <a:srgbClr val="0F2B46"/>
                </a:solidFill>
                <a:latin typeface="Cambria" pitchFamily="34" charset="0"/>
                <a:ea typeface="Cambria" pitchFamily="34" charset="-122"/>
                <a:cs typeface="Cambria" pitchFamily="34" charset="-120"/>
              </a:rPr>
              <a:t>Qwen3-32B drafts</a:t>
            </a:r>
            <a:endParaRPr lang="en-US" sz="1150" dirty="0"/>
          </a:p>
        </p:txBody>
      </p:sp>
      <p:sp>
        <p:nvSpPr>
          <p:cNvPr id="17" name="Text 14"/>
          <p:cNvSpPr txBox="1"/>
          <p:nvPr/>
        </p:nvSpPr>
        <p:spPr>
          <a:xfrm>
            <a:off x="3591306" y="1956816"/>
            <a:ext cx="2164842" cy="384048"/>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Marathi article generated from facts plus retrieved style</a:t>
            </a:r>
            <a:endParaRPr lang="en-US" sz="850" dirty="0"/>
          </a:p>
        </p:txBody>
      </p:sp>
      <p:sp>
        <p:nvSpPr>
          <p:cNvPr id="18" name="Shape 15"/>
          <p:cNvSpPr/>
          <p:nvPr/>
        </p:nvSpPr>
        <p:spPr>
          <a:xfrm>
            <a:off x="5993892" y="1929384"/>
            <a:ext cx="201168" cy="0"/>
          </a:xfrm>
          <a:prstGeom prst="line">
            <a:avLst/>
          </a:prstGeom>
          <a:noFill/>
          <a:ln w="19050">
            <a:solidFill>
              <a:srgbClr val="1C7293"/>
            </a:solidFill>
            <a:prstDash val="solid"/>
            <a:tailEnd type="triangle"/>
          </a:ln>
        </p:spPr>
      </p:sp>
      <p:sp>
        <p:nvSpPr>
          <p:cNvPr id="19" name="Shape 16"/>
          <p:cNvSpPr/>
          <p:nvPr/>
        </p:nvSpPr>
        <p:spPr>
          <a:xfrm>
            <a:off x="6249924" y="1444752"/>
            <a:ext cx="2530602" cy="969264"/>
          </a:xfrm>
          <a:prstGeom prst="roundRect">
            <a:avLst>
              <a:gd name="adj" fmla="val 6604"/>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0" name="Shape 17"/>
          <p:cNvSpPr/>
          <p:nvPr/>
        </p:nvSpPr>
        <p:spPr>
          <a:xfrm>
            <a:off x="6432804" y="1591056"/>
            <a:ext cx="329184" cy="329184"/>
          </a:xfrm>
          <a:prstGeom prst="ellipse">
            <a:avLst/>
          </a:prstGeom>
          <a:solidFill>
            <a:srgbClr val="1C7293"/>
          </a:solidFill>
          <a:ln w="6350">
            <a:solidFill>
              <a:srgbClr val="1C7293"/>
            </a:solidFill>
            <a:prstDash val="solid"/>
          </a:ln>
        </p:spPr>
      </p:sp>
      <p:sp>
        <p:nvSpPr>
          <p:cNvPr id="21" name="Text 18"/>
          <p:cNvSpPr txBox="1"/>
          <p:nvPr/>
        </p:nvSpPr>
        <p:spPr>
          <a:xfrm>
            <a:off x="6432804" y="1591056"/>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2" name="Text 19"/>
          <p:cNvSpPr txBox="1"/>
          <p:nvPr/>
        </p:nvSpPr>
        <p:spPr>
          <a:xfrm>
            <a:off x="6853428" y="1609344"/>
            <a:ext cx="1744218" cy="274320"/>
          </a:xfrm>
          <a:prstGeom prst="rect">
            <a:avLst/>
          </a:prstGeom>
          <a:noFill/>
          <a:ln/>
        </p:spPr>
        <p:txBody>
          <a:bodyPr wrap="square" lIns="0" tIns="0" rIns="0" bIns="0" rtlCol="0" anchor="ctr"/>
          <a:lstStyle/>
          <a:p>
            <a:pPr indent="0" marL="0">
              <a:buNone/>
            </a:pPr>
            <a:r>
              <a:rPr lang="en-US" sz="1150" b="1" dirty="0">
                <a:solidFill>
                  <a:srgbClr val="0F2B46"/>
                </a:solidFill>
                <a:latin typeface="Cambria" pitchFamily="34" charset="0"/>
                <a:ea typeface="Cambria" pitchFamily="34" charset="-122"/>
                <a:cs typeface="Cambria" pitchFamily="34" charset="-120"/>
              </a:rPr>
              <a:t>Officer edits and approves</a:t>
            </a:r>
            <a:endParaRPr lang="en-US" sz="1150" dirty="0"/>
          </a:p>
        </p:txBody>
      </p:sp>
      <p:sp>
        <p:nvSpPr>
          <p:cNvPr id="23" name="Text 20"/>
          <p:cNvSpPr txBox="1"/>
          <p:nvPr/>
        </p:nvSpPr>
        <p:spPr>
          <a:xfrm>
            <a:off x="6432804" y="1956816"/>
            <a:ext cx="2164842" cy="384048"/>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Feedback, revision, sign-off — the work already done today</a:t>
            </a:r>
            <a:endParaRPr lang="en-US" sz="850" dirty="0"/>
          </a:p>
        </p:txBody>
      </p:sp>
      <p:sp>
        <p:nvSpPr>
          <p:cNvPr id="24" name="Shape 21"/>
          <p:cNvSpPr/>
          <p:nvPr/>
        </p:nvSpPr>
        <p:spPr>
          <a:xfrm>
            <a:off x="8835390" y="1929384"/>
            <a:ext cx="201168" cy="0"/>
          </a:xfrm>
          <a:prstGeom prst="line">
            <a:avLst/>
          </a:prstGeom>
          <a:noFill/>
          <a:ln w="19050">
            <a:solidFill>
              <a:srgbClr val="1C7293"/>
            </a:solidFill>
            <a:prstDash val="solid"/>
            <a:tailEnd type="triangle"/>
          </a:ln>
        </p:spPr>
      </p:sp>
      <p:sp>
        <p:nvSpPr>
          <p:cNvPr id="25" name="Shape 22"/>
          <p:cNvSpPr/>
          <p:nvPr/>
        </p:nvSpPr>
        <p:spPr>
          <a:xfrm>
            <a:off x="9091422" y="1444752"/>
            <a:ext cx="2530602" cy="969264"/>
          </a:xfrm>
          <a:prstGeom prst="roundRect">
            <a:avLst>
              <a:gd name="adj" fmla="val 6604"/>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6" name="Shape 23"/>
          <p:cNvSpPr/>
          <p:nvPr/>
        </p:nvSpPr>
        <p:spPr>
          <a:xfrm>
            <a:off x="9274302" y="1591056"/>
            <a:ext cx="329184" cy="329184"/>
          </a:xfrm>
          <a:prstGeom prst="ellipse">
            <a:avLst/>
          </a:prstGeom>
          <a:solidFill>
            <a:srgbClr val="1C7293"/>
          </a:solidFill>
          <a:ln w="6350">
            <a:solidFill>
              <a:srgbClr val="1C7293"/>
            </a:solidFill>
            <a:prstDash val="solid"/>
          </a:ln>
        </p:spPr>
      </p:sp>
      <p:sp>
        <p:nvSpPr>
          <p:cNvPr id="27" name="Text 24"/>
          <p:cNvSpPr txBox="1"/>
          <p:nvPr/>
        </p:nvSpPr>
        <p:spPr>
          <a:xfrm>
            <a:off x="9274302" y="1591056"/>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8" name="Text 25"/>
          <p:cNvSpPr txBox="1"/>
          <p:nvPr/>
        </p:nvSpPr>
        <p:spPr>
          <a:xfrm>
            <a:off x="9694926" y="1609344"/>
            <a:ext cx="1744218" cy="274320"/>
          </a:xfrm>
          <a:prstGeom prst="rect">
            <a:avLst/>
          </a:prstGeom>
          <a:noFill/>
          <a:ln/>
        </p:spPr>
        <p:txBody>
          <a:bodyPr wrap="square" lIns="0" tIns="0" rIns="0" bIns="0" rtlCol="0" anchor="ctr"/>
          <a:lstStyle/>
          <a:p>
            <a:pPr indent="0" marL="0">
              <a:buNone/>
            </a:pPr>
            <a:r>
              <a:rPr lang="en-US" sz="1150" b="1" dirty="0">
                <a:solidFill>
                  <a:srgbClr val="0F2B46"/>
                </a:solidFill>
                <a:latin typeface="Cambria" pitchFamily="34" charset="0"/>
                <a:ea typeface="Cambria" pitchFamily="34" charset="-122"/>
                <a:cs typeface="Cambria" pitchFamily="34" charset="-120"/>
              </a:rPr>
              <a:t>Article is published</a:t>
            </a:r>
            <a:endParaRPr lang="en-US" sz="1150" dirty="0"/>
          </a:p>
        </p:txBody>
      </p:sp>
      <p:sp>
        <p:nvSpPr>
          <p:cNvPr id="29" name="Text 26"/>
          <p:cNvSpPr txBox="1"/>
          <p:nvPr/>
        </p:nvSpPr>
        <p:spPr>
          <a:xfrm>
            <a:off x="9274302" y="1956816"/>
            <a:ext cx="2164842" cy="384048"/>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Approved output goes to Mahasamvad and social channels</a:t>
            </a:r>
            <a:endParaRPr lang="en-US" sz="850" dirty="0"/>
          </a:p>
        </p:txBody>
      </p:sp>
      <p:sp>
        <p:nvSpPr>
          <p:cNvPr id="30" name="Shape 27"/>
          <p:cNvSpPr/>
          <p:nvPr/>
        </p:nvSpPr>
        <p:spPr>
          <a:xfrm>
            <a:off x="3931920" y="2487168"/>
            <a:ext cx="0" cy="274320"/>
          </a:xfrm>
          <a:prstGeom prst="line">
            <a:avLst/>
          </a:prstGeom>
          <a:noFill/>
          <a:ln w="19050">
            <a:solidFill>
              <a:srgbClr val="1C7293"/>
            </a:solidFill>
            <a:prstDash val="solid"/>
            <a:tailEnd type="triangle"/>
          </a:ln>
        </p:spPr>
      </p:sp>
      <p:sp>
        <p:nvSpPr>
          <p:cNvPr id="31" name="Shape 28"/>
          <p:cNvSpPr/>
          <p:nvPr/>
        </p:nvSpPr>
        <p:spPr>
          <a:xfrm>
            <a:off x="8257032" y="2487168"/>
            <a:ext cx="0" cy="274320"/>
          </a:xfrm>
          <a:prstGeom prst="line">
            <a:avLst/>
          </a:prstGeom>
          <a:noFill/>
          <a:ln w="19050">
            <a:solidFill>
              <a:srgbClr val="1C7293"/>
            </a:solidFill>
            <a:prstDash val="solid"/>
            <a:tailEnd type="triangle"/>
          </a:ln>
        </p:spPr>
      </p:sp>
      <p:sp>
        <p:nvSpPr>
          <p:cNvPr id="32" name="Shape 29"/>
          <p:cNvSpPr/>
          <p:nvPr/>
        </p:nvSpPr>
        <p:spPr>
          <a:xfrm>
            <a:off x="566928" y="2816352"/>
            <a:ext cx="5367528" cy="1024128"/>
          </a:xfrm>
          <a:prstGeom prst="roundRect">
            <a:avLst>
              <a:gd name="adj" fmla="val 6250"/>
            </a:avLst>
          </a:prstGeom>
          <a:solidFill>
            <a:srgbClr val="E4EEF3"/>
          </a:solidFill>
          <a:ln w="9525">
            <a:solidFill>
              <a:srgbClr val="BFD8E3"/>
            </a:solidFill>
            <a:prstDash val="solid"/>
          </a:ln>
          <a:effectLst>
            <a:outerShdw sx="100000" sy="100000" kx="0" ky="0" algn="bl" rotWithShape="0" blurRad="101600" dist="12700" dir="5400000">
              <a:srgbClr val="0F2B46">
                <a:alpha val="8000"/>
              </a:srgbClr>
            </a:outerShdw>
          </a:effectLst>
        </p:spPr>
      </p:sp>
      <p:sp>
        <p:nvSpPr>
          <p:cNvPr id="33" name="Text 30"/>
          <p:cNvSpPr txBox="1"/>
          <p:nvPr/>
        </p:nvSpPr>
        <p:spPr>
          <a:xfrm>
            <a:off x="804672" y="2944368"/>
            <a:ext cx="4892040" cy="256032"/>
          </a:xfrm>
          <a:prstGeom prst="rect">
            <a:avLst/>
          </a:prstGeom>
          <a:noFill/>
          <a:ln/>
        </p:spPr>
        <p:txBody>
          <a:bodyPr wrap="square" lIns="0" tIns="0" rIns="0" bIns="0" rtlCol="0" anchor="ctr"/>
          <a:lstStyle/>
          <a:p>
            <a:pPr indent="0" marL="0">
              <a:buNone/>
            </a:pPr>
            <a:r>
              <a:rPr lang="en-US" sz="1250" b="1" dirty="0">
                <a:solidFill>
                  <a:srgbClr val="1C7293"/>
                </a:solidFill>
                <a:latin typeface="Cambria" pitchFamily="34" charset="0"/>
                <a:ea typeface="Cambria" pitchFamily="34" charset="-122"/>
                <a:cs typeface="Cambria" pitchFamily="34" charset="-120"/>
              </a:rPr>
              <a:t>Supervised fine-tuning dataset</a:t>
            </a:r>
            <a:endParaRPr lang="en-US" sz="1250" dirty="0"/>
          </a:p>
        </p:txBody>
      </p:sp>
      <p:sp>
        <p:nvSpPr>
          <p:cNvPr id="34" name="Text 31"/>
          <p:cNvSpPr txBox="1"/>
          <p:nvPr/>
        </p:nvSpPr>
        <p:spPr>
          <a:xfrm>
            <a:off x="804672" y="3218688"/>
            <a:ext cx="4892040" cy="493776"/>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Every approved article, paired with the complete source and the officer's instructions. Teaches the house form.</a:t>
            </a:r>
            <a:endParaRPr lang="en-US" sz="950" dirty="0"/>
          </a:p>
        </p:txBody>
      </p:sp>
      <p:sp>
        <p:nvSpPr>
          <p:cNvPr id="35" name="Shape 32"/>
          <p:cNvSpPr/>
          <p:nvPr/>
        </p:nvSpPr>
        <p:spPr>
          <a:xfrm>
            <a:off x="6254496" y="2816352"/>
            <a:ext cx="5367528" cy="1024128"/>
          </a:xfrm>
          <a:prstGeom prst="roundRect">
            <a:avLst>
              <a:gd name="adj" fmla="val 6250"/>
            </a:avLst>
          </a:prstGeom>
          <a:solidFill>
            <a:srgbClr val="FBEEDC"/>
          </a:solidFill>
          <a:ln w="9525">
            <a:solidFill>
              <a:srgbClr val="EBD3AE"/>
            </a:solidFill>
            <a:prstDash val="solid"/>
          </a:ln>
          <a:effectLst>
            <a:outerShdw sx="100000" sy="100000" kx="0" ky="0" algn="bl" rotWithShape="0" blurRad="101600" dist="12700" dir="5400000">
              <a:srgbClr val="0F2B46">
                <a:alpha val="8000"/>
              </a:srgbClr>
            </a:outerShdw>
          </a:effectLst>
        </p:spPr>
      </p:sp>
      <p:sp>
        <p:nvSpPr>
          <p:cNvPr id="36" name="Text 33"/>
          <p:cNvSpPr txBox="1"/>
          <p:nvPr/>
        </p:nvSpPr>
        <p:spPr>
          <a:xfrm>
            <a:off x="6492240" y="2944368"/>
            <a:ext cx="4892040" cy="256032"/>
          </a:xfrm>
          <a:prstGeom prst="rect">
            <a:avLst/>
          </a:prstGeom>
          <a:noFill/>
          <a:ln/>
        </p:spPr>
        <p:txBody>
          <a:bodyPr wrap="square" lIns="0" tIns="0" rIns="0" bIns="0" rtlCol="0" anchor="ctr"/>
          <a:lstStyle/>
          <a:p>
            <a:pPr indent="0" marL="0">
              <a:buNone/>
            </a:pPr>
            <a:r>
              <a:rPr lang="en-US" sz="1250" b="1" dirty="0">
                <a:solidFill>
                  <a:srgbClr val="C2690F"/>
                </a:solidFill>
                <a:latin typeface="Cambria" pitchFamily="34" charset="0"/>
                <a:ea typeface="Cambria" pitchFamily="34" charset="-122"/>
                <a:cs typeface="Cambria" pitchFamily="34" charset="-120"/>
              </a:rPr>
              <a:t>Preference dataset</a:t>
            </a:r>
            <a:endParaRPr lang="en-US" sz="1250" dirty="0"/>
          </a:p>
        </p:txBody>
      </p:sp>
      <p:sp>
        <p:nvSpPr>
          <p:cNvPr id="37" name="Text 34"/>
          <p:cNvSpPr txBox="1"/>
          <p:nvPr/>
        </p:nvSpPr>
        <p:spPr>
          <a:xfrm>
            <a:off x="6492240" y="3218688"/>
            <a:ext cx="4892040" cy="493776"/>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The draft the officer rejected, paired with the version they approved. Teaches which of two fluent drafts is right.</a:t>
            </a:r>
            <a:endParaRPr lang="en-US" sz="950" dirty="0"/>
          </a:p>
        </p:txBody>
      </p:sp>
      <p:sp>
        <p:nvSpPr>
          <p:cNvPr id="38" name="Shape 35"/>
          <p:cNvSpPr/>
          <p:nvPr/>
        </p:nvSpPr>
        <p:spPr>
          <a:xfrm>
            <a:off x="6095848" y="3895344"/>
            <a:ext cx="0" cy="256032"/>
          </a:xfrm>
          <a:prstGeom prst="line">
            <a:avLst/>
          </a:prstGeom>
          <a:noFill/>
          <a:ln w="19050">
            <a:solidFill>
              <a:srgbClr val="1C7293"/>
            </a:solidFill>
            <a:prstDash val="solid"/>
            <a:tailEnd type="triangle"/>
          </a:ln>
        </p:spPr>
      </p:sp>
      <p:sp>
        <p:nvSpPr>
          <p:cNvPr id="39" name="Shape 36"/>
          <p:cNvSpPr/>
          <p:nvPr/>
        </p:nvSpPr>
        <p:spPr>
          <a:xfrm>
            <a:off x="566928" y="4206240"/>
            <a:ext cx="3477768" cy="1042416"/>
          </a:xfrm>
          <a:prstGeom prst="roundRect">
            <a:avLst>
              <a:gd name="adj" fmla="val 614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40" name="Text 37"/>
          <p:cNvSpPr txBox="1"/>
          <p:nvPr/>
        </p:nvSpPr>
        <p:spPr>
          <a:xfrm>
            <a:off x="786384" y="4352544"/>
            <a:ext cx="3038856" cy="274320"/>
          </a:xfrm>
          <a:prstGeom prst="rect">
            <a:avLst/>
          </a:prstGeom>
          <a:noFill/>
          <a:ln/>
        </p:spPr>
        <p:txBody>
          <a:bodyPr wrap="square" lIns="0" tIns="0" rIns="0" bIns="0" rtlCol="0" anchor="ctr"/>
          <a:lstStyle/>
          <a:p>
            <a:pPr indent="0" marL="0">
              <a:buNone/>
            </a:pPr>
            <a:r>
              <a:rPr lang="en-US" sz="1300" b="1" dirty="0">
                <a:solidFill>
                  <a:srgbClr val="0F2B46"/>
                </a:solidFill>
                <a:latin typeface="Cambria" pitchFamily="34" charset="0"/>
                <a:ea typeface="Cambria" pitchFamily="34" charset="-122"/>
                <a:cs typeface="Cambria" pitchFamily="34" charset="-120"/>
              </a:rPr>
              <a:t>Fine-tune</a:t>
            </a:r>
            <a:endParaRPr lang="en-US" sz="1300" dirty="0"/>
          </a:p>
        </p:txBody>
      </p:sp>
      <p:sp>
        <p:nvSpPr>
          <p:cNvPr id="41" name="Text 38"/>
          <p:cNvSpPr txBox="1"/>
          <p:nvPr/>
        </p:nvSpPr>
        <p:spPr>
          <a:xfrm>
            <a:off x="786384" y="4645152"/>
            <a:ext cx="3038856" cy="530352"/>
          </a:xfrm>
          <a:prstGeom prst="rect">
            <a:avLst/>
          </a:prstGeom>
          <a:noFill/>
          <a:ln/>
        </p:spPr>
        <p:txBody>
          <a:bodyPr wrap="square" lIns="0" tIns="0" rIns="0" bIns="0" rtlCol="0" anchor="ctr"/>
          <a:lstStyle/>
          <a:p>
            <a:pPr indent="0" marL="0">
              <a:lnSpc>
                <a:spcPts val="1200"/>
              </a:lnSpc>
              <a:buNone/>
            </a:pPr>
            <a:r>
              <a:rPr lang="en-US" sz="950" dirty="0">
                <a:solidFill>
                  <a:srgbClr val="33424E"/>
                </a:solidFill>
                <a:latin typeface="Calibri" pitchFamily="34" charset="0"/>
                <a:ea typeface="Calibri" pitchFamily="34" charset="-122"/>
                <a:cs typeface="Calibri" pitchFamily="34" charset="-120"/>
              </a:rPr>
              <a:t>LoRA adapters trained on departmental data — SFT first, then DPO on top</a:t>
            </a:r>
            <a:endParaRPr lang="en-US" sz="950" dirty="0"/>
          </a:p>
        </p:txBody>
      </p:sp>
      <p:sp>
        <p:nvSpPr>
          <p:cNvPr id="42" name="Shape 39"/>
          <p:cNvSpPr/>
          <p:nvPr/>
        </p:nvSpPr>
        <p:spPr>
          <a:xfrm>
            <a:off x="4099560" y="4727448"/>
            <a:ext cx="201168" cy="0"/>
          </a:xfrm>
          <a:prstGeom prst="line">
            <a:avLst/>
          </a:prstGeom>
          <a:noFill/>
          <a:ln w="19050">
            <a:solidFill>
              <a:srgbClr val="1C7293"/>
            </a:solidFill>
            <a:prstDash val="solid"/>
            <a:tailEnd type="triangle"/>
          </a:ln>
        </p:spPr>
      </p:sp>
      <p:sp>
        <p:nvSpPr>
          <p:cNvPr id="43" name="Shape 40"/>
          <p:cNvSpPr/>
          <p:nvPr/>
        </p:nvSpPr>
        <p:spPr>
          <a:xfrm>
            <a:off x="4355592" y="4206240"/>
            <a:ext cx="3477768" cy="1042416"/>
          </a:xfrm>
          <a:prstGeom prst="roundRect">
            <a:avLst>
              <a:gd name="adj" fmla="val 6140"/>
            </a:avLst>
          </a:prstGeom>
          <a:solidFill>
            <a:srgbClr val="FFFFFF"/>
          </a:solidFill>
          <a:ln w="9525">
            <a:solidFill>
              <a:srgbClr val="1C7293"/>
            </a:solidFill>
            <a:prstDash val="solid"/>
          </a:ln>
          <a:effectLst>
            <a:outerShdw sx="100000" sy="100000" kx="0" ky="0" algn="bl" rotWithShape="0" blurRad="101600" dist="12700" dir="5400000">
              <a:srgbClr val="0F2B46">
                <a:alpha val="8000"/>
              </a:srgbClr>
            </a:outerShdw>
          </a:effectLst>
        </p:spPr>
      </p:sp>
      <p:sp>
        <p:nvSpPr>
          <p:cNvPr id="44" name="Text 41"/>
          <p:cNvSpPr txBox="1"/>
          <p:nvPr/>
        </p:nvSpPr>
        <p:spPr>
          <a:xfrm>
            <a:off x="4575048" y="4352544"/>
            <a:ext cx="3038856" cy="274320"/>
          </a:xfrm>
          <a:prstGeom prst="rect">
            <a:avLst/>
          </a:prstGeom>
          <a:noFill/>
          <a:ln/>
        </p:spPr>
        <p:txBody>
          <a:bodyPr wrap="square" lIns="0" tIns="0" rIns="0" bIns="0" rtlCol="0" anchor="ctr"/>
          <a:lstStyle/>
          <a:p>
            <a:pPr indent="0" marL="0">
              <a:buNone/>
            </a:pPr>
            <a:r>
              <a:rPr lang="en-US" sz="1300" b="1" dirty="0">
                <a:solidFill>
                  <a:srgbClr val="0F2B46"/>
                </a:solidFill>
                <a:latin typeface="Cambria" pitchFamily="34" charset="0"/>
                <a:ea typeface="Cambria" pitchFamily="34" charset="-122"/>
                <a:cs typeface="Cambria" pitchFamily="34" charset="-120"/>
              </a:rPr>
              <a:t>Evaluation gate</a:t>
            </a:r>
            <a:endParaRPr lang="en-US" sz="1300" dirty="0"/>
          </a:p>
        </p:txBody>
      </p:sp>
      <p:sp>
        <p:nvSpPr>
          <p:cNvPr id="45" name="Text 42"/>
          <p:cNvSpPr txBox="1"/>
          <p:nvPr/>
        </p:nvSpPr>
        <p:spPr>
          <a:xfrm>
            <a:off x="4575048" y="4645152"/>
            <a:ext cx="3038856" cy="530352"/>
          </a:xfrm>
          <a:prstGeom prst="rect">
            <a:avLst/>
          </a:prstGeom>
          <a:noFill/>
          <a:ln/>
        </p:spPr>
        <p:txBody>
          <a:bodyPr wrap="square" lIns="0" tIns="0" rIns="0" bIns="0" rtlCol="0" anchor="ctr"/>
          <a:lstStyle/>
          <a:p>
            <a:pPr indent="0" marL="0">
              <a:lnSpc>
                <a:spcPts val="1200"/>
              </a:lnSpc>
              <a:buNone/>
            </a:pPr>
            <a:r>
              <a:rPr lang="en-US" sz="950" dirty="0">
                <a:solidFill>
                  <a:srgbClr val="33424E"/>
                </a:solidFill>
                <a:latin typeface="Calibri" pitchFamily="34" charset="0"/>
                <a:ea typeface="Calibri" pitchFamily="34" charset="-122"/>
                <a:cs typeface="Calibri" pitchFamily="34" charset="-120"/>
              </a:rPr>
              <a:t>Re-run the full golden set. No regression on faithfulness, human panel confirms improvement</a:t>
            </a:r>
            <a:endParaRPr lang="en-US" sz="950" dirty="0"/>
          </a:p>
        </p:txBody>
      </p:sp>
      <p:sp>
        <p:nvSpPr>
          <p:cNvPr id="46" name="Shape 43"/>
          <p:cNvSpPr/>
          <p:nvPr/>
        </p:nvSpPr>
        <p:spPr>
          <a:xfrm>
            <a:off x="7888224" y="4727448"/>
            <a:ext cx="201168" cy="0"/>
          </a:xfrm>
          <a:prstGeom prst="line">
            <a:avLst/>
          </a:prstGeom>
          <a:noFill/>
          <a:ln w="19050">
            <a:solidFill>
              <a:srgbClr val="1C7293"/>
            </a:solidFill>
            <a:prstDash val="solid"/>
            <a:tailEnd type="triangle"/>
          </a:ln>
        </p:spPr>
      </p:sp>
      <p:sp>
        <p:nvSpPr>
          <p:cNvPr id="47" name="Shape 44"/>
          <p:cNvSpPr/>
          <p:nvPr/>
        </p:nvSpPr>
        <p:spPr>
          <a:xfrm>
            <a:off x="8144256" y="4206240"/>
            <a:ext cx="3477768" cy="1042416"/>
          </a:xfrm>
          <a:prstGeom prst="roundRect">
            <a:avLst>
              <a:gd name="adj" fmla="val 614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48" name="Text 45"/>
          <p:cNvSpPr txBox="1"/>
          <p:nvPr/>
        </p:nvSpPr>
        <p:spPr>
          <a:xfrm>
            <a:off x="8363712" y="4352544"/>
            <a:ext cx="3038856" cy="274320"/>
          </a:xfrm>
          <a:prstGeom prst="rect">
            <a:avLst/>
          </a:prstGeom>
          <a:noFill/>
          <a:ln/>
        </p:spPr>
        <p:txBody>
          <a:bodyPr wrap="square" lIns="0" tIns="0" rIns="0" bIns="0" rtlCol="0" anchor="ctr"/>
          <a:lstStyle/>
          <a:p>
            <a:pPr indent="0" marL="0">
              <a:buNone/>
            </a:pPr>
            <a:r>
              <a:rPr lang="en-US" sz="1300" b="1" dirty="0">
                <a:solidFill>
                  <a:srgbClr val="0F2B46"/>
                </a:solidFill>
                <a:latin typeface="Cambria" pitchFamily="34" charset="0"/>
                <a:ea typeface="Cambria" pitchFamily="34" charset="-122"/>
                <a:cs typeface="Cambria" pitchFamily="34" charset="-120"/>
              </a:rPr>
              <a:t>Promote</a:t>
            </a:r>
            <a:endParaRPr lang="en-US" sz="1300" dirty="0"/>
          </a:p>
        </p:txBody>
      </p:sp>
      <p:sp>
        <p:nvSpPr>
          <p:cNvPr id="49" name="Text 46"/>
          <p:cNvSpPr txBox="1"/>
          <p:nvPr/>
        </p:nvSpPr>
        <p:spPr>
          <a:xfrm>
            <a:off x="8363712" y="4645152"/>
            <a:ext cx="3038856" cy="530352"/>
          </a:xfrm>
          <a:prstGeom prst="rect">
            <a:avLst/>
          </a:prstGeom>
          <a:noFill/>
          <a:ln/>
        </p:spPr>
        <p:txBody>
          <a:bodyPr wrap="square" lIns="0" tIns="0" rIns="0" bIns="0" rtlCol="0" anchor="ctr"/>
          <a:lstStyle/>
          <a:p>
            <a:pPr indent="0" marL="0">
              <a:lnSpc>
                <a:spcPts val="1200"/>
              </a:lnSpc>
              <a:buNone/>
            </a:pPr>
            <a:r>
              <a:rPr lang="en-US" sz="950" dirty="0">
                <a:solidFill>
                  <a:srgbClr val="33424E"/>
                </a:solidFill>
                <a:latin typeface="Calibri" pitchFamily="34" charset="0"/>
                <a:ea typeface="Calibri" pitchFamily="34" charset="-122"/>
                <a:cs typeface="Calibri" pitchFamily="34" charset="-120"/>
              </a:rPr>
              <a:t>Registered as a new approved checkpoint, canary-tested, then serving. Rollback in one step</a:t>
            </a:r>
            <a:endParaRPr lang="en-US" sz="950" dirty="0"/>
          </a:p>
        </p:txBody>
      </p:sp>
      <p:sp>
        <p:nvSpPr>
          <p:cNvPr id="50" name="Shape 47"/>
          <p:cNvSpPr/>
          <p:nvPr/>
        </p:nvSpPr>
        <p:spPr>
          <a:xfrm>
            <a:off x="566928" y="5413248"/>
            <a:ext cx="11055096" cy="841248"/>
          </a:xfrm>
          <a:prstGeom prst="roundRect">
            <a:avLst>
              <a:gd name="adj" fmla="val 7609"/>
            </a:avLst>
          </a:prstGeom>
          <a:solidFill>
            <a:srgbClr val="0F2B46"/>
          </a:solidFill>
          <a:ln w="9525">
            <a:solidFill>
              <a:srgbClr val="0F2B46"/>
            </a:solidFill>
            <a:prstDash val="solid"/>
          </a:ln>
          <a:effectLst>
            <a:outerShdw sx="100000" sy="100000" kx="0" ky="0" algn="bl" rotWithShape="0" blurRad="101600" dist="12700" dir="5400000">
              <a:srgbClr val="0F2B46">
                <a:alpha val="8000"/>
              </a:srgbClr>
            </a:outerShdw>
          </a:effectLst>
        </p:spPr>
      </p:sp>
      <p:sp>
        <p:nvSpPr>
          <p:cNvPr id="51" name="Text 48"/>
          <p:cNvSpPr txBox="1"/>
          <p:nvPr/>
        </p:nvSpPr>
        <p:spPr>
          <a:xfrm>
            <a:off x="859536" y="5522976"/>
            <a:ext cx="694944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   The promoted checkpoint replaces the serving model, and the loop runs again.</a:t>
            </a:r>
            <a:endParaRPr lang="en-US" sz="1250" dirty="0"/>
          </a:p>
        </p:txBody>
      </p:sp>
      <p:sp>
        <p:nvSpPr>
          <p:cNvPr id="52" name="Text 49"/>
          <p:cNvSpPr txBox="1"/>
          <p:nvPr/>
        </p:nvSpPr>
        <p:spPr>
          <a:xfrm>
            <a:off x="859536" y="5815584"/>
            <a:ext cx="10424160" cy="310896"/>
          </a:xfrm>
          <a:prstGeom prst="rect">
            <a:avLst/>
          </a:prstGeom>
          <a:noFill/>
          <a:ln/>
        </p:spPr>
        <p:txBody>
          <a:bodyPr wrap="square" lIns="0" tIns="0" rIns="0" bIns="0" rtlCol="0" anchor="ctr"/>
          <a:lstStyle/>
          <a:p>
            <a:pPr indent="0" marL="0">
              <a:buNone/>
            </a:pPr>
            <a:r>
              <a:rPr lang="en-US" sz="1000" dirty="0">
                <a:solidFill>
                  <a:srgbClr val="AFCCDC"/>
                </a:solidFill>
                <a:latin typeface="Calibri" pitchFamily="34" charset="0"/>
                <a:ea typeface="Calibri" pitchFamily="34" charset="-122"/>
                <a:cs typeface="Calibri" pitchFamily="34" charset="-120"/>
              </a:rPr>
              <a:t>The review work officers already do is the training signal. No separate annotation programme, no external labelling vendor, no departmental data ever leaving the building.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5</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Fine-tuning: SFT then Direct Preference Optimisation</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13</a:t>
            </a:r>
            <a:endParaRPr lang="en-US" sz="850" dirty="0"/>
          </a:p>
        </p:txBody>
      </p:sp>
      <p:sp>
        <p:nvSpPr>
          <p:cNvPr id="7" name="Shape 4"/>
          <p:cNvSpPr/>
          <p:nvPr/>
        </p:nvSpPr>
        <p:spPr>
          <a:xfrm>
            <a:off x="566928" y="1444752"/>
            <a:ext cx="5367528" cy="3877056"/>
          </a:xfrm>
          <a:prstGeom prst="roundRect">
            <a:avLst>
              <a:gd name="adj" fmla="val 1651"/>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8" name="Shape 5"/>
          <p:cNvSpPr/>
          <p:nvPr/>
        </p:nvSpPr>
        <p:spPr>
          <a:xfrm>
            <a:off x="822960" y="1627632"/>
            <a:ext cx="1417320" cy="274320"/>
          </a:xfrm>
          <a:prstGeom prst="roundRect">
            <a:avLst>
              <a:gd name="adj" fmla="val 50000"/>
            </a:avLst>
          </a:prstGeom>
          <a:solidFill>
            <a:srgbClr val="E4EEF3"/>
          </a:solidFill>
          <a:ln w="6350">
            <a:solidFill>
              <a:srgbClr val="E4EEF3"/>
            </a:solidFill>
            <a:prstDash val="solid"/>
          </a:ln>
        </p:spPr>
      </p:sp>
      <p:sp>
        <p:nvSpPr>
          <p:cNvPr id="9" name="Text 6"/>
          <p:cNvSpPr txBox="1"/>
          <p:nvPr/>
        </p:nvSpPr>
        <p:spPr>
          <a:xfrm>
            <a:off x="822960" y="1627632"/>
            <a:ext cx="1417320" cy="274320"/>
          </a:xfrm>
          <a:prstGeom prst="rect">
            <a:avLst/>
          </a:prstGeom>
          <a:noFill/>
          <a:ln/>
        </p:spPr>
        <p:txBody>
          <a:bodyPr wrap="square" lIns="0" tIns="0" rIns="0" bIns="0" rtlCol="0" anchor="ctr"/>
          <a:lstStyle/>
          <a:p>
            <a:pPr algn="ctr" indent="0" marL="0">
              <a:buNone/>
            </a:pPr>
            <a:r>
              <a:rPr lang="en-US" sz="950" b="1" dirty="0">
                <a:solidFill>
                  <a:srgbClr val="1C7293"/>
                </a:solidFill>
                <a:latin typeface="Calibri" pitchFamily="34" charset="0"/>
                <a:ea typeface="Calibri" pitchFamily="34" charset="-122"/>
                <a:cs typeface="Calibri" pitchFamily="34" charset="-120"/>
              </a:rPr>
              <a:t>STAGE 1</a:t>
            </a:r>
            <a:endParaRPr lang="en-US" sz="950" dirty="0"/>
          </a:p>
        </p:txBody>
      </p:sp>
      <p:sp>
        <p:nvSpPr>
          <p:cNvPr id="10" name="Text 7"/>
          <p:cNvSpPr txBox="1"/>
          <p:nvPr/>
        </p:nvSpPr>
        <p:spPr>
          <a:xfrm>
            <a:off x="822960" y="1975104"/>
            <a:ext cx="4846320" cy="310896"/>
          </a:xfrm>
          <a:prstGeom prst="rect">
            <a:avLst/>
          </a:prstGeom>
          <a:noFill/>
          <a:ln/>
        </p:spPr>
        <p:txBody>
          <a:bodyPr wrap="square" lIns="0" tIns="0" rIns="0" bIns="0" rtlCol="0" anchor="ctr"/>
          <a:lstStyle/>
          <a:p>
            <a:pPr indent="0" marL="0">
              <a:buNone/>
            </a:pPr>
            <a:r>
              <a:rPr lang="en-US" sz="1800" b="1" dirty="0">
                <a:solidFill>
                  <a:srgbClr val="0F2B46"/>
                </a:solidFill>
                <a:latin typeface="Cambria" pitchFamily="34" charset="0"/>
                <a:ea typeface="Cambria" pitchFamily="34" charset="-122"/>
                <a:cs typeface="Cambria" pitchFamily="34" charset="-120"/>
              </a:rPr>
              <a:t>Supervised fine-tuning</a:t>
            </a:r>
            <a:endParaRPr lang="en-US" sz="1800" dirty="0"/>
          </a:p>
        </p:txBody>
      </p:sp>
      <p:sp>
        <p:nvSpPr>
          <p:cNvPr id="11" name="Text 8"/>
          <p:cNvSpPr txBox="1"/>
          <p:nvPr/>
        </p:nvSpPr>
        <p:spPr>
          <a:xfrm>
            <a:off x="822960" y="2322576"/>
            <a:ext cx="4846320" cy="475488"/>
          </a:xfrm>
          <a:prstGeom prst="rect">
            <a:avLst/>
          </a:prstGeom>
          <a:noFill/>
          <a:ln/>
        </p:spPr>
        <p:txBody>
          <a:bodyPr wrap="square" lIns="0" tIns="0" rIns="0" bIns="0" rtlCol="0" anchor="ctr"/>
          <a:lstStyle/>
          <a:p>
            <a:pPr indent="0" marL="0">
              <a:lnSpc>
                <a:spcPts val="1300"/>
              </a:lnSpc>
              <a:buNone/>
            </a:pPr>
            <a:r>
              <a:rPr lang="en-US" sz="1000" i="1" dirty="0">
                <a:solidFill>
                  <a:srgbClr val="1C7293"/>
                </a:solidFill>
                <a:latin typeface="Calibri" pitchFamily="34" charset="0"/>
                <a:ea typeface="Calibri" pitchFamily="34" charset="-122"/>
                <a:cs typeface="Calibri" pitchFamily="34" charset="-120"/>
              </a:rPr>
              <a:t>Teaches the house form: structure, Marathi administrative register, dateline and designation conventions, paragraph rhythm.</a:t>
            </a:r>
            <a:endParaRPr lang="en-US" sz="1000" dirty="0"/>
          </a:p>
        </p:txBody>
      </p:sp>
      <p:sp>
        <p:nvSpPr>
          <p:cNvPr id="12" name="Text 9"/>
          <p:cNvSpPr txBox="1"/>
          <p:nvPr/>
        </p:nvSpPr>
        <p:spPr>
          <a:xfrm>
            <a:off x="822960" y="2871216"/>
            <a:ext cx="731520" cy="219456"/>
          </a:xfrm>
          <a:prstGeom prst="rect">
            <a:avLst/>
          </a:prstGeom>
          <a:noFill/>
          <a:ln/>
        </p:spPr>
        <p:txBody>
          <a:bodyPr wrap="square" lIns="0" tIns="0" rIns="0" bIns="0" rtlCol="0" anchor="t"/>
          <a:lstStyle/>
          <a:p>
            <a:pPr indent="0" marL="0">
              <a:buNone/>
            </a:pPr>
            <a:r>
              <a:rPr lang="en-US" sz="900" b="1" dirty="0">
                <a:solidFill>
                  <a:srgbClr val="1C7293"/>
                </a:solidFill>
                <a:latin typeface="Calibri" pitchFamily="34" charset="0"/>
                <a:ea typeface="Calibri" pitchFamily="34" charset="-122"/>
                <a:cs typeface="Calibri" pitchFamily="34" charset="-120"/>
              </a:rPr>
              <a:t>Input</a:t>
            </a:r>
            <a:endParaRPr lang="en-US" sz="900" dirty="0"/>
          </a:p>
        </p:txBody>
      </p:sp>
      <p:sp>
        <p:nvSpPr>
          <p:cNvPr id="13" name="Text 10"/>
          <p:cNvSpPr txBox="1"/>
          <p:nvPr/>
        </p:nvSpPr>
        <p:spPr>
          <a:xfrm>
            <a:off x="1572768" y="2871216"/>
            <a:ext cx="4096512" cy="457200"/>
          </a:xfrm>
          <a:prstGeom prst="rect">
            <a:avLst/>
          </a:prstGeom>
          <a:noFill/>
          <a:ln/>
        </p:spPr>
        <p:txBody>
          <a:bodyPr wrap="square" lIns="0" tIns="0" rIns="0" bIns="0" rtlCol="0" anchor="t"/>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System prompt, the full verified source (note, transcript, OCR text), officer instructions, the feedback chain in order, reviewed name and designation pairs, exclusions</a:t>
            </a:r>
            <a:endParaRPr lang="en-US" sz="900" dirty="0"/>
          </a:p>
        </p:txBody>
      </p:sp>
      <p:sp>
        <p:nvSpPr>
          <p:cNvPr id="14" name="Text 11"/>
          <p:cNvSpPr txBox="1"/>
          <p:nvPr/>
        </p:nvSpPr>
        <p:spPr>
          <a:xfrm>
            <a:off x="822960" y="3355848"/>
            <a:ext cx="731520" cy="219456"/>
          </a:xfrm>
          <a:prstGeom prst="rect">
            <a:avLst/>
          </a:prstGeom>
          <a:noFill/>
          <a:ln/>
        </p:spPr>
        <p:txBody>
          <a:bodyPr wrap="square" lIns="0" tIns="0" rIns="0" bIns="0" rtlCol="0" anchor="t"/>
          <a:lstStyle/>
          <a:p>
            <a:pPr indent="0" marL="0">
              <a:buNone/>
            </a:pPr>
            <a:r>
              <a:rPr lang="en-US" sz="900" b="1" dirty="0">
                <a:solidFill>
                  <a:srgbClr val="1C7293"/>
                </a:solidFill>
                <a:latin typeface="Calibri" pitchFamily="34" charset="0"/>
                <a:ea typeface="Calibri" pitchFamily="34" charset="-122"/>
                <a:cs typeface="Calibri" pitchFamily="34" charset="-120"/>
              </a:rPr>
              <a:t>Target</a:t>
            </a:r>
            <a:endParaRPr lang="en-US" sz="900" dirty="0"/>
          </a:p>
        </p:txBody>
      </p:sp>
      <p:sp>
        <p:nvSpPr>
          <p:cNvPr id="15" name="Text 12"/>
          <p:cNvSpPr txBox="1"/>
          <p:nvPr/>
        </p:nvSpPr>
        <p:spPr>
          <a:xfrm>
            <a:off x="1572768" y="3355848"/>
            <a:ext cx="4096512" cy="457200"/>
          </a:xfrm>
          <a:prstGeom prst="rect">
            <a:avLst/>
          </a:prstGeom>
          <a:noFill/>
          <a:ln/>
        </p:spPr>
        <p:txBody>
          <a:bodyPr wrap="square" lIns="0" tIns="0" rIns="0" bIns="0" rtlCol="0" anchor="t"/>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Exactly the final officer-approved Marathi article, including saved revisions. Translations and earlier drafts are never targets</a:t>
            </a:r>
            <a:endParaRPr lang="en-US" sz="900" dirty="0"/>
          </a:p>
        </p:txBody>
      </p:sp>
      <p:sp>
        <p:nvSpPr>
          <p:cNvPr id="16" name="Text 13"/>
          <p:cNvSpPr txBox="1"/>
          <p:nvPr/>
        </p:nvSpPr>
        <p:spPr>
          <a:xfrm>
            <a:off x="822960" y="3840480"/>
            <a:ext cx="731520" cy="219456"/>
          </a:xfrm>
          <a:prstGeom prst="rect">
            <a:avLst/>
          </a:prstGeom>
          <a:noFill/>
          <a:ln/>
        </p:spPr>
        <p:txBody>
          <a:bodyPr wrap="square" lIns="0" tIns="0" rIns="0" bIns="0" rtlCol="0" anchor="t"/>
          <a:lstStyle/>
          <a:p>
            <a:pPr indent="0" marL="0">
              <a:buNone/>
            </a:pPr>
            <a:r>
              <a:rPr lang="en-US" sz="900" b="1" dirty="0">
                <a:solidFill>
                  <a:srgbClr val="1C7293"/>
                </a:solidFill>
                <a:latin typeface="Calibri" pitchFamily="34" charset="0"/>
                <a:ea typeface="Calibri" pitchFamily="34" charset="-122"/>
                <a:cs typeface="Calibri" pitchFamily="34" charset="-120"/>
              </a:rPr>
              <a:t>Method</a:t>
            </a:r>
            <a:endParaRPr lang="en-US" sz="900" dirty="0"/>
          </a:p>
        </p:txBody>
      </p:sp>
      <p:sp>
        <p:nvSpPr>
          <p:cNvPr id="17" name="Text 14"/>
          <p:cNvSpPr txBox="1"/>
          <p:nvPr/>
        </p:nvSpPr>
        <p:spPr>
          <a:xfrm>
            <a:off x="1572768" y="3840480"/>
            <a:ext cx="4096512" cy="457200"/>
          </a:xfrm>
          <a:prstGeom prst="rect">
            <a:avLst/>
          </a:prstGeom>
          <a:noFill/>
          <a:ln/>
        </p:spPr>
        <p:txBody>
          <a:bodyPr wrap="square" lIns="0" tIns="0" rIns="0" bIns="0" rtlCol="0" anchor="t"/>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LoRA, rank 32, alpha 64, on all attention and MLP projections. BF16. Loss masked to assistant tokens only. 16K sequence length, 2–3 epochs</a:t>
            </a:r>
            <a:endParaRPr lang="en-US" sz="900" dirty="0"/>
          </a:p>
        </p:txBody>
      </p:sp>
      <p:sp>
        <p:nvSpPr>
          <p:cNvPr id="18" name="Text 15"/>
          <p:cNvSpPr txBox="1"/>
          <p:nvPr/>
        </p:nvSpPr>
        <p:spPr>
          <a:xfrm>
            <a:off x="822960" y="4325112"/>
            <a:ext cx="731520" cy="219456"/>
          </a:xfrm>
          <a:prstGeom prst="rect">
            <a:avLst/>
          </a:prstGeom>
          <a:noFill/>
          <a:ln/>
        </p:spPr>
        <p:txBody>
          <a:bodyPr wrap="square" lIns="0" tIns="0" rIns="0" bIns="0" rtlCol="0" anchor="t"/>
          <a:lstStyle/>
          <a:p>
            <a:pPr indent="0" marL="0">
              <a:buNone/>
            </a:pPr>
            <a:r>
              <a:rPr lang="en-US" sz="900" b="1" dirty="0">
                <a:solidFill>
                  <a:srgbClr val="1C7293"/>
                </a:solidFill>
                <a:latin typeface="Calibri" pitchFamily="34" charset="0"/>
                <a:ea typeface="Calibri" pitchFamily="34" charset="-122"/>
                <a:cs typeface="Calibri" pitchFamily="34" charset="-120"/>
              </a:rPr>
              <a:t>Format</a:t>
            </a:r>
            <a:endParaRPr lang="en-US" sz="900" dirty="0"/>
          </a:p>
        </p:txBody>
      </p:sp>
      <p:sp>
        <p:nvSpPr>
          <p:cNvPr id="19" name="Text 16"/>
          <p:cNvSpPr txBox="1"/>
          <p:nvPr/>
        </p:nvSpPr>
        <p:spPr>
          <a:xfrm>
            <a:off x="1572768" y="4325112"/>
            <a:ext cx="4096512" cy="457200"/>
          </a:xfrm>
          <a:prstGeom prst="rect">
            <a:avLst/>
          </a:prstGeom>
          <a:noFill/>
          <a:ln/>
        </p:spPr>
        <p:txBody>
          <a:bodyPr wrap="square" lIns="0" tIns="0" rIns="0" bIns="0" rtlCol="0" anchor="t"/>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TRL conversational messages JSONL, using the deployed model's own chat template</a:t>
            </a:r>
            <a:endParaRPr lang="en-US" sz="900" dirty="0"/>
          </a:p>
        </p:txBody>
      </p:sp>
      <p:sp>
        <p:nvSpPr>
          <p:cNvPr id="20" name="Text 17"/>
          <p:cNvSpPr txBox="1"/>
          <p:nvPr/>
        </p:nvSpPr>
        <p:spPr>
          <a:xfrm>
            <a:off x="822960" y="4809744"/>
            <a:ext cx="731520" cy="219456"/>
          </a:xfrm>
          <a:prstGeom prst="rect">
            <a:avLst/>
          </a:prstGeom>
          <a:noFill/>
          <a:ln/>
        </p:spPr>
        <p:txBody>
          <a:bodyPr wrap="square" lIns="0" tIns="0" rIns="0" bIns="0" rtlCol="0" anchor="t"/>
          <a:lstStyle/>
          <a:p>
            <a:pPr indent="0" marL="0">
              <a:buNone/>
            </a:pPr>
            <a:r>
              <a:rPr lang="en-US" sz="900" b="1" dirty="0">
                <a:solidFill>
                  <a:srgbClr val="1C7293"/>
                </a:solidFill>
                <a:latin typeface="Calibri" pitchFamily="34" charset="0"/>
                <a:ea typeface="Calibri" pitchFamily="34" charset="-122"/>
                <a:cs typeface="Calibri" pitchFamily="34" charset="-120"/>
              </a:rPr>
              <a:t>Hygiene</a:t>
            </a:r>
            <a:endParaRPr lang="en-US" sz="900" dirty="0"/>
          </a:p>
        </p:txBody>
      </p:sp>
      <p:sp>
        <p:nvSpPr>
          <p:cNvPr id="21" name="Text 18"/>
          <p:cNvSpPr txBox="1"/>
          <p:nvPr/>
        </p:nvSpPr>
        <p:spPr>
          <a:xfrm>
            <a:off x="1572768" y="4809744"/>
            <a:ext cx="4096512" cy="457200"/>
          </a:xfrm>
          <a:prstGeom prst="rect">
            <a:avLst/>
          </a:prstGeom>
          <a:noFill/>
          <a:ln/>
        </p:spPr>
        <p:txBody>
          <a:bodyPr wrap="square" lIns="0" tIns="0" rIns="0" bIns="0" rtlCol="0" anchor="t"/>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Deduplicated by intake thread; train and evaluation split by thread, never by row, so no source appears on both sides</a:t>
            </a:r>
            <a:endParaRPr lang="en-US" sz="900" dirty="0"/>
          </a:p>
        </p:txBody>
      </p:sp>
      <p:sp>
        <p:nvSpPr>
          <p:cNvPr id="22" name="Shape 19"/>
          <p:cNvSpPr/>
          <p:nvPr/>
        </p:nvSpPr>
        <p:spPr>
          <a:xfrm>
            <a:off x="6254496" y="1444752"/>
            <a:ext cx="5367528" cy="3877056"/>
          </a:xfrm>
          <a:prstGeom prst="roundRect">
            <a:avLst>
              <a:gd name="adj" fmla="val 1651"/>
            </a:avLst>
          </a:prstGeom>
          <a:solidFill>
            <a:srgbClr val="FFFFFF"/>
          </a:solidFill>
          <a:ln w="9525">
            <a:solidFill>
              <a:srgbClr val="EBD3AE"/>
            </a:solidFill>
            <a:prstDash val="solid"/>
          </a:ln>
          <a:effectLst>
            <a:outerShdw sx="100000" sy="100000" kx="0" ky="0" algn="bl" rotWithShape="0" blurRad="101600" dist="12700" dir="5400000">
              <a:srgbClr val="0F2B46">
                <a:alpha val="8000"/>
              </a:srgbClr>
            </a:outerShdw>
          </a:effectLst>
        </p:spPr>
      </p:sp>
      <p:sp>
        <p:nvSpPr>
          <p:cNvPr id="23" name="Shape 20"/>
          <p:cNvSpPr/>
          <p:nvPr/>
        </p:nvSpPr>
        <p:spPr>
          <a:xfrm>
            <a:off x="6510528" y="1627632"/>
            <a:ext cx="1417320" cy="274320"/>
          </a:xfrm>
          <a:prstGeom prst="roundRect">
            <a:avLst>
              <a:gd name="adj" fmla="val 50000"/>
            </a:avLst>
          </a:prstGeom>
          <a:solidFill>
            <a:srgbClr val="FBEEDC"/>
          </a:solidFill>
          <a:ln w="6350">
            <a:solidFill>
              <a:srgbClr val="FBEEDC"/>
            </a:solidFill>
            <a:prstDash val="solid"/>
          </a:ln>
        </p:spPr>
      </p:sp>
      <p:sp>
        <p:nvSpPr>
          <p:cNvPr id="24" name="Text 21"/>
          <p:cNvSpPr txBox="1"/>
          <p:nvPr/>
        </p:nvSpPr>
        <p:spPr>
          <a:xfrm>
            <a:off x="6510528" y="1627632"/>
            <a:ext cx="1417320" cy="274320"/>
          </a:xfrm>
          <a:prstGeom prst="rect">
            <a:avLst/>
          </a:prstGeom>
          <a:noFill/>
          <a:ln/>
        </p:spPr>
        <p:txBody>
          <a:bodyPr wrap="square" lIns="0" tIns="0" rIns="0" bIns="0" rtlCol="0" anchor="ctr"/>
          <a:lstStyle/>
          <a:p>
            <a:pPr algn="ctr" indent="0" marL="0">
              <a:buNone/>
            </a:pPr>
            <a:r>
              <a:rPr lang="en-US" sz="950" b="1" dirty="0">
                <a:solidFill>
                  <a:srgbClr val="C2690F"/>
                </a:solidFill>
                <a:latin typeface="Calibri" pitchFamily="34" charset="0"/>
                <a:ea typeface="Calibri" pitchFamily="34" charset="-122"/>
                <a:cs typeface="Calibri" pitchFamily="34" charset="-120"/>
              </a:rPr>
              <a:t>STAGE 2</a:t>
            </a:r>
            <a:endParaRPr lang="en-US" sz="950" dirty="0"/>
          </a:p>
        </p:txBody>
      </p:sp>
      <p:sp>
        <p:nvSpPr>
          <p:cNvPr id="25" name="Text 22"/>
          <p:cNvSpPr txBox="1"/>
          <p:nvPr/>
        </p:nvSpPr>
        <p:spPr>
          <a:xfrm>
            <a:off x="6510528" y="1975104"/>
            <a:ext cx="4846320" cy="310896"/>
          </a:xfrm>
          <a:prstGeom prst="rect">
            <a:avLst/>
          </a:prstGeom>
          <a:noFill/>
          <a:ln/>
        </p:spPr>
        <p:txBody>
          <a:bodyPr wrap="square" lIns="0" tIns="0" rIns="0" bIns="0" rtlCol="0" anchor="ctr"/>
          <a:lstStyle/>
          <a:p>
            <a:pPr indent="0" marL="0">
              <a:buNone/>
            </a:pPr>
            <a:r>
              <a:rPr lang="en-US" sz="1800" b="1" dirty="0">
                <a:solidFill>
                  <a:srgbClr val="0F2B46"/>
                </a:solidFill>
                <a:latin typeface="Cambria" pitchFamily="34" charset="0"/>
                <a:ea typeface="Cambria" pitchFamily="34" charset="-122"/>
                <a:cs typeface="Cambria" pitchFamily="34" charset="-120"/>
              </a:rPr>
              <a:t>Direct Preference Optimisation</a:t>
            </a:r>
            <a:endParaRPr lang="en-US" sz="1800" dirty="0"/>
          </a:p>
        </p:txBody>
      </p:sp>
      <p:sp>
        <p:nvSpPr>
          <p:cNvPr id="26" name="Text 23"/>
          <p:cNvSpPr txBox="1"/>
          <p:nvPr/>
        </p:nvSpPr>
        <p:spPr>
          <a:xfrm>
            <a:off x="6510528" y="2322576"/>
            <a:ext cx="4846320" cy="475488"/>
          </a:xfrm>
          <a:prstGeom prst="rect">
            <a:avLst/>
          </a:prstGeom>
          <a:noFill/>
          <a:ln/>
        </p:spPr>
        <p:txBody>
          <a:bodyPr wrap="square" lIns="0" tIns="0" rIns="0" bIns="0" rtlCol="0" anchor="ctr"/>
          <a:lstStyle/>
          <a:p>
            <a:pPr indent="0" marL="0">
              <a:lnSpc>
                <a:spcPts val="1300"/>
              </a:lnSpc>
              <a:buNone/>
            </a:pPr>
            <a:r>
              <a:rPr lang="en-US" sz="1000" i="1" dirty="0">
                <a:solidFill>
                  <a:srgbClr val="C2690F"/>
                </a:solidFill>
                <a:latin typeface="Calibri" pitchFamily="34" charset="0"/>
                <a:ea typeface="Calibri" pitchFamily="34" charset="-122"/>
                <a:cs typeface="Calibri" pitchFamily="34" charset="-120"/>
              </a:rPr>
              <a:t>Teaches what no prompt can state: which of two perfectly fluent Marathi drafts an officer will actually accept.</a:t>
            </a:r>
            <a:endParaRPr lang="en-US" sz="1000" dirty="0"/>
          </a:p>
        </p:txBody>
      </p:sp>
      <p:sp>
        <p:nvSpPr>
          <p:cNvPr id="27" name="Text 24"/>
          <p:cNvSpPr txBox="1"/>
          <p:nvPr/>
        </p:nvSpPr>
        <p:spPr>
          <a:xfrm>
            <a:off x="6510528" y="2871216"/>
            <a:ext cx="859536" cy="219456"/>
          </a:xfrm>
          <a:prstGeom prst="rect">
            <a:avLst/>
          </a:prstGeom>
          <a:noFill/>
          <a:ln/>
        </p:spPr>
        <p:txBody>
          <a:bodyPr wrap="square" lIns="0" tIns="0" rIns="0" bIns="0" rtlCol="0" anchor="t"/>
          <a:lstStyle/>
          <a:p>
            <a:pPr indent="0" marL="0">
              <a:buNone/>
            </a:pPr>
            <a:r>
              <a:rPr lang="en-US" sz="900" b="1" dirty="0">
                <a:solidFill>
                  <a:srgbClr val="C2690F"/>
                </a:solidFill>
                <a:latin typeface="Calibri" pitchFamily="34" charset="0"/>
                <a:ea typeface="Calibri" pitchFamily="34" charset="-122"/>
                <a:cs typeface="Calibri" pitchFamily="34" charset="-120"/>
              </a:rPr>
              <a:t>Pairs</a:t>
            </a:r>
            <a:endParaRPr lang="en-US" sz="900" dirty="0"/>
          </a:p>
        </p:txBody>
      </p:sp>
      <p:sp>
        <p:nvSpPr>
          <p:cNvPr id="28" name="Text 25"/>
          <p:cNvSpPr txBox="1"/>
          <p:nvPr/>
        </p:nvSpPr>
        <p:spPr>
          <a:xfrm>
            <a:off x="7388352" y="2871216"/>
            <a:ext cx="3986784" cy="457200"/>
          </a:xfrm>
          <a:prstGeom prst="rect">
            <a:avLst/>
          </a:prstGeom>
          <a:noFill/>
          <a:ln/>
        </p:spPr>
        <p:txBody>
          <a:bodyPr wrap="square" lIns="0" tIns="0" rIns="0" bIns="0" rtlCol="0" anchor="t"/>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Chosen — the officer-approved article. Rejected — the model draft that same officer rewrote or sent back. Both already stored against the generation</a:t>
            </a:r>
            <a:endParaRPr lang="en-US" sz="900" dirty="0"/>
          </a:p>
        </p:txBody>
      </p:sp>
      <p:sp>
        <p:nvSpPr>
          <p:cNvPr id="29" name="Text 26"/>
          <p:cNvSpPr txBox="1"/>
          <p:nvPr/>
        </p:nvSpPr>
        <p:spPr>
          <a:xfrm>
            <a:off x="6510528" y="3355848"/>
            <a:ext cx="859536" cy="219456"/>
          </a:xfrm>
          <a:prstGeom prst="rect">
            <a:avLst/>
          </a:prstGeom>
          <a:noFill/>
          <a:ln/>
        </p:spPr>
        <p:txBody>
          <a:bodyPr wrap="square" lIns="0" tIns="0" rIns="0" bIns="0" rtlCol="0" anchor="t"/>
          <a:lstStyle/>
          <a:p>
            <a:pPr indent="0" marL="0">
              <a:buNone/>
            </a:pPr>
            <a:r>
              <a:rPr lang="en-US" sz="900" b="1" dirty="0">
                <a:solidFill>
                  <a:srgbClr val="C2690F"/>
                </a:solidFill>
                <a:latin typeface="Calibri" pitchFamily="34" charset="0"/>
                <a:ea typeface="Calibri" pitchFamily="34" charset="-122"/>
                <a:cs typeface="Calibri" pitchFamily="34" charset="-120"/>
              </a:rPr>
              <a:t>Method</a:t>
            </a:r>
            <a:endParaRPr lang="en-US" sz="900" dirty="0"/>
          </a:p>
        </p:txBody>
      </p:sp>
      <p:sp>
        <p:nvSpPr>
          <p:cNvPr id="30" name="Text 27"/>
          <p:cNvSpPr txBox="1"/>
          <p:nvPr/>
        </p:nvSpPr>
        <p:spPr>
          <a:xfrm>
            <a:off x="7388352" y="3355848"/>
            <a:ext cx="3986784" cy="457200"/>
          </a:xfrm>
          <a:prstGeom prst="rect">
            <a:avLst/>
          </a:prstGeom>
          <a:noFill/>
          <a:ln/>
        </p:spPr>
        <p:txBody>
          <a:bodyPr wrap="square" lIns="0" tIns="0" rIns="0" bIns="0" rtlCol="0" anchor="t"/>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DPO applied on top of the SFT adapter, beta 0.1, low learning rate, single epoch, with the SFT checkpoint as the frozen reference model</a:t>
            </a:r>
            <a:endParaRPr lang="en-US" sz="900" dirty="0"/>
          </a:p>
        </p:txBody>
      </p:sp>
      <p:sp>
        <p:nvSpPr>
          <p:cNvPr id="31" name="Text 28"/>
          <p:cNvSpPr txBox="1"/>
          <p:nvPr/>
        </p:nvSpPr>
        <p:spPr>
          <a:xfrm>
            <a:off x="6510528" y="3840480"/>
            <a:ext cx="859536" cy="219456"/>
          </a:xfrm>
          <a:prstGeom prst="rect">
            <a:avLst/>
          </a:prstGeom>
          <a:noFill/>
          <a:ln/>
        </p:spPr>
        <p:txBody>
          <a:bodyPr wrap="square" lIns="0" tIns="0" rIns="0" bIns="0" rtlCol="0" anchor="t"/>
          <a:lstStyle/>
          <a:p>
            <a:pPr indent="0" marL="0">
              <a:buNone/>
            </a:pPr>
            <a:r>
              <a:rPr lang="en-US" sz="900" b="1" dirty="0">
                <a:solidFill>
                  <a:srgbClr val="C2690F"/>
                </a:solidFill>
                <a:latin typeface="Calibri" pitchFamily="34" charset="0"/>
                <a:ea typeface="Calibri" pitchFamily="34" charset="-122"/>
                <a:cs typeface="Calibri" pitchFamily="34" charset="-120"/>
              </a:rPr>
              <a:t>Why after SFT</a:t>
            </a:r>
            <a:endParaRPr lang="en-US" sz="900" dirty="0"/>
          </a:p>
        </p:txBody>
      </p:sp>
      <p:sp>
        <p:nvSpPr>
          <p:cNvPr id="32" name="Text 29"/>
          <p:cNvSpPr txBox="1"/>
          <p:nvPr/>
        </p:nvSpPr>
        <p:spPr>
          <a:xfrm>
            <a:off x="7388352" y="3840480"/>
            <a:ext cx="3986784" cy="457200"/>
          </a:xfrm>
          <a:prstGeom prst="rect">
            <a:avLst/>
          </a:prstGeom>
          <a:noFill/>
          <a:ln/>
        </p:spPr>
        <p:txBody>
          <a:bodyPr wrap="square" lIns="0" tIns="0" rIns="0" bIns="0" rtlCol="0" anchor="t"/>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SFT establishes the form; DPO then sharpens taste within it. Preference tuning on a base model without SFT first degrades Marathi structure</a:t>
            </a:r>
            <a:endParaRPr lang="en-US" sz="900" dirty="0"/>
          </a:p>
        </p:txBody>
      </p:sp>
      <p:sp>
        <p:nvSpPr>
          <p:cNvPr id="33" name="Text 30"/>
          <p:cNvSpPr txBox="1"/>
          <p:nvPr/>
        </p:nvSpPr>
        <p:spPr>
          <a:xfrm>
            <a:off x="6510528" y="4325112"/>
            <a:ext cx="859536" cy="219456"/>
          </a:xfrm>
          <a:prstGeom prst="rect">
            <a:avLst/>
          </a:prstGeom>
          <a:noFill/>
          <a:ln/>
        </p:spPr>
        <p:txBody>
          <a:bodyPr wrap="square" lIns="0" tIns="0" rIns="0" bIns="0" rtlCol="0" anchor="t"/>
          <a:lstStyle/>
          <a:p>
            <a:pPr indent="0" marL="0">
              <a:buNone/>
            </a:pPr>
            <a:r>
              <a:rPr lang="en-US" sz="900" b="1" dirty="0">
                <a:solidFill>
                  <a:srgbClr val="C2690F"/>
                </a:solidFill>
                <a:latin typeface="Calibri" pitchFamily="34" charset="0"/>
                <a:ea typeface="Calibri" pitchFamily="34" charset="-122"/>
                <a:cs typeface="Calibri" pitchFamily="34" charset="-120"/>
              </a:rPr>
              <a:t>Filtering</a:t>
            </a:r>
            <a:endParaRPr lang="en-US" sz="900" dirty="0"/>
          </a:p>
        </p:txBody>
      </p:sp>
      <p:sp>
        <p:nvSpPr>
          <p:cNvPr id="34" name="Text 31"/>
          <p:cNvSpPr txBox="1"/>
          <p:nvPr/>
        </p:nvSpPr>
        <p:spPr>
          <a:xfrm>
            <a:off x="7388352" y="4325112"/>
            <a:ext cx="3986784" cy="457200"/>
          </a:xfrm>
          <a:prstGeom prst="rect">
            <a:avLst/>
          </a:prstGeom>
          <a:noFill/>
          <a:ln/>
        </p:spPr>
        <p:txBody>
          <a:bodyPr wrap="square" lIns="0" tIns="0" rIns="0" bIns="0" rtlCol="0" anchor="t"/>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Pairs are used only where the officer materially rewrote the draft. Cosmetic-only edits carry no preference signal and are excluded</a:t>
            </a:r>
            <a:endParaRPr lang="en-US" sz="900" dirty="0"/>
          </a:p>
        </p:txBody>
      </p:sp>
      <p:sp>
        <p:nvSpPr>
          <p:cNvPr id="35" name="Text 32"/>
          <p:cNvSpPr txBox="1"/>
          <p:nvPr/>
        </p:nvSpPr>
        <p:spPr>
          <a:xfrm>
            <a:off x="6510528" y="4809744"/>
            <a:ext cx="859536" cy="219456"/>
          </a:xfrm>
          <a:prstGeom prst="rect">
            <a:avLst/>
          </a:prstGeom>
          <a:noFill/>
          <a:ln/>
        </p:spPr>
        <p:txBody>
          <a:bodyPr wrap="square" lIns="0" tIns="0" rIns="0" bIns="0" rtlCol="0" anchor="t"/>
          <a:lstStyle/>
          <a:p>
            <a:pPr indent="0" marL="0">
              <a:buNone/>
            </a:pPr>
            <a:r>
              <a:rPr lang="en-US" sz="900" b="1" dirty="0">
                <a:solidFill>
                  <a:srgbClr val="C2690F"/>
                </a:solidFill>
                <a:latin typeface="Calibri" pitchFamily="34" charset="0"/>
                <a:ea typeface="Calibri" pitchFamily="34" charset="-122"/>
                <a:cs typeface="Calibri" pitchFamily="34" charset="-120"/>
              </a:rPr>
              <a:t>Scale</a:t>
            </a:r>
            <a:endParaRPr lang="en-US" sz="900" dirty="0"/>
          </a:p>
        </p:txBody>
      </p:sp>
      <p:sp>
        <p:nvSpPr>
          <p:cNvPr id="36" name="Text 33"/>
          <p:cNvSpPr txBox="1"/>
          <p:nvPr/>
        </p:nvSpPr>
        <p:spPr>
          <a:xfrm>
            <a:off x="7388352" y="4809744"/>
            <a:ext cx="3986784" cy="457200"/>
          </a:xfrm>
          <a:prstGeom prst="rect">
            <a:avLst/>
          </a:prstGeom>
          <a:noFill/>
          <a:ln/>
        </p:spPr>
        <p:txBody>
          <a:bodyPr wrap="square" lIns="0" tIns="0" rIns="0" bIns="0" rtlCol="0" anchor="t"/>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Grows with usage. Every rejected draft the platform has ever produced is already a usable preference pair</a:t>
            </a:r>
            <a:endParaRPr lang="en-US" sz="900" dirty="0"/>
          </a:p>
        </p:txBody>
      </p:sp>
      <p:sp>
        <p:nvSpPr>
          <p:cNvPr id="37" name="Shape 34"/>
          <p:cNvSpPr/>
          <p:nvPr/>
        </p:nvSpPr>
        <p:spPr>
          <a:xfrm>
            <a:off x="566928" y="5449824"/>
            <a:ext cx="11055096" cy="804672"/>
          </a:xfrm>
          <a:prstGeom prst="roundRect">
            <a:avLst>
              <a:gd name="adj" fmla="val 7955"/>
            </a:avLst>
          </a:prstGeom>
          <a:solidFill>
            <a:srgbClr val="0F2B46"/>
          </a:solidFill>
          <a:ln w="9525">
            <a:solidFill>
              <a:srgbClr val="0F2B46"/>
            </a:solidFill>
            <a:prstDash val="solid"/>
          </a:ln>
          <a:effectLst>
            <a:outerShdw sx="100000" sy="100000" kx="0" ky="0" algn="bl" rotWithShape="0" blurRad="101600" dist="12700" dir="5400000">
              <a:srgbClr val="0F2B46">
                <a:alpha val="8000"/>
              </a:srgbClr>
            </a:outerShdw>
          </a:effectLst>
        </p:spPr>
      </p:sp>
      <p:sp>
        <p:nvSpPr>
          <p:cNvPr id="38" name="Text 35"/>
          <p:cNvSpPr txBox="1"/>
          <p:nvPr/>
        </p:nvSpPr>
        <p:spPr>
          <a:xfrm>
            <a:off x="841248" y="5559552"/>
            <a:ext cx="2194560" cy="237744"/>
          </a:xfrm>
          <a:prstGeom prst="rect">
            <a:avLst/>
          </a:prstGeom>
          <a:noFill/>
          <a:ln/>
        </p:spPr>
        <p:txBody>
          <a:bodyPr wrap="square" lIns="0" tIns="0" rIns="0" bIns="0" rtlCol="0" anchor="ctr"/>
          <a:lstStyle/>
          <a:p>
            <a:pPr indent="0" marL="0">
              <a:buNone/>
            </a:pPr>
            <a:r>
              <a:rPr lang="en-US" sz="900" b="1" spc="130" kern="0" dirty="0">
                <a:solidFill>
                  <a:srgbClr val="8FC3D9"/>
                </a:solidFill>
                <a:latin typeface="Calibri" pitchFamily="34" charset="0"/>
                <a:ea typeface="Calibri" pitchFamily="34" charset="-122"/>
                <a:cs typeface="Calibri" pitchFamily="34" charset="-120"/>
              </a:rPr>
              <a:t>PROMOTION GATE</a:t>
            </a:r>
            <a:endParaRPr lang="en-US" sz="900" dirty="0"/>
          </a:p>
        </p:txBody>
      </p:sp>
      <p:sp>
        <p:nvSpPr>
          <p:cNvPr id="39" name="Text 36"/>
          <p:cNvSpPr txBox="1"/>
          <p:nvPr/>
        </p:nvSpPr>
        <p:spPr>
          <a:xfrm>
            <a:off x="841248" y="5797296"/>
            <a:ext cx="10424160" cy="365760"/>
          </a:xfrm>
          <a:prstGeom prst="rect">
            <a:avLst/>
          </a:prstGeom>
          <a:noFill/>
          <a:ln/>
        </p:spPr>
        <p:txBody>
          <a:bodyPr wrap="square" lIns="0" tIns="0" rIns="0" bIns="0" rtlCol="0" anchor="ctr"/>
          <a:lstStyle/>
          <a:p>
            <a:pPr indent="0" marL="0">
              <a:lnSpc>
                <a:spcPts val="1300"/>
              </a:lnSpc>
              <a:buNone/>
            </a:pPr>
            <a:r>
              <a:rPr lang="en-US" sz="1000" dirty="0">
                <a:solidFill>
                  <a:srgbClr val="C3D8E3"/>
                </a:solidFill>
                <a:latin typeface="Calibri" pitchFamily="34" charset="0"/>
                <a:ea typeface="Calibri" pitchFamily="34" charset="-122"/>
                <a:cs typeface="Calibri" pitchFamily="34" charset="-120"/>
              </a:rPr>
              <a:t>A checkpoint reaches production only if faithfulness does not regress on the held-out golden set, the human panel confirms improvement on 30 blind items, and it survives a canary period against the incumbent. Otherwise it is discarded and the current approved model continues.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6</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Guardrails, security and governance</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14</a:t>
            </a:r>
            <a:endParaRPr lang="en-US" sz="850" dirty="0"/>
          </a:p>
        </p:txBody>
      </p:sp>
      <p:sp>
        <p:nvSpPr>
          <p:cNvPr id="7" name="Shape 4"/>
          <p:cNvSpPr/>
          <p:nvPr/>
        </p:nvSpPr>
        <p:spPr>
          <a:xfrm>
            <a:off x="566928" y="1444752"/>
            <a:ext cx="3514344" cy="2139696"/>
          </a:xfrm>
          <a:prstGeom prst="roundRect">
            <a:avLst>
              <a:gd name="adj" fmla="val 2991"/>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8" name="Shape 5"/>
          <p:cNvSpPr/>
          <p:nvPr/>
        </p:nvSpPr>
        <p:spPr>
          <a:xfrm>
            <a:off x="786384" y="1664208"/>
            <a:ext cx="384048" cy="384048"/>
          </a:xfrm>
          <a:prstGeom prst="ellipse">
            <a:avLst/>
          </a:prstGeom>
          <a:solidFill>
            <a:srgbClr val="C2690F"/>
          </a:solidFill>
          <a:ln w="6350">
            <a:solidFill>
              <a:srgbClr val="C2690F"/>
            </a:solidFill>
            <a:prstDash val="solid"/>
          </a:ln>
        </p:spPr>
      </p:sp>
      <p:sp>
        <p:nvSpPr>
          <p:cNvPr id="9" name="Text 6"/>
          <p:cNvSpPr txBox="1"/>
          <p:nvPr/>
        </p:nvSpPr>
        <p:spPr>
          <a:xfrm>
            <a:off x="786384" y="1664208"/>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0" name="Text 7"/>
          <p:cNvSpPr txBox="1"/>
          <p:nvPr/>
        </p:nvSpPr>
        <p:spPr>
          <a:xfrm>
            <a:off x="786384" y="2176272"/>
            <a:ext cx="3075432" cy="603504"/>
          </a:xfrm>
          <a:prstGeom prst="rect">
            <a:avLst/>
          </a:prstGeom>
          <a:noFill/>
          <a:ln/>
        </p:spPr>
        <p:txBody>
          <a:bodyPr wrap="square" lIns="0" tIns="0" rIns="0" bIns="0" rtlCol="0" anchor="ctr"/>
          <a:lstStyle/>
          <a:p>
            <a:pPr indent="0" marL="0">
              <a:lnSpc>
                <a:spcPts val="1600"/>
              </a:lnSpc>
              <a:buNone/>
            </a:pPr>
            <a:r>
              <a:rPr lang="en-US" sz="1300" b="1" dirty="0">
                <a:solidFill>
                  <a:srgbClr val="0F2B46"/>
                </a:solidFill>
                <a:latin typeface="Cambria" pitchFamily="34" charset="0"/>
                <a:ea typeface="Cambria" pitchFamily="34" charset="-122"/>
                <a:cs typeface="Cambria" pitchFamily="34" charset="-120"/>
              </a:rPr>
              <a:t>Facts come only from the submitted source</a:t>
            </a:r>
            <a:endParaRPr lang="en-US" sz="1300" dirty="0"/>
          </a:p>
        </p:txBody>
      </p:sp>
      <p:sp>
        <p:nvSpPr>
          <p:cNvPr id="11" name="Text 8"/>
          <p:cNvSpPr txBox="1"/>
          <p:nvPr/>
        </p:nvSpPr>
        <p:spPr>
          <a:xfrm>
            <a:off x="786384" y="2816352"/>
            <a:ext cx="3075432" cy="658368"/>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The Mahasamvad archive supplies tone and structure. It is never used as a factual source. A model cannot borrow a figure from a 2019 article into a 2026 press note.</a:t>
            </a:r>
            <a:endParaRPr lang="en-US" sz="950" dirty="0"/>
          </a:p>
        </p:txBody>
      </p:sp>
      <p:sp>
        <p:nvSpPr>
          <p:cNvPr id="12" name="Shape 9"/>
          <p:cNvSpPr/>
          <p:nvPr/>
        </p:nvSpPr>
        <p:spPr>
          <a:xfrm>
            <a:off x="4337304" y="1444752"/>
            <a:ext cx="3514344" cy="2139696"/>
          </a:xfrm>
          <a:prstGeom prst="roundRect">
            <a:avLst>
              <a:gd name="adj" fmla="val 2991"/>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3" name="Shape 10"/>
          <p:cNvSpPr/>
          <p:nvPr/>
        </p:nvSpPr>
        <p:spPr>
          <a:xfrm>
            <a:off x="4556760" y="1664208"/>
            <a:ext cx="384048" cy="384048"/>
          </a:xfrm>
          <a:prstGeom prst="ellipse">
            <a:avLst/>
          </a:prstGeom>
          <a:solidFill>
            <a:srgbClr val="C2690F"/>
          </a:solidFill>
          <a:ln w="6350">
            <a:solidFill>
              <a:srgbClr val="C2690F"/>
            </a:solidFill>
            <a:prstDash val="solid"/>
          </a:ln>
        </p:spPr>
      </p:sp>
      <p:sp>
        <p:nvSpPr>
          <p:cNvPr id="14" name="Text 11"/>
          <p:cNvSpPr txBox="1"/>
          <p:nvPr/>
        </p:nvSpPr>
        <p:spPr>
          <a:xfrm>
            <a:off x="4556760" y="1664208"/>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5" name="Text 12"/>
          <p:cNvSpPr txBox="1"/>
          <p:nvPr/>
        </p:nvSpPr>
        <p:spPr>
          <a:xfrm>
            <a:off x="4556760" y="2176272"/>
            <a:ext cx="3075432" cy="603504"/>
          </a:xfrm>
          <a:prstGeom prst="rect">
            <a:avLst/>
          </a:prstGeom>
          <a:noFill/>
          <a:ln/>
        </p:spPr>
        <p:txBody>
          <a:bodyPr wrap="square" lIns="0" tIns="0" rIns="0" bIns="0" rtlCol="0" anchor="ctr"/>
          <a:lstStyle/>
          <a:p>
            <a:pPr indent="0" marL="0">
              <a:lnSpc>
                <a:spcPts val="1600"/>
              </a:lnSpc>
              <a:buNone/>
            </a:pPr>
            <a:r>
              <a:rPr lang="en-US" sz="1300" b="1" dirty="0">
                <a:solidFill>
                  <a:srgbClr val="0F2B46"/>
                </a:solidFill>
                <a:latin typeface="Cambria" pitchFamily="34" charset="0"/>
                <a:ea typeface="Cambria" pitchFamily="34" charset="-122"/>
                <a:cs typeface="Cambria" pitchFamily="34" charset="-120"/>
              </a:rPr>
              <a:t>Automated verification before an officer reads it</a:t>
            </a:r>
            <a:endParaRPr lang="en-US" sz="1300" dirty="0"/>
          </a:p>
        </p:txBody>
      </p:sp>
      <p:sp>
        <p:nvSpPr>
          <p:cNvPr id="16" name="Text 13"/>
          <p:cNvSpPr txBox="1"/>
          <p:nvPr/>
        </p:nvSpPr>
        <p:spPr>
          <a:xfrm>
            <a:off x="4556760" y="2816352"/>
            <a:ext cx="3075432" cy="658368"/>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Every draft is checked for coverage — are all required facts present — and faithfulness — does every claim trace to the source. Gaps are flagged, not hidden.</a:t>
            </a:r>
            <a:endParaRPr lang="en-US" sz="950" dirty="0"/>
          </a:p>
        </p:txBody>
      </p:sp>
      <p:sp>
        <p:nvSpPr>
          <p:cNvPr id="17" name="Shape 14"/>
          <p:cNvSpPr/>
          <p:nvPr/>
        </p:nvSpPr>
        <p:spPr>
          <a:xfrm>
            <a:off x="8107680" y="1444752"/>
            <a:ext cx="3514344" cy="2139696"/>
          </a:xfrm>
          <a:prstGeom prst="roundRect">
            <a:avLst>
              <a:gd name="adj" fmla="val 2991"/>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8" name="Shape 15"/>
          <p:cNvSpPr/>
          <p:nvPr/>
        </p:nvSpPr>
        <p:spPr>
          <a:xfrm>
            <a:off x="8327136" y="1664208"/>
            <a:ext cx="384048" cy="384048"/>
          </a:xfrm>
          <a:prstGeom prst="ellipse">
            <a:avLst/>
          </a:prstGeom>
          <a:solidFill>
            <a:srgbClr val="C2690F"/>
          </a:solidFill>
          <a:ln w="6350">
            <a:solidFill>
              <a:srgbClr val="C2690F"/>
            </a:solidFill>
            <a:prstDash val="solid"/>
          </a:ln>
        </p:spPr>
      </p:sp>
      <p:sp>
        <p:nvSpPr>
          <p:cNvPr id="19" name="Text 16"/>
          <p:cNvSpPr txBox="1"/>
          <p:nvPr/>
        </p:nvSpPr>
        <p:spPr>
          <a:xfrm>
            <a:off x="8327136" y="1664208"/>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txBox="1"/>
          <p:nvPr/>
        </p:nvSpPr>
        <p:spPr>
          <a:xfrm>
            <a:off x="8327136" y="2176272"/>
            <a:ext cx="3075432" cy="603504"/>
          </a:xfrm>
          <a:prstGeom prst="rect">
            <a:avLst/>
          </a:prstGeom>
          <a:noFill/>
          <a:ln/>
        </p:spPr>
        <p:txBody>
          <a:bodyPr wrap="square" lIns="0" tIns="0" rIns="0" bIns="0" rtlCol="0" anchor="ctr"/>
          <a:lstStyle/>
          <a:p>
            <a:pPr indent="0" marL="0">
              <a:lnSpc>
                <a:spcPts val="1600"/>
              </a:lnSpc>
              <a:buNone/>
            </a:pPr>
            <a:r>
              <a:rPr lang="en-US" sz="1300" b="1" dirty="0">
                <a:solidFill>
                  <a:srgbClr val="0F2B46"/>
                </a:solidFill>
                <a:latin typeface="Cambria" pitchFamily="34" charset="0"/>
                <a:ea typeface="Cambria" pitchFamily="34" charset="-122"/>
                <a:cs typeface="Cambria" pitchFamily="34" charset="-120"/>
              </a:rPr>
              <a:t>Human approval is mandatory</a:t>
            </a:r>
            <a:endParaRPr lang="en-US" sz="1300" dirty="0"/>
          </a:p>
        </p:txBody>
      </p:sp>
      <p:sp>
        <p:nvSpPr>
          <p:cNvPr id="21" name="Text 18"/>
          <p:cNvSpPr txBox="1"/>
          <p:nvPr/>
        </p:nvSpPr>
        <p:spPr>
          <a:xfrm>
            <a:off x="8327136" y="2816352"/>
            <a:ext cx="3075432" cy="658368"/>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Nothing is published without explicit officer sign-off. The system produces review-ready drafts; it does not publish autonomously.</a:t>
            </a:r>
            <a:endParaRPr lang="en-US" sz="950" dirty="0"/>
          </a:p>
        </p:txBody>
      </p:sp>
      <p:sp>
        <p:nvSpPr>
          <p:cNvPr id="22" name="Shape 19"/>
          <p:cNvSpPr/>
          <p:nvPr/>
        </p:nvSpPr>
        <p:spPr>
          <a:xfrm>
            <a:off x="566928" y="3822192"/>
            <a:ext cx="3514344" cy="2139696"/>
          </a:xfrm>
          <a:prstGeom prst="roundRect">
            <a:avLst>
              <a:gd name="adj" fmla="val 2991"/>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3" name="Shape 20"/>
          <p:cNvSpPr/>
          <p:nvPr/>
        </p:nvSpPr>
        <p:spPr>
          <a:xfrm>
            <a:off x="786384" y="4041648"/>
            <a:ext cx="384048" cy="384048"/>
          </a:xfrm>
          <a:prstGeom prst="ellipse">
            <a:avLst/>
          </a:prstGeom>
          <a:solidFill>
            <a:srgbClr val="1C7293"/>
          </a:solidFill>
          <a:ln w="6350">
            <a:solidFill>
              <a:srgbClr val="1C7293"/>
            </a:solidFill>
            <a:prstDash val="solid"/>
          </a:ln>
        </p:spPr>
      </p:sp>
      <p:sp>
        <p:nvSpPr>
          <p:cNvPr id="24" name="Text 21"/>
          <p:cNvSpPr txBox="1"/>
          <p:nvPr/>
        </p:nvSpPr>
        <p:spPr>
          <a:xfrm>
            <a:off x="786384" y="4041648"/>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5" name="Text 22"/>
          <p:cNvSpPr txBox="1"/>
          <p:nvPr/>
        </p:nvSpPr>
        <p:spPr>
          <a:xfrm>
            <a:off x="786384" y="4553712"/>
            <a:ext cx="3075432" cy="603504"/>
          </a:xfrm>
          <a:prstGeom prst="rect">
            <a:avLst/>
          </a:prstGeom>
          <a:noFill/>
          <a:ln/>
        </p:spPr>
        <p:txBody>
          <a:bodyPr wrap="square" lIns="0" tIns="0" rIns="0" bIns="0" rtlCol="0" anchor="ctr"/>
          <a:lstStyle/>
          <a:p>
            <a:pPr indent="0" marL="0">
              <a:lnSpc>
                <a:spcPts val="1600"/>
              </a:lnSpc>
              <a:buNone/>
            </a:pPr>
            <a:r>
              <a:rPr lang="en-US" sz="1300" b="1" dirty="0">
                <a:solidFill>
                  <a:srgbClr val="0F2B46"/>
                </a:solidFill>
                <a:latin typeface="Cambria" pitchFamily="34" charset="0"/>
                <a:ea typeface="Cambria" pitchFamily="34" charset="-122"/>
                <a:cs typeface="Cambria" pitchFamily="34" charset="-120"/>
              </a:rPr>
              <a:t>Complete audit trail</a:t>
            </a:r>
            <a:endParaRPr lang="en-US" sz="1300" dirty="0"/>
          </a:p>
        </p:txBody>
      </p:sp>
      <p:sp>
        <p:nvSpPr>
          <p:cNvPr id="26" name="Text 23"/>
          <p:cNvSpPr txBox="1"/>
          <p:nvPr/>
        </p:nvSpPr>
        <p:spPr>
          <a:xfrm>
            <a:off x="786384" y="5193792"/>
            <a:ext cx="3075432" cy="658368"/>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Source document, prompt, model version, every draft, every feedback message and the approving officer are stored against each article and can be produced on demand.</a:t>
            </a:r>
            <a:endParaRPr lang="en-US" sz="950" dirty="0"/>
          </a:p>
        </p:txBody>
      </p:sp>
      <p:sp>
        <p:nvSpPr>
          <p:cNvPr id="27" name="Shape 24"/>
          <p:cNvSpPr/>
          <p:nvPr/>
        </p:nvSpPr>
        <p:spPr>
          <a:xfrm>
            <a:off x="4337304" y="3822192"/>
            <a:ext cx="3514344" cy="2139696"/>
          </a:xfrm>
          <a:prstGeom prst="roundRect">
            <a:avLst>
              <a:gd name="adj" fmla="val 2991"/>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8" name="Shape 25"/>
          <p:cNvSpPr/>
          <p:nvPr/>
        </p:nvSpPr>
        <p:spPr>
          <a:xfrm>
            <a:off x="4556760" y="4041648"/>
            <a:ext cx="384048" cy="384048"/>
          </a:xfrm>
          <a:prstGeom prst="ellipse">
            <a:avLst/>
          </a:prstGeom>
          <a:solidFill>
            <a:srgbClr val="1C7293"/>
          </a:solidFill>
          <a:ln w="6350">
            <a:solidFill>
              <a:srgbClr val="1C7293"/>
            </a:solidFill>
            <a:prstDash val="solid"/>
          </a:ln>
        </p:spPr>
      </p:sp>
      <p:sp>
        <p:nvSpPr>
          <p:cNvPr id="29" name="Text 26"/>
          <p:cNvSpPr txBox="1"/>
          <p:nvPr/>
        </p:nvSpPr>
        <p:spPr>
          <a:xfrm>
            <a:off x="4556760" y="4041648"/>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30" name="Text 27"/>
          <p:cNvSpPr txBox="1"/>
          <p:nvPr/>
        </p:nvSpPr>
        <p:spPr>
          <a:xfrm>
            <a:off x="4556760" y="4553712"/>
            <a:ext cx="3075432" cy="603504"/>
          </a:xfrm>
          <a:prstGeom prst="rect">
            <a:avLst/>
          </a:prstGeom>
          <a:noFill/>
          <a:ln/>
        </p:spPr>
        <p:txBody>
          <a:bodyPr wrap="square" lIns="0" tIns="0" rIns="0" bIns="0" rtlCol="0" anchor="ctr"/>
          <a:lstStyle/>
          <a:p>
            <a:pPr indent="0" marL="0">
              <a:lnSpc>
                <a:spcPts val="1600"/>
              </a:lnSpc>
              <a:buNone/>
            </a:pPr>
            <a:r>
              <a:rPr lang="en-US" sz="1300" b="1" dirty="0">
                <a:solidFill>
                  <a:srgbClr val="0F2B46"/>
                </a:solidFill>
                <a:latin typeface="Cambria" pitchFamily="34" charset="0"/>
                <a:ea typeface="Cambria" pitchFamily="34" charset="-122"/>
                <a:cs typeface="Cambria" pitchFamily="34" charset="-120"/>
              </a:rPr>
              <a:t>Access control and encryption</a:t>
            </a:r>
            <a:endParaRPr lang="en-US" sz="1300" dirty="0"/>
          </a:p>
        </p:txBody>
      </p:sp>
      <p:sp>
        <p:nvSpPr>
          <p:cNvPr id="31" name="Text 28"/>
          <p:cNvSpPr txBox="1"/>
          <p:nvPr/>
        </p:nvSpPr>
        <p:spPr>
          <a:xfrm>
            <a:off x="4556760" y="5193792"/>
            <a:ext cx="3075432" cy="658368"/>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Role-based access, encryption in transit and at rest, no outbound inference calls, segregated egress for public-web monitoring only.</a:t>
            </a:r>
            <a:endParaRPr lang="en-US" sz="950" dirty="0"/>
          </a:p>
        </p:txBody>
      </p:sp>
      <p:sp>
        <p:nvSpPr>
          <p:cNvPr id="32" name="Shape 29"/>
          <p:cNvSpPr/>
          <p:nvPr/>
        </p:nvSpPr>
        <p:spPr>
          <a:xfrm>
            <a:off x="8107680" y="3822192"/>
            <a:ext cx="3514344" cy="2139696"/>
          </a:xfrm>
          <a:prstGeom prst="roundRect">
            <a:avLst>
              <a:gd name="adj" fmla="val 2991"/>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33" name="Shape 30"/>
          <p:cNvSpPr/>
          <p:nvPr/>
        </p:nvSpPr>
        <p:spPr>
          <a:xfrm>
            <a:off x="8327136" y="4041648"/>
            <a:ext cx="384048" cy="384048"/>
          </a:xfrm>
          <a:prstGeom prst="ellipse">
            <a:avLst/>
          </a:prstGeom>
          <a:solidFill>
            <a:srgbClr val="1C7293"/>
          </a:solidFill>
          <a:ln w="6350">
            <a:solidFill>
              <a:srgbClr val="1C7293"/>
            </a:solidFill>
            <a:prstDash val="solid"/>
          </a:ln>
        </p:spPr>
      </p:sp>
      <p:sp>
        <p:nvSpPr>
          <p:cNvPr id="34" name="Text 31"/>
          <p:cNvSpPr txBox="1"/>
          <p:nvPr/>
        </p:nvSpPr>
        <p:spPr>
          <a:xfrm>
            <a:off x="8327136" y="4041648"/>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5" name="Text 32"/>
          <p:cNvSpPr txBox="1"/>
          <p:nvPr/>
        </p:nvSpPr>
        <p:spPr>
          <a:xfrm>
            <a:off x="8327136" y="4553712"/>
            <a:ext cx="3075432" cy="603504"/>
          </a:xfrm>
          <a:prstGeom prst="rect">
            <a:avLst/>
          </a:prstGeom>
          <a:noFill/>
          <a:ln/>
        </p:spPr>
        <p:txBody>
          <a:bodyPr wrap="square" lIns="0" tIns="0" rIns="0" bIns="0" rtlCol="0" anchor="ctr"/>
          <a:lstStyle/>
          <a:p>
            <a:pPr indent="0" marL="0">
              <a:lnSpc>
                <a:spcPts val="1600"/>
              </a:lnSpc>
              <a:buNone/>
            </a:pPr>
            <a:r>
              <a:rPr lang="en-US" sz="1300" b="1" dirty="0">
                <a:solidFill>
                  <a:srgbClr val="0F2B46"/>
                </a:solidFill>
                <a:latin typeface="Cambria" pitchFamily="34" charset="0"/>
                <a:ea typeface="Cambria" pitchFamily="34" charset="-122"/>
                <a:cs typeface="Cambria" pitchFamily="34" charset="-120"/>
              </a:rPr>
              <a:t>Versioned models with one-step rollback</a:t>
            </a:r>
            <a:endParaRPr lang="en-US" sz="1300" dirty="0"/>
          </a:p>
        </p:txBody>
      </p:sp>
      <p:sp>
        <p:nvSpPr>
          <p:cNvPr id="36" name="Text 33"/>
          <p:cNvSpPr txBox="1"/>
          <p:nvPr/>
        </p:nvSpPr>
        <p:spPr>
          <a:xfrm>
            <a:off x="8327136" y="5193792"/>
            <a:ext cx="3075432" cy="658368"/>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Every checkpoint is registered with its evaluation record and approval state. Reverting to the previous approved model is a single operation.</a:t>
            </a:r>
            <a:endParaRPr lang="en-US" sz="950" dirty="0"/>
          </a:p>
        </p:txBody>
      </p:sp>
      <p:sp>
        <p:nvSpPr>
          <p:cNvPr id="37" name="Text 34"/>
          <p:cNvSpPr txBox="1"/>
          <p:nvPr/>
        </p:nvSpPr>
        <p:spPr>
          <a:xfrm>
            <a:off x="566928" y="6035040"/>
            <a:ext cx="11055096" cy="274320"/>
          </a:xfrm>
          <a:prstGeom prst="rect">
            <a:avLst/>
          </a:prstGeom>
          <a:noFill/>
          <a:ln/>
        </p:spPr>
        <p:txBody>
          <a:bodyPr wrap="square" lIns="0" tIns="0" rIns="0" bIns="0" rtlCol="0" anchor="ctr"/>
          <a:lstStyle/>
          <a:p>
            <a:pPr indent="0" marL="0">
              <a:buNone/>
            </a:pPr>
            <a:r>
              <a:rPr lang="en-US" sz="900" i="1" dirty="0">
                <a:solidFill>
                  <a:srgbClr val="72868F"/>
                </a:solidFill>
                <a:latin typeface="Calibri" pitchFamily="34" charset="0"/>
                <a:ea typeface="Calibri" pitchFamily="34" charset="-122"/>
                <a:cs typeface="Calibri" pitchFamily="34" charset="-120"/>
              </a:rPr>
              <a:t>Nothing in this pipeline requires an internet connection. The system continues to function during a departmental network outage.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SECTION 7</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What the department gets</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15</a:t>
            </a:r>
            <a:endParaRPr lang="en-US" sz="850" dirty="0"/>
          </a:p>
        </p:txBody>
      </p:sp>
      <p:sp>
        <p:nvSpPr>
          <p:cNvPr id="7" name="Shape 4"/>
          <p:cNvSpPr/>
          <p:nvPr/>
        </p:nvSpPr>
        <p:spPr>
          <a:xfrm>
            <a:off x="566928" y="1444752"/>
            <a:ext cx="2578608" cy="2103120"/>
          </a:xfrm>
          <a:prstGeom prst="roundRect">
            <a:avLst>
              <a:gd name="adj" fmla="val 3043"/>
            </a:avLst>
          </a:prstGeom>
          <a:solidFill>
            <a:srgbClr val="FBEEDC"/>
          </a:solidFill>
          <a:ln w="9525">
            <a:solidFill>
              <a:srgbClr val="EBD3AE"/>
            </a:solidFill>
            <a:prstDash val="solid"/>
          </a:ln>
          <a:effectLst>
            <a:outerShdw sx="100000" sy="100000" kx="0" ky="0" algn="bl" rotWithShape="0" blurRad="101600" dist="12700" dir="5400000">
              <a:srgbClr val="0F2B46">
                <a:alpha val="8000"/>
              </a:srgbClr>
            </a:outerShdw>
          </a:effectLst>
        </p:spPr>
      </p:sp>
      <p:sp>
        <p:nvSpPr>
          <p:cNvPr id="8" name="Shape 5"/>
          <p:cNvSpPr/>
          <p:nvPr/>
        </p:nvSpPr>
        <p:spPr>
          <a:xfrm>
            <a:off x="786384" y="1645920"/>
            <a:ext cx="365760" cy="365760"/>
          </a:xfrm>
          <a:prstGeom prst="ellipse">
            <a:avLst/>
          </a:prstGeom>
          <a:solidFill>
            <a:srgbClr val="C2690F"/>
          </a:solidFill>
          <a:ln w="6350">
            <a:solidFill>
              <a:srgbClr val="C2690F"/>
            </a:solidFill>
            <a:prstDash val="solid"/>
          </a:ln>
        </p:spPr>
      </p:sp>
      <p:sp>
        <p:nvSpPr>
          <p:cNvPr id="9" name="Text 6"/>
          <p:cNvSpPr txBox="1"/>
          <p:nvPr/>
        </p:nvSpPr>
        <p:spPr>
          <a:xfrm>
            <a:off x="786384" y="1645920"/>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0" name="Text 7"/>
          <p:cNvSpPr txBox="1"/>
          <p:nvPr/>
        </p:nvSpPr>
        <p:spPr>
          <a:xfrm>
            <a:off x="786384" y="2121408"/>
            <a:ext cx="2139696" cy="548640"/>
          </a:xfrm>
          <a:prstGeom prst="rect">
            <a:avLst/>
          </a:prstGeom>
          <a:noFill/>
          <a:ln/>
        </p:spPr>
        <p:txBody>
          <a:bodyPr wrap="square" lIns="0" tIns="0" rIns="0" bIns="0" rtlCol="0" anchor="ctr"/>
          <a:lstStyle/>
          <a:p>
            <a:pPr indent="0" marL="0">
              <a:lnSpc>
                <a:spcPts val="1600"/>
              </a:lnSpc>
              <a:buNone/>
            </a:pPr>
            <a:r>
              <a:rPr lang="en-US" sz="1300" b="1" dirty="0">
                <a:solidFill>
                  <a:srgbClr val="0F2B46"/>
                </a:solidFill>
                <a:latin typeface="Cambria" pitchFamily="34" charset="0"/>
                <a:ea typeface="Cambria" pitchFamily="34" charset="-122"/>
                <a:cs typeface="Cambria" pitchFamily="34" charset="-120"/>
              </a:rPr>
              <a:t>A model that writes like DGIPR</a:t>
            </a:r>
            <a:endParaRPr lang="en-US" sz="1300" dirty="0"/>
          </a:p>
        </p:txBody>
      </p:sp>
      <p:sp>
        <p:nvSpPr>
          <p:cNvPr id="11" name="Text 8"/>
          <p:cNvSpPr txBox="1"/>
          <p:nvPr/>
        </p:nvSpPr>
        <p:spPr>
          <a:xfrm>
            <a:off x="786384" y="2706624"/>
            <a:ext cx="2139696" cy="749808"/>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Trained on the department's own approved articles and the corrections officers make to them — not on a generic corpus.</a:t>
            </a:r>
            <a:endParaRPr lang="en-US" sz="900" dirty="0"/>
          </a:p>
        </p:txBody>
      </p:sp>
      <p:sp>
        <p:nvSpPr>
          <p:cNvPr id="12" name="Shape 9"/>
          <p:cNvSpPr/>
          <p:nvPr/>
        </p:nvSpPr>
        <p:spPr>
          <a:xfrm>
            <a:off x="3392424" y="1444752"/>
            <a:ext cx="2578608" cy="2103120"/>
          </a:xfrm>
          <a:prstGeom prst="roundRect">
            <a:avLst>
              <a:gd name="adj" fmla="val 3043"/>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3" name="Shape 10"/>
          <p:cNvSpPr/>
          <p:nvPr/>
        </p:nvSpPr>
        <p:spPr>
          <a:xfrm>
            <a:off x="3611880" y="1645920"/>
            <a:ext cx="365760" cy="365760"/>
          </a:xfrm>
          <a:prstGeom prst="ellipse">
            <a:avLst/>
          </a:prstGeom>
          <a:solidFill>
            <a:srgbClr val="1C7293"/>
          </a:solidFill>
          <a:ln w="6350">
            <a:solidFill>
              <a:srgbClr val="1C7293"/>
            </a:solidFill>
            <a:prstDash val="solid"/>
          </a:ln>
        </p:spPr>
      </p:sp>
      <p:sp>
        <p:nvSpPr>
          <p:cNvPr id="14" name="Text 11"/>
          <p:cNvSpPr txBox="1"/>
          <p:nvPr/>
        </p:nvSpPr>
        <p:spPr>
          <a:xfrm>
            <a:off x="3611880" y="1645920"/>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5" name="Text 12"/>
          <p:cNvSpPr txBox="1"/>
          <p:nvPr/>
        </p:nvSpPr>
        <p:spPr>
          <a:xfrm>
            <a:off x="3611880" y="2121408"/>
            <a:ext cx="2139696" cy="548640"/>
          </a:xfrm>
          <a:prstGeom prst="rect">
            <a:avLst/>
          </a:prstGeom>
          <a:noFill/>
          <a:ln/>
        </p:spPr>
        <p:txBody>
          <a:bodyPr wrap="square" lIns="0" tIns="0" rIns="0" bIns="0" rtlCol="0" anchor="ctr"/>
          <a:lstStyle/>
          <a:p>
            <a:pPr indent="0" marL="0">
              <a:lnSpc>
                <a:spcPts val="1600"/>
              </a:lnSpc>
              <a:buNone/>
            </a:pPr>
            <a:r>
              <a:rPr lang="en-US" sz="1300" b="1" dirty="0">
                <a:solidFill>
                  <a:srgbClr val="0F2B46"/>
                </a:solidFill>
                <a:latin typeface="Cambria" pitchFamily="34" charset="0"/>
                <a:ea typeface="Cambria" pitchFamily="34" charset="-122"/>
                <a:cs typeface="Cambria" pitchFamily="34" charset="-120"/>
              </a:rPr>
              <a:t>Weights the department owns</a:t>
            </a:r>
            <a:endParaRPr lang="en-US" sz="1300" dirty="0"/>
          </a:p>
        </p:txBody>
      </p:sp>
      <p:sp>
        <p:nvSpPr>
          <p:cNvPr id="16" name="Text 13"/>
          <p:cNvSpPr txBox="1"/>
          <p:nvPr/>
        </p:nvSpPr>
        <p:spPr>
          <a:xfrm>
            <a:off x="3611880" y="2706624"/>
            <a:ext cx="2139696" cy="749808"/>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Base weights are Apache 2.0; the fine-tuned adapters are trained on departmental data, on departmental hardware. No vendor to depend on.</a:t>
            </a:r>
            <a:endParaRPr lang="en-US" sz="900" dirty="0"/>
          </a:p>
        </p:txBody>
      </p:sp>
      <p:sp>
        <p:nvSpPr>
          <p:cNvPr id="17" name="Shape 14"/>
          <p:cNvSpPr/>
          <p:nvPr/>
        </p:nvSpPr>
        <p:spPr>
          <a:xfrm>
            <a:off x="6217920" y="1444752"/>
            <a:ext cx="2578608" cy="2103120"/>
          </a:xfrm>
          <a:prstGeom prst="roundRect">
            <a:avLst>
              <a:gd name="adj" fmla="val 3043"/>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8" name="Shape 15"/>
          <p:cNvSpPr/>
          <p:nvPr/>
        </p:nvSpPr>
        <p:spPr>
          <a:xfrm>
            <a:off x="6437376" y="1645920"/>
            <a:ext cx="365760" cy="365760"/>
          </a:xfrm>
          <a:prstGeom prst="ellipse">
            <a:avLst/>
          </a:prstGeom>
          <a:solidFill>
            <a:srgbClr val="1C7293"/>
          </a:solidFill>
          <a:ln w="6350">
            <a:solidFill>
              <a:srgbClr val="1C7293"/>
            </a:solidFill>
            <a:prstDash val="solid"/>
          </a:ln>
        </p:spPr>
      </p:sp>
      <p:sp>
        <p:nvSpPr>
          <p:cNvPr id="19" name="Text 16"/>
          <p:cNvSpPr txBox="1"/>
          <p:nvPr/>
        </p:nvSpPr>
        <p:spPr>
          <a:xfrm>
            <a:off x="6437376" y="1645920"/>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txBox="1"/>
          <p:nvPr/>
        </p:nvSpPr>
        <p:spPr>
          <a:xfrm>
            <a:off x="6437376" y="2121408"/>
            <a:ext cx="2139696" cy="548640"/>
          </a:xfrm>
          <a:prstGeom prst="rect">
            <a:avLst/>
          </a:prstGeom>
          <a:noFill/>
          <a:ln/>
        </p:spPr>
        <p:txBody>
          <a:bodyPr wrap="square" lIns="0" tIns="0" rIns="0" bIns="0" rtlCol="0" anchor="ctr"/>
          <a:lstStyle/>
          <a:p>
            <a:pPr indent="0" marL="0">
              <a:lnSpc>
                <a:spcPts val="1600"/>
              </a:lnSpc>
              <a:buNone/>
            </a:pPr>
            <a:r>
              <a:rPr lang="en-US" sz="1300" b="1" dirty="0">
                <a:solidFill>
                  <a:srgbClr val="0F2B46"/>
                </a:solidFill>
                <a:latin typeface="Cambria" pitchFamily="34" charset="0"/>
                <a:ea typeface="Cambria" pitchFamily="34" charset="-122"/>
                <a:cs typeface="Cambria" pitchFamily="34" charset="-120"/>
              </a:rPr>
              <a:t>Data that never leaves</a:t>
            </a:r>
            <a:endParaRPr lang="en-US" sz="1300" dirty="0"/>
          </a:p>
        </p:txBody>
      </p:sp>
      <p:sp>
        <p:nvSpPr>
          <p:cNvPr id="21" name="Text 18"/>
          <p:cNvSpPr txBox="1"/>
          <p:nvPr/>
        </p:nvSpPr>
        <p:spPr>
          <a:xfrm>
            <a:off x="6437376" y="2706624"/>
            <a:ext cx="2139696" cy="749808"/>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Every source document, embedding, draft and published article stays inside departmental infrastructure. Nothing reaches a commercial provider.</a:t>
            </a:r>
            <a:endParaRPr lang="en-US" sz="900" dirty="0"/>
          </a:p>
        </p:txBody>
      </p:sp>
      <p:sp>
        <p:nvSpPr>
          <p:cNvPr id="22" name="Shape 19"/>
          <p:cNvSpPr/>
          <p:nvPr/>
        </p:nvSpPr>
        <p:spPr>
          <a:xfrm>
            <a:off x="9043416" y="1444752"/>
            <a:ext cx="2578608" cy="2103120"/>
          </a:xfrm>
          <a:prstGeom prst="roundRect">
            <a:avLst>
              <a:gd name="adj" fmla="val 3043"/>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3" name="Shape 20"/>
          <p:cNvSpPr/>
          <p:nvPr/>
        </p:nvSpPr>
        <p:spPr>
          <a:xfrm>
            <a:off x="9262872" y="1645920"/>
            <a:ext cx="365760" cy="365760"/>
          </a:xfrm>
          <a:prstGeom prst="ellipse">
            <a:avLst/>
          </a:prstGeom>
          <a:solidFill>
            <a:srgbClr val="1C7293"/>
          </a:solidFill>
          <a:ln w="6350">
            <a:solidFill>
              <a:srgbClr val="1C7293"/>
            </a:solidFill>
            <a:prstDash val="solid"/>
          </a:ln>
        </p:spPr>
      </p:sp>
      <p:sp>
        <p:nvSpPr>
          <p:cNvPr id="24" name="Text 21"/>
          <p:cNvSpPr txBox="1"/>
          <p:nvPr/>
        </p:nvSpPr>
        <p:spPr>
          <a:xfrm>
            <a:off x="9262872" y="1645920"/>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5" name="Text 22"/>
          <p:cNvSpPr txBox="1"/>
          <p:nvPr/>
        </p:nvSpPr>
        <p:spPr>
          <a:xfrm>
            <a:off x="9262872" y="2121408"/>
            <a:ext cx="2139696" cy="548640"/>
          </a:xfrm>
          <a:prstGeom prst="rect">
            <a:avLst/>
          </a:prstGeom>
          <a:noFill/>
          <a:ln/>
        </p:spPr>
        <p:txBody>
          <a:bodyPr wrap="square" lIns="0" tIns="0" rIns="0" bIns="0" rtlCol="0" anchor="ctr"/>
          <a:lstStyle/>
          <a:p>
            <a:pPr indent="0" marL="0">
              <a:lnSpc>
                <a:spcPts val="1600"/>
              </a:lnSpc>
              <a:buNone/>
            </a:pPr>
            <a:r>
              <a:rPr lang="en-US" sz="1300" b="1" dirty="0">
                <a:solidFill>
                  <a:srgbClr val="0F2B46"/>
                </a:solidFill>
                <a:latin typeface="Cambria" pitchFamily="34" charset="0"/>
                <a:ea typeface="Cambria" pitchFamily="34" charset="-122"/>
                <a:cs typeface="Cambria" pitchFamily="34" charset="-120"/>
              </a:rPr>
              <a:t>A complete record</a:t>
            </a:r>
            <a:endParaRPr lang="en-US" sz="1300" dirty="0"/>
          </a:p>
        </p:txBody>
      </p:sp>
      <p:sp>
        <p:nvSpPr>
          <p:cNvPr id="26" name="Text 23"/>
          <p:cNvSpPr txBox="1"/>
          <p:nvPr/>
        </p:nvSpPr>
        <p:spPr>
          <a:xfrm>
            <a:off x="9262872" y="2706624"/>
            <a:ext cx="2139696" cy="749808"/>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Source, prompt, model version, every draft and the approving officer stored per article, producible for audit on demand.</a:t>
            </a:r>
            <a:endParaRPr lang="en-US" sz="900" dirty="0"/>
          </a:p>
        </p:txBody>
      </p:sp>
      <p:sp>
        <p:nvSpPr>
          <p:cNvPr id="27" name="Text 24"/>
          <p:cNvSpPr txBox="1"/>
          <p:nvPr/>
        </p:nvSpPr>
        <p:spPr>
          <a:xfrm>
            <a:off x="566928" y="3712464"/>
            <a:ext cx="7315200" cy="274320"/>
          </a:xfrm>
          <a:prstGeom prst="rect">
            <a:avLst/>
          </a:prstGeom>
          <a:noFill/>
          <a:ln/>
        </p:spPr>
        <p:txBody>
          <a:bodyPr wrap="square" lIns="0" tIns="0" rIns="0" bIns="0" rtlCol="0" anchor="ctr"/>
          <a:lstStyle/>
          <a:p>
            <a:pPr indent="0" marL="0">
              <a:buNone/>
            </a:pPr>
            <a:r>
              <a:rPr lang="en-US" sz="1300" b="1" dirty="0">
                <a:solidFill>
                  <a:srgbClr val="0F2B46"/>
                </a:solidFill>
                <a:latin typeface="Cambria" pitchFamily="34" charset="0"/>
                <a:ea typeface="Cambria" pitchFamily="34" charset="-122"/>
                <a:cs typeface="Cambria" pitchFamily="34" charset="-120"/>
              </a:rPr>
              <a:t>All of it running on one on-premise stack</a:t>
            </a:r>
            <a:endParaRPr lang="en-US" sz="1300" dirty="0"/>
          </a:p>
        </p:txBody>
      </p:sp>
      <p:sp>
        <p:nvSpPr>
          <p:cNvPr id="28" name="Shape 25"/>
          <p:cNvSpPr/>
          <p:nvPr/>
        </p:nvSpPr>
        <p:spPr>
          <a:xfrm>
            <a:off x="566928" y="4059936"/>
            <a:ext cx="1735836" cy="365760"/>
          </a:xfrm>
          <a:prstGeom prst="roundRect">
            <a:avLst>
              <a:gd name="adj" fmla="val 15000"/>
            </a:avLst>
          </a:prstGeom>
          <a:solidFill>
            <a:srgbClr val="E4EEF3"/>
          </a:solidFill>
          <a:ln w="9525">
            <a:solidFill>
              <a:srgbClr val="CFE0E9"/>
            </a:solidFill>
            <a:prstDash val="solid"/>
          </a:ln>
        </p:spPr>
      </p:sp>
      <p:sp>
        <p:nvSpPr>
          <p:cNvPr id="29" name="Text 26"/>
          <p:cNvSpPr txBox="1"/>
          <p:nvPr/>
        </p:nvSpPr>
        <p:spPr>
          <a:xfrm>
            <a:off x="640080" y="4059936"/>
            <a:ext cx="1589532" cy="365760"/>
          </a:xfrm>
          <a:prstGeom prst="rect">
            <a:avLst/>
          </a:prstGeom>
          <a:noFill/>
          <a:ln/>
        </p:spPr>
        <p:txBody>
          <a:bodyPr wrap="square" lIns="0" tIns="0" rIns="0" bIns="0" rtlCol="0" anchor="ctr"/>
          <a:lstStyle/>
          <a:p>
            <a:pPr algn="ctr" indent="0" marL="0">
              <a:lnSpc>
                <a:spcPts val="1000"/>
              </a:lnSpc>
              <a:buNone/>
            </a:pPr>
            <a:r>
              <a:rPr lang="en-US" sz="850" b="1" dirty="0">
                <a:solidFill>
                  <a:srgbClr val="0F2B46"/>
                </a:solidFill>
                <a:latin typeface="Calibri" pitchFamily="34" charset="0"/>
                <a:ea typeface="Calibri" pitchFamily="34" charset="-122"/>
                <a:cs typeface="Calibri" pitchFamily="34" charset="-120"/>
              </a:rPr>
              <a:t>Article generation</a:t>
            </a:r>
            <a:endParaRPr lang="en-US" sz="850" dirty="0"/>
          </a:p>
        </p:txBody>
      </p:sp>
      <p:sp>
        <p:nvSpPr>
          <p:cNvPr id="30" name="Shape 27"/>
          <p:cNvSpPr/>
          <p:nvPr/>
        </p:nvSpPr>
        <p:spPr>
          <a:xfrm>
            <a:off x="2430780" y="4059936"/>
            <a:ext cx="1735836" cy="365760"/>
          </a:xfrm>
          <a:prstGeom prst="roundRect">
            <a:avLst>
              <a:gd name="adj" fmla="val 15000"/>
            </a:avLst>
          </a:prstGeom>
          <a:solidFill>
            <a:srgbClr val="E4EEF3"/>
          </a:solidFill>
          <a:ln w="9525">
            <a:solidFill>
              <a:srgbClr val="CFE0E9"/>
            </a:solidFill>
            <a:prstDash val="solid"/>
          </a:ln>
        </p:spPr>
      </p:sp>
      <p:sp>
        <p:nvSpPr>
          <p:cNvPr id="31" name="Text 28"/>
          <p:cNvSpPr txBox="1"/>
          <p:nvPr/>
        </p:nvSpPr>
        <p:spPr>
          <a:xfrm>
            <a:off x="2503932" y="4059936"/>
            <a:ext cx="1589532" cy="365760"/>
          </a:xfrm>
          <a:prstGeom prst="rect">
            <a:avLst/>
          </a:prstGeom>
          <a:noFill/>
          <a:ln/>
        </p:spPr>
        <p:txBody>
          <a:bodyPr wrap="square" lIns="0" tIns="0" rIns="0" bIns="0" rtlCol="0" anchor="ctr"/>
          <a:lstStyle/>
          <a:p>
            <a:pPr algn="ctr" indent="0" marL="0">
              <a:lnSpc>
                <a:spcPts val="1000"/>
              </a:lnSpc>
              <a:buNone/>
            </a:pPr>
            <a:r>
              <a:rPr lang="en-US" sz="850" b="1" dirty="0">
                <a:solidFill>
                  <a:srgbClr val="0F2B46"/>
                </a:solidFill>
                <a:latin typeface="Calibri" pitchFamily="34" charset="0"/>
                <a:ea typeface="Calibri" pitchFamily="34" charset="-122"/>
                <a:cs typeface="Calibri" pitchFamily="34" charset="-120"/>
              </a:rPr>
              <a:t>Document intake &amp; OCR</a:t>
            </a:r>
            <a:endParaRPr lang="en-US" sz="850" dirty="0"/>
          </a:p>
        </p:txBody>
      </p:sp>
      <p:sp>
        <p:nvSpPr>
          <p:cNvPr id="32" name="Shape 29"/>
          <p:cNvSpPr/>
          <p:nvPr/>
        </p:nvSpPr>
        <p:spPr>
          <a:xfrm>
            <a:off x="4294632" y="4059936"/>
            <a:ext cx="1735836" cy="365760"/>
          </a:xfrm>
          <a:prstGeom prst="roundRect">
            <a:avLst>
              <a:gd name="adj" fmla="val 15000"/>
            </a:avLst>
          </a:prstGeom>
          <a:solidFill>
            <a:srgbClr val="E4EEF3"/>
          </a:solidFill>
          <a:ln w="9525">
            <a:solidFill>
              <a:srgbClr val="CFE0E9"/>
            </a:solidFill>
            <a:prstDash val="solid"/>
          </a:ln>
        </p:spPr>
      </p:sp>
      <p:sp>
        <p:nvSpPr>
          <p:cNvPr id="33" name="Text 30"/>
          <p:cNvSpPr txBox="1"/>
          <p:nvPr/>
        </p:nvSpPr>
        <p:spPr>
          <a:xfrm>
            <a:off x="4367784" y="4059936"/>
            <a:ext cx="1589532" cy="365760"/>
          </a:xfrm>
          <a:prstGeom prst="rect">
            <a:avLst/>
          </a:prstGeom>
          <a:noFill/>
          <a:ln/>
        </p:spPr>
        <p:txBody>
          <a:bodyPr wrap="square" lIns="0" tIns="0" rIns="0" bIns="0" rtlCol="0" anchor="ctr"/>
          <a:lstStyle/>
          <a:p>
            <a:pPr algn="ctr" indent="0" marL="0">
              <a:lnSpc>
                <a:spcPts val="1000"/>
              </a:lnSpc>
              <a:buNone/>
            </a:pPr>
            <a:r>
              <a:rPr lang="en-US" sz="850" b="1" dirty="0">
                <a:solidFill>
                  <a:srgbClr val="0F2B46"/>
                </a:solidFill>
                <a:latin typeface="Calibri" pitchFamily="34" charset="0"/>
                <a:ea typeface="Calibri" pitchFamily="34" charset="-122"/>
                <a:cs typeface="Calibri" pitchFamily="34" charset="-120"/>
              </a:rPr>
              <a:t>Audio transcription</a:t>
            </a:r>
            <a:endParaRPr lang="en-US" sz="850" dirty="0"/>
          </a:p>
        </p:txBody>
      </p:sp>
      <p:sp>
        <p:nvSpPr>
          <p:cNvPr id="34" name="Shape 31"/>
          <p:cNvSpPr/>
          <p:nvPr/>
        </p:nvSpPr>
        <p:spPr>
          <a:xfrm>
            <a:off x="6158484" y="4059936"/>
            <a:ext cx="1735836" cy="365760"/>
          </a:xfrm>
          <a:prstGeom prst="roundRect">
            <a:avLst>
              <a:gd name="adj" fmla="val 15000"/>
            </a:avLst>
          </a:prstGeom>
          <a:solidFill>
            <a:srgbClr val="E4EEF3"/>
          </a:solidFill>
          <a:ln w="9525">
            <a:solidFill>
              <a:srgbClr val="CFE0E9"/>
            </a:solidFill>
            <a:prstDash val="solid"/>
          </a:ln>
        </p:spPr>
      </p:sp>
      <p:sp>
        <p:nvSpPr>
          <p:cNvPr id="35" name="Text 32"/>
          <p:cNvSpPr txBox="1"/>
          <p:nvPr/>
        </p:nvSpPr>
        <p:spPr>
          <a:xfrm>
            <a:off x="6231636" y="4059936"/>
            <a:ext cx="1589532" cy="365760"/>
          </a:xfrm>
          <a:prstGeom prst="rect">
            <a:avLst/>
          </a:prstGeom>
          <a:noFill/>
          <a:ln/>
        </p:spPr>
        <p:txBody>
          <a:bodyPr wrap="square" lIns="0" tIns="0" rIns="0" bIns="0" rtlCol="0" anchor="ctr"/>
          <a:lstStyle/>
          <a:p>
            <a:pPr algn="ctr" indent="0" marL="0">
              <a:lnSpc>
                <a:spcPts val="1000"/>
              </a:lnSpc>
              <a:buNone/>
            </a:pPr>
            <a:r>
              <a:rPr lang="en-US" sz="850" b="1" dirty="0">
                <a:solidFill>
                  <a:srgbClr val="0F2B46"/>
                </a:solidFill>
                <a:latin typeface="Calibri" pitchFamily="34" charset="0"/>
                <a:ea typeface="Calibri" pitchFamily="34" charset="-122"/>
                <a:cs typeface="Calibri" pitchFamily="34" charset="-120"/>
              </a:rPr>
              <a:t>Translation</a:t>
            </a:r>
            <a:endParaRPr lang="en-US" sz="850" dirty="0"/>
          </a:p>
        </p:txBody>
      </p:sp>
      <p:sp>
        <p:nvSpPr>
          <p:cNvPr id="36" name="Shape 33"/>
          <p:cNvSpPr/>
          <p:nvPr/>
        </p:nvSpPr>
        <p:spPr>
          <a:xfrm>
            <a:off x="8022336" y="4059936"/>
            <a:ext cx="1735836" cy="365760"/>
          </a:xfrm>
          <a:prstGeom prst="roundRect">
            <a:avLst>
              <a:gd name="adj" fmla="val 15000"/>
            </a:avLst>
          </a:prstGeom>
          <a:solidFill>
            <a:srgbClr val="E4EEF3"/>
          </a:solidFill>
          <a:ln w="9525">
            <a:solidFill>
              <a:srgbClr val="CFE0E9"/>
            </a:solidFill>
            <a:prstDash val="solid"/>
          </a:ln>
        </p:spPr>
      </p:sp>
      <p:sp>
        <p:nvSpPr>
          <p:cNvPr id="37" name="Text 34"/>
          <p:cNvSpPr txBox="1"/>
          <p:nvPr/>
        </p:nvSpPr>
        <p:spPr>
          <a:xfrm>
            <a:off x="8095488" y="4059936"/>
            <a:ext cx="1589532" cy="365760"/>
          </a:xfrm>
          <a:prstGeom prst="rect">
            <a:avLst/>
          </a:prstGeom>
          <a:noFill/>
          <a:ln/>
        </p:spPr>
        <p:txBody>
          <a:bodyPr wrap="square" lIns="0" tIns="0" rIns="0" bIns="0" rtlCol="0" anchor="ctr"/>
          <a:lstStyle/>
          <a:p>
            <a:pPr algn="ctr" indent="0" marL="0">
              <a:lnSpc>
                <a:spcPts val="1000"/>
              </a:lnSpc>
              <a:buNone/>
            </a:pPr>
            <a:r>
              <a:rPr lang="en-US" sz="850" b="1" dirty="0">
                <a:solidFill>
                  <a:srgbClr val="0F2B46"/>
                </a:solidFill>
                <a:latin typeface="Calibri" pitchFamily="34" charset="0"/>
                <a:ea typeface="Calibri" pitchFamily="34" charset="-122"/>
                <a:cs typeface="Calibri" pitchFamily="34" charset="-120"/>
              </a:rPr>
              <a:t>Proofreading &amp; glossary</a:t>
            </a:r>
            <a:endParaRPr lang="en-US" sz="850" dirty="0"/>
          </a:p>
        </p:txBody>
      </p:sp>
      <p:sp>
        <p:nvSpPr>
          <p:cNvPr id="38" name="Shape 35"/>
          <p:cNvSpPr/>
          <p:nvPr/>
        </p:nvSpPr>
        <p:spPr>
          <a:xfrm>
            <a:off x="9886188" y="4059936"/>
            <a:ext cx="1735836" cy="365760"/>
          </a:xfrm>
          <a:prstGeom prst="roundRect">
            <a:avLst>
              <a:gd name="adj" fmla="val 15000"/>
            </a:avLst>
          </a:prstGeom>
          <a:solidFill>
            <a:srgbClr val="E4EEF3"/>
          </a:solidFill>
          <a:ln w="9525">
            <a:solidFill>
              <a:srgbClr val="CFE0E9"/>
            </a:solidFill>
            <a:prstDash val="solid"/>
          </a:ln>
        </p:spPr>
      </p:sp>
      <p:sp>
        <p:nvSpPr>
          <p:cNvPr id="39" name="Text 36"/>
          <p:cNvSpPr txBox="1"/>
          <p:nvPr/>
        </p:nvSpPr>
        <p:spPr>
          <a:xfrm>
            <a:off x="9959340" y="4059936"/>
            <a:ext cx="1589532" cy="365760"/>
          </a:xfrm>
          <a:prstGeom prst="rect">
            <a:avLst/>
          </a:prstGeom>
          <a:noFill/>
          <a:ln/>
        </p:spPr>
        <p:txBody>
          <a:bodyPr wrap="square" lIns="0" tIns="0" rIns="0" bIns="0" rtlCol="0" anchor="ctr"/>
          <a:lstStyle/>
          <a:p>
            <a:pPr algn="ctr" indent="0" marL="0">
              <a:lnSpc>
                <a:spcPts val="1000"/>
              </a:lnSpc>
              <a:buNone/>
            </a:pPr>
            <a:r>
              <a:rPr lang="en-US" sz="850" b="1" dirty="0">
                <a:solidFill>
                  <a:srgbClr val="0F2B46"/>
                </a:solidFill>
                <a:latin typeface="Calibri" pitchFamily="34" charset="0"/>
                <a:ea typeface="Calibri" pitchFamily="34" charset="-122"/>
                <a:cs typeface="Calibri" pitchFamily="34" charset="-120"/>
              </a:rPr>
              <a:t>Mahasamvad retrieval</a:t>
            </a:r>
            <a:endParaRPr lang="en-US" sz="850" dirty="0"/>
          </a:p>
        </p:txBody>
      </p:sp>
      <p:sp>
        <p:nvSpPr>
          <p:cNvPr id="40" name="Shape 37"/>
          <p:cNvSpPr/>
          <p:nvPr/>
        </p:nvSpPr>
        <p:spPr>
          <a:xfrm>
            <a:off x="566928" y="4517136"/>
            <a:ext cx="1735836" cy="365760"/>
          </a:xfrm>
          <a:prstGeom prst="roundRect">
            <a:avLst>
              <a:gd name="adj" fmla="val 15000"/>
            </a:avLst>
          </a:prstGeom>
          <a:solidFill>
            <a:srgbClr val="E4EEF3"/>
          </a:solidFill>
          <a:ln w="9525">
            <a:solidFill>
              <a:srgbClr val="CFE0E9"/>
            </a:solidFill>
            <a:prstDash val="solid"/>
          </a:ln>
        </p:spPr>
      </p:sp>
      <p:sp>
        <p:nvSpPr>
          <p:cNvPr id="41" name="Text 38"/>
          <p:cNvSpPr txBox="1"/>
          <p:nvPr/>
        </p:nvSpPr>
        <p:spPr>
          <a:xfrm>
            <a:off x="640080" y="4517136"/>
            <a:ext cx="1589532" cy="365760"/>
          </a:xfrm>
          <a:prstGeom prst="rect">
            <a:avLst/>
          </a:prstGeom>
          <a:noFill/>
          <a:ln/>
        </p:spPr>
        <p:txBody>
          <a:bodyPr wrap="square" lIns="0" tIns="0" rIns="0" bIns="0" rtlCol="0" anchor="ctr"/>
          <a:lstStyle/>
          <a:p>
            <a:pPr algn="ctr" indent="0" marL="0">
              <a:lnSpc>
                <a:spcPts val="1000"/>
              </a:lnSpc>
              <a:buNone/>
            </a:pPr>
            <a:r>
              <a:rPr lang="en-US" sz="850" b="1" dirty="0">
                <a:solidFill>
                  <a:srgbClr val="0F2B46"/>
                </a:solidFill>
                <a:latin typeface="Calibri" pitchFamily="34" charset="0"/>
                <a:ea typeface="Calibri" pitchFamily="34" charset="-122"/>
                <a:cs typeface="Calibri" pitchFamily="34" charset="-120"/>
              </a:rPr>
              <a:t>Governed chat assistant</a:t>
            </a:r>
            <a:endParaRPr lang="en-US" sz="850" dirty="0"/>
          </a:p>
        </p:txBody>
      </p:sp>
      <p:sp>
        <p:nvSpPr>
          <p:cNvPr id="42" name="Shape 39"/>
          <p:cNvSpPr/>
          <p:nvPr/>
        </p:nvSpPr>
        <p:spPr>
          <a:xfrm>
            <a:off x="2430780" y="4517136"/>
            <a:ext cx="1735836" cy="365760"/>
          </a:xfrm>
          <a:prstGeom prst="roundRect">
            <a:avLst>
              <a:gd name="adj" fmla="val 15000"/>
            </a:avLst>
          </a:prstGeom>
          <a:solidFill>
            <a:srgbClr val="E4EEF3"/>
          </a:solidFill>
          <a:ln w="9525">
            <a:solidFill>
              <a:srgbClr val="CFE0E9"/>
            </a:solidFill>
            <a:prstDash val="solid"/>
          </a:ln>
        </p:spPr>
      </p:sp>
      <p:sp>
        <p:nvSpPr>
          <p:cNvPr id="43" name="Text 40"/>
          <p:cNvSpPr txBox="1"/>
          <p:nvPr/>
        </p:nvSpPr>
        <p:spPr>
          <a:xfrm>
            <a:off x="2503932" y="4517136"/>
            <a:ext cx="1589532" cy="365760"/>
          </a:xfrm>
          <a:prstGeom prst="rect">
            <a:avLst/>
          </a:prstGeom>
          <a:noFill/>
          <a:ln/>
        </p:spPr>
        <p:txBody>
          <a:bodyPr wrap="square" lIns="0" tIns="0" rIns="0" bIns="0" rtlCol="0" anchor="ctr"/>
          <a:lstStyle/>
          <a:p>
            <a:pPr algn="ctr" indent="0" marL="0">
              <a:lnSpc>
                <a:spcPts val="1000"/>
              </a:lnSpc>
              <a:buNone/>
            </a:pPr>
            <a:r>
              <a:rPr lang="en-US" sz="850" b="1" dirty="0">
                <a:solidFill>
                  <a:srgbClr val="0F2B46"/>
                </a:solidFill>
                <a:latin typeface="Calibri" pitchFamily="34" charset="0"/>
                <a:ea typeface="Calibri" pitchFamily="34" charset="-122"/>
                <a:cs typeface="Calibri" pitchFamily="34" charset="-120"/>
              </a:rPr>
              <a:t>Newspaper monitoring</a:t>
            </a:r>
            <a:endParaRPr lang="en-US" sz="850" dirty="0"/>
          </a:p>
        </p:txBody>
      </p:sp>
      <p:sp>
        <p:nvSpPr>
          <p:cNvPr id="44" name="Shape 41"/>
          <p:cNvSpPr/>
          <p:nvPr/>
        </p:nvSpPr>
        <p:spPr>
          <a:xfrm>
            <a:off x="4294632" y="4517136"/>
            <a:ext cx="1735836" cy="365760"/>
          </a:xfrm>
          <a:prstGeom prst="roundRect">
            <a:avLst>
              <a:gd name="adj" fmla="val 15000"/>
            </a:avLst>
          </a:prstGeom>
          <a:solidFill>
            <a:srgbClr val="E4EEF3"/>
          </a:solidFill>
          <a:ln w="9525">
            <a:solidFill>
              <a:srgbClr val="CFE0E9"/>
            </a:solidFill>
            <a:prstDash val="solid"/>
          </a:ln>
        </p:spPr>
      </p:sp>
      <p:sp>
        <p:nvSpPr>
          <p:cNvPr id="45" name="Text 42"/>
          <p:cNvSpPr txBox="1"/>
          <p:nvPr/>
        </p:nvSpPr>
        <p:spPr>
          <a:xfrm>
            <a:off x="4367784" y="4517136"/>
            <a:ext cx="1589532" cy="365760"/>
          </a:xfrm>
          <a:prstGeom prst="rect">
            <a:avLst/>
          </a:prstGeom>
          <a:noFill/>
          <a:ln/>
        </p:spPr>
        <p:txBody>
          <a:bodyPr wrap="square" lIns="0" tIns="0" rIns="0" bIns="0" rtlCol="0" anchor="ctr"/>
          <a:lstStyle/>
          <a:p>
            <a:pPr algn="ctr" indent="0" marL="0">
              <a:lnSpc>
                <a:spcPts val="1000"/>
              </a:lnSpc>
              <a:buNone/>
            </a:pPr>
            <a:r>
              <a:rPr lang="en-US" sz="850" b="1" dirty="0">
                <a:solidFill>
                  <a:srgbClr val="0F2B46"/>
                </a:solidFill>
                <a:latin typeface="Calibri" pitchFamily="34" charset="0"/>
                <a:ea typeface="Calibri" pitchFamily="34" charset="-122"/>
                <a:cs typeface="Calibri" pitchFamily="34" charset="-120"/>
              </a:rPr>
              <a:t>Fact-check appendices</a:t>
            </a:r>
            <a:endParaRPr lang="en-US" sz="850" dirty="0"/>
          </a:p>
        </p:txBody>
      </p:sp>
      <p:sp>
        <p:nvSpPr>
          <p:cNvPr id="46" name="Shape 43"/>
          <p:cNvSpPr/>
          <p:nvPr/>
        </p:nvSpPr>
        <p:spPr>
          <a:xfrm>
            <a:off x="6158484" y="4517136"/>
            <a:ext cx="1735836" cy="365760"/>
          </a:xfrm>
          <a:prstGeom prst="roundRect">
            <a:avLst>
              <a:gd name="adj" fmla="val 15000"/>
            </a:avLst>
          </a:prstGeom>
          <a:solidFill>
            <a:srgbClr val="E4EEF3"/>
          </a:solidFill>
          <a:ln w="9525">
            <a:solidFill>
              <a:srgbClr val="CFE0E9"/>
            </a:solidFill>
            <a:prstDash val="solid"/>
          </a:ln>
        </p:spPr>
      </p:sp>
      <p:sp>
        <p:nvSpPr>
          <p:cNvPr id="47" name="Text 44"/>
          <p:cNvSpPr txBox="1"/>
          <p:nvPr/>
        </p:nvSpPr>
        <p:spPr>
          <a:xfrm>
            <a:off x="6231636" y="4517136"/>
            <a:ext cx="1589532" cy="365760"/>
          </a:xfrm>
          <a:prstGeom prst="rect">
            <a:avLst/>
          </a:prstGeom>
          <a:noFill/>
          <a:ln/>
        </p:spPr>
        <p:txBody>
          <a:bodyPr wrap="square" lIns="0" tIns="0" rIns="0" bIns="0" rtlCol="0" anchor="ctr"/>
          <a:lstStyle/>
          <a:p>
            <a:pPr algn="ctr" indent="0" marL="0">
              <a:lnSpc>
                <a:spcPts val="1000"/>
              </a:lnSpc>
              <a:buNone/>
            </a:pPr>
            <a:r>
              <a:rPr lang="en-US" sz="850" b="1" dirty="0">
                <a:solidFill>
                  <a:srgbClr val="0F2B46"/>
                </a:solidFill>
                <a:latin typeface="Calibri" pitchFamily="34" charset="0"/>
                <a:ea typeface="Calibri" pitchFamily="34" charset="-122"/>
                <a:cs typeface="Calibri" pitchFamily="34" charset="-120"/>
              </a:rPr>
              <a:t>Officer review workflow</a:t>
            </a:r>
            <a:endParaRPr lang="en-US" sz="850" dirty="0"/>
          </a:p>
        </p:txBody>
      </p:sp>
      <p:sp>
        <p:nvSpPr>
          <p:cNvPr id="48" name="Shape 45"/>
          <p:cNvSpPr/>
          <p:nvPr/>
        </p:nvSpPr>
        <p:spPr>
          <a:xfrm>
            <a:off x="8022336" y="4517136"/>
            <a:ext cx="1735836" cy="365760"/>
          </a:xfrm>
          <a:prstGeom prst="roundRect">
            <a:avLst>
              <a:gd name="adj" fmla="val 15000"/>
            </a:avLst>
          </a:prstGeom>
          <a:solidFill>
            <a:srgbClr val="E4EEF3"/>
          </a:solidFill>
          <a:ln w="9525">
            <a:solidFill>
              <a:srgbClr val="CFE0E9"/>
            </a:solidFill>
            <a:prstDash val="solid"/>
          </a:ln>
        </p:spPr>
      </p:sp>
      <p:sp>
        <p:nvSpPr>
          <p:cNvPr id="49" name="Text 46"/>
          <p:cNvSpPr txBox="1"/>
          <p:nvPr/>
        </p:nvSpPr>
        <p:spPr>
          <a:xfrm>
            <a:off x="8095488" y="4517136"/>
            <a:ext cx="1589532" cy="365760"/>
          </a:xfrm>
          <a:prstGeom prst="rect">
            <a:avLst/>
          </a:prstGeom>
          <a:noFill/>
          <a:ln/>
        </p:spPr>
        <p:txBody>
          <a:bodyPr wrap="square" lIns="0" tIns="0" rIns="0" bIns="0" rtlCol="0" anchor="ctr"/>
          <a:lstStyle/>
          <a:p>
            <a:pPr algn="ctr" indent="0" marL="0">
              <a:lnSpc>
                <a:spcPts val="1000"/>
              </a:lnSpc>
              <a:buNone/>
            </a:pPr>
            <a:r>
              <a:rPr lang="en-US" sz="850" b="1" dirty="0">
                <a:solidFill>
                  <a:srgbClr val="0F2B46"/>
                </a:solidFill>
                <a:latin typeface="Calibri" pitchFamily="34" charset="0"/>
                <a:ea typeface="Calibri" pitchFamily="34" charset="-122"/>
                <a:cs typeface="Calibri" pitchFamily="34" charset="-120"/>
              </a:rPr>
              <a:t>Search, history &amp; reuse</a:t>
            </a:r>
            <a:endParaRPr lang="en-US" sz="850" dirty="0"/>
          </a:p>
        </p:txBody>
      </p:sp>
      <p:sp>
        <p:nvSpPr>
          <p:cNvPr id="50" name="Shape 47"/>
          <p:cNvSpPr/>
          <p:nvPr/>
        </p:nvSpPr>
        <p:spPr>
          <a:xfrm>
            <a:off x="9886188" y="4517136"/>
            <a:ext cx="1735836" cy="365760"/>
          </a:xfrm>
          <a:prstGeom prst="roundRect">
            <a:avLst>
              <a:gd name="adj" fmla="val 15000"/>
            </a:avLst>
          </a:prstGeom>
          <a:solidFill>
            <a:srgbClr val="E4EEF3"/>
          </a:solidFill>
          <a:ln w="9525">
            <a:solidFill>
              <a:srgbClr val="CFE0E9"/>
            </a:solidFill>
            <a:prstDash val="solid"/>
          </a:ln>
        </p:spPr>
      </p:sp>
      <p:sp>
        <p:nvSpPr>
          <p:cNvPr id="51" name="Text 48"/>
          <p:cNvSpPr txBox="1"/>
          <p:nvPr/>
        </p:nvSpPr>
        <p:spPr>
          <a:xfrm>
            <a:off x="9959340" y="4517136"/>
            <a:ext cx="1589532" cy="365760"/>
          </a:xfrm>
          <a:prstGeom prst="rect">
            <a:avLst/>
          </a:prstGeom>
          <a:noFill/>
          <a:ln/>
        </p:spPr>
        <p:txBody>
          <a:bodyPr wrap="square" lIns="0" tIns="0" rIns="0" bIns="0" rtlCol="0" anchor="ctr"/>
          <a:lstStyle/>
          <a:p>
            <a:pPr algn="ctr" indent="0" marL="0">
              <a:lnSpc>
                <a:spcPts val="1000"/>
              </a:lnSpc>
              <a:buNone/>
            </a:pPr>
            <a:r>
              <a:rPr lang="en-US" sz="850" b="1" dirty="0">
                <a:solidFill>
                  <a:srgbClr val="0F2B46"/>
                </a:solidFill>
                <a:latin typeface="Calibri" pitchFamily="34" charset="0"/>
                <a:ea typeface="Calibri" pitchFamily="34" charset="-122"/>
                <a:cs typeface="Calibri" pitchFamily="34" charset="-120"/>
              </a:rPr>
              <a:t>Usage analytics</a:t>
            </a:r>
            <a:endParaRPr lang="en-US" sz="850" dirty="0"/>
          </a:p>
        </p:txBody>
      </p:sp>
      <p:sp>
        <p:nvSpPr>
          <p:cNvPr id="52" name="Shape 49"/>
          <p:cNvSpPr/>
          <p:nvPr/>
        </p:nvSpPr>
        <p:spPr>
          <a:xfrm>
            <a:off x="566928" y="5175504"/>
            <a:ext cx="11055096" cy="987552"/>
          </a:xfrm>
          <a:prstGeom prst="roundRect">
            <a:avLst>
              <a:gd name="adj" fmla="val 6481"/>
            </a:avLst>
          </a:prstGeom>
          <a:solidFill>
            <a:srgbClr val="0F2B46"/>
          </a:solidFill>
          <a:ln w="9525">
            <a:solidFill>
              <a:srgbClr val="0F2B46"/>
            </a:solidFill>
            <a:prstDash val="solid"/>
          </a:ln>
          <a:effectLst>
            <a:outerShdw sx="100000" sy="100000" kx="0" ky="0" algn="bl" rotWithShape="0" blurRad="101600" dist="12700" dir="5400000">
              <a:srgbClr val="0F2B46">
                <a:alpha val="8000"/>
              </a:srgbClr>
            </a:outerShdw>
          </a:effectLst>
        </p:spPr>
      </p:sp>
      <p:sp>
        <p:nvSpPr>
          <p:cNvPr id="53" name="Text 50"/>
          <p:cNvSpPr txBox="1"/>
          <p:nvPr/>
        </p:nvSpPr>
        <p:spPr>
          <a:xfrm>
            <a:off x="877824" y="5340096"/>
            <a:ext cx="1042416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This is not a pilot of somebody else's model.</a:t>
            </a:r>
            <a:endParaRPr lang="en-US" sz="1500" dirty="0"/>
          </a:p>
        </p:txBody>
      </p:sp>
      <p:sp>
        <p:nvSpPr>
          <p:cNvPr id="54" name="Text 51"/>
          <p:cNvSpPr txBox="1"/>
          <p:nvPr/>
        </p:nvSpPr>
        <p:spPr>
          <a:xfrm>
            <a:off x="877824" y="5650992"/>
            <a:ext cx="10424160" cy="347472"/>
          </a:xfrm>
          <a:prstGeom prst="rect">
            <a:avLst/>
          </a:prstGeom>
          <a:noFill/>
          <a:ln/>
        </p:spPr>
        <p:txBody>
          <a:bodyPr wrap="square" lIns="0" tIns="0" rIns="0" bIns="0" rtlCol="0" anchor="ctr"/>
          <a:lstStyle/>
          <a:p>
            <a:pPr indent="0" marL="0">
              <a:buNone/>
            </a:pPr>
            <a:r>
              <a:rPr lang="en-US" sz="1100" dirty="0">
                <a:solidFill>
                  <a:srgbClr val="C3D8E3"/>
                </a:solidFill>
                <a:latin typeface="Calibri" pitchFamily="34" charset="0"/>
                <a:ea typeface="Calibri" pitchFamily="34" charset="-122"/>
                <a:cs typeface="Calibri" pitchFamily="34" charset="-120"/>
              </a:rPr>
              <a:t>It is a Marathi government-communication AI, trained on Maharashtra's own editorial standards, running on Maharashtra's own hardware, owned by the department that uses it.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B46"/>
        </a:solidFill>
      </p:bgPr>
    </p:bg>
    <p:spTree>
      <p:nvGrpSpPr>
        <p:cNvPr id="1" name=""/>
        <p:cNvGrpSpPr/>
        <p:nvPr/>
      </p:nvGrpSpPr>
      <p:grpSpPr>
        <a:xfrm>
          <a:off x="0" y="0"/>
          <a:ext cx="0" cy="0"/>
          <a:chOff x="0" y="0"/>
          <a:chExt cx="0" cy="0"/>
        </a:xfrm>
      </p:grpSpPr>
      <p:sp>
        <p:nvSpPr>
          <p:cNvPr id="2" name="Shape 0"/>
          <p:cNvSpPr/>
          <p:nvPr/>
        </p:nvSpPr>
        <p:spPr>
          <a:xfrm>
            <a:off x="9326880" y="-1463040"/>
            <a:ext cx="4937760" cy="4937760"/>
          </a:xfrm>
          <a:prstGeom prst="ellipse">
            <a:avLst/>
          </a:prstGeom>
          <a:solidFill>
            <a:srgbClr val="17405F"/>
          </a:solidFill>
          <a:ln w="12700">
            <a:solidFill>
              <a:srgbClr val="17405F"/>
            </a:solidFill>
            <a:prstDash val="solid"/>
          </a:ln>
        </p:spPr>
      </p:sp>
      <p:sp>
        <p:nvSpPr>
          <p:cNvPr id="3" name="Text 1"/>
          <p:cNvSpPr txBox="1"/>
          <p:nvPr/>
        </p:nvSpPr>
        <p:spPr>
          <a:xfrm>
            <a:off x="566928" y="2331720"/>
            <a:ext cx="7315200" cy="292608"/>
          </a:xfrm>
          <a:prstGeom prst="rect">
            <a:avLst/>
          </a:prstGeom>
          <a:noFill/>
          <a:ln/>
        </p:spPr>
        <p:txBody>
          <a:bodyPr wrap="square" lIns="0" tIns="0" rIns="0" bIns="0" rtlCol="0" anchor="ctr"/>
          <a:lstStyle/>
          <a:p>
            <a:pPr indent="0" marL="0">
              <a:buNone/>
            </a:pPr>
            <a:r>
              <a:rPr lang="en-US" sz="1100" b="1" spc="220" kern="0" dirty="0">
                <a:solidFill>
                  <a:srgbClr val="8FC3D9"/>
                </a:solidFill>
                <a:latin typeface="Calibri" pitchFamily="34" charset="0"/>
                <a:ea typeface="Calibri" pitchFamily="34" charset="-122"/>
                <a:cs typeface="Calibri" pitchFamily="34" charset="-120"/>
              </a:rPr>
              <a:t>ANNEXURE</a:t>
            </a:r>
            <a:endParaRPr lang="en-US" sz="1100" dirty="0"/>
          </a:p>
        </p:txBody>
      </p:sp>
      <p:sp>
        <p:nvSpPr>
          <p:cNvPr id="4" name="Text 2"/>
          <p:cNvSpPr txBox="1"/>
          <p:nvPr/>
        </p:nvSpPr>
        <p:spPr>
          <a:xfrm>
            <a:off x="566928" y="2697480"/>
            <a:ext cx="8229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Supporting detail</a:t>
            </a:r>
            <a:endParaRPr lang="en-US" sz="4000" dirty="0"/>
          </a:p>
        </p:txBody>
      </p:sp>
      <p:sp>
        <p:nvSpPr>
          <p:cNvPr id="5" name="Text 3"/>
          <p:cNvSpPr txBox="1"/>
          <p:nvPr/>
        </p:nvSpPr>
        <p:spPr>
          <a:xfrm>
            <a:off x="566928" y="3611880"/>
            <a:ext cx="8229600" cy="365760"/>
          </a:xfrm>
          <a:prstGeom prst="rect">
            <a:avLst/>
          </a:prstGeom>
          <a:noFill/>
          <a:ln/>
        </p:spPr>
        <p:txBody>
          <a:bodyPr wrap="square" lIns="0" tIns="0" rIns="0" bIns="0" rtlCol="0" anchor="ctr"/>
          <a:lstStyle/>
          <a:p>
            <a:pPr indent="0" marL="0">
              <a:buNone/>
            </a:pPr>
            <a:r>
              <a:rPr lang="en-US" sz="1400" dirty="0">
                <a:solidFill>
                  <a:srgbClr val="C7DCE7"/>
                </a:solidFill>
                <a:latin typeface="Calibri" pitchFamily="34" charset="0"/>
                <a:ea typeface="Calibri" pitchFamily="34" charset="-122"/>
                <a:cs typeface="Calibri" pitchFamily="34" charset="-120"/>
              </a:rPr>
              <a:t>Not presented. Held for questions from the technical evaluation committee.</a:t>
            </a:r>
            <a:endParaRPr lang="en-US" sz="1400" dirty="0"/>
          </a:p>
        </p:txBody>
      </p:sp>
      <p:sp>
        <p:nvSpPr>
          <p:cNvPr id="6" name="Text 4"/>
          <p:cNvSpPr txBox="1"/>
          <p:nvPr/>
        </p:nvSpPr>
        <p:spPr>
          <a:xfrm>
            <a:off x="566928" y="4434840"/>
            <a:ext cx="2651760" cy="384048"/>
          </a:xfrm>
          <a:prstGeom prst="rect">
            <a:avLst/>
          </a:prstGeom>
          <a:noFill/>
          <a:ln/>
        </p:spPr>
        <p:txBody>
          <a:bodyPr wrap="square" lIns="0" tIns="0" rIns="0" bIns="0" rtlCol="0" anchor="ctr"/>
          <a:lstStyle/>
          <a:p>
            <a:pPr indent="0" marL="0">
              <a:buNone/>
            </a:pPr>
            <a:r>
              <a:rPr lang="en-US" sz="1050" dirty="0">
                <a:solidFill>
                  <a:srgbClr val="9FC2D4"/>
                </a:solidFill>
                <a:latin typeface="Calibri" pitchFamily="34" charset="0"/>
                <a:ea typeface="Calibri" pitchFamily="34" charset="-122"/>
                <a:cs typeface="Calibri" pitchFamily="34" charset="-120"/>
              </a:rPr>
              <a:t>A1  Evaluation rubric</a:t>
            </a:r>
            <a:endParaRPr lang="en-US" sz="1050" dirty="0"/>
          </a:p>
        </p:txBody>
      </p:sp>
      <p:sp>
        <p:nvSpPr>
          <p:cNvPr id="7" name="Text 5"/>
          <p:cNvSpPr txBox="1"/>
          <p:nvPr/>
        </p:nvSpPr>
        <p:spPr>
          <a:xfrm>
            <a:off x="3355848" y="4434840"/>
            <a:ext cx="2651760" cy="384048"/>
          </a:xfrm>
          <a:prstGeom prst="rect">
            <a:avLst/>
          </a:prstGeom>
          <a:noFill/>
          <a:ln/>
        </p:spPr>
        <p:txBody>
          <a:bodyPr wrap="square" lIns="0" tIns="0" rIns="0" bIns="0" rtlCol="0" anchor="ctr"/>
          <a:lstStyle/>
          <a:p>
            <a:pPr indent="0" marL="0">
              <a:buNone/>
            </a:pPr>
            <a:r>
              <a:rPr lang="en-US" sz="1050" dirty="0">
                <a:solidFill>
                  <a:srgbClr val="9FC2D4"/>
                </a:solidFill>
                <a:latin typeface="Calibri" pitchFamily="34" charset="0"/>
                <a:ea typeface="Calibri" pitchFamily="34" charset="-122"/>
                <a:cs typeface="Calibri" pitchFamily="34" charset="-120"/>
              </a:rPr>
              <a:t>A2  Metric definitions</a:t>
            </a:r>
            <a:endParaRPr lang="en-US" sz="1050" dirty="0"/>
          </a:p>
        </p:txBody>
      </p:sp>
      <p:sp>
        <p:nvSpPr>
          <p:cNvPr id="8" name="Text 6"/>
          <p:cNvSpPr txBox="1"/>
          <p:nvPr/>
        </p:nvSpPr>
        <p:spPr>
          <a:xfrm>
            <a:off x="6144768" y="4434840"/>
            <a:ext cx="2651760" cy="384048"/>
          </a:xfrm>
          <a:prstGeom prst="rect">
            <a:avLst/>
          </a:prstGeom>
          <a:noFill/>
          <a:ln/>
        </p:spPr>
        <p:txBody>
          <a:bodyPr wrap="square" lIns="0" tIns="0" rIns="0" bIns="0" rtlCol="0" anchor="ctr"/>
          <a:lstStyle/>
          <a:p>
            <a:pPr indent="0" marL="0">
              <a:buNone/>
            </a:pPr>
            <a:r>
              <a:rPr lang="en-US" sz="1050" dirty="0">
                <a:solidFill>
                  <a:srgbClr val="9FC2D4"/>
                </a:solidFill>
                <a:latin typeface="Calibri" pitchFamily="34" charset="0"/>
                <a:ea typeface="Calibri" pitchFamily="34" charset="-122"/>
                <a:cs typeface="Calibri" pitchFamily="34" charset="-120"/>
              </a:rPr>
              <a:t>A3  Memory and per-node capacity</a:t>
            </a:r>
            <a:endParaRPr lang="en-US" sz="1050" dirty="0"/>
          </a:p>
        </p:txBody>
      </p:sp>
      <p:sp>
        <p:nvSpPr>
          <p:cNvPr id="9" name="Text 7"/>
          <p:cNvSpPr txBox="1"/>
          <p:nvPr/>
        </p:nvSpPr>
        <p:spPr>
          <a:xfrm>
            <a:off x="8933688" y="4434840"/>
            <a:ext cx="2651760" cy="384048"/>
          </a:xfrm>
          <a:prstGeom prst="rect">
            <a:avLst/>
          </a:prstGeom>
          <a:noFill/>
          <a:ln/>
        </p:spPr>
        <p:txBody>
          <a:bodyPr wrap="square" lIns="0" tIns="0" rIns="0" bIns="0" rtlCol="0" anchor="ctr"/>
          <a:lstStyle/>
          <a:p>
            <a:pPr indent="0" marL="0">
              <a:buNone/>
            </a:pPr>
            <a:r>
              <a:rPr lang="en-US" sz="1050" dirty="0">
                <a:solidFill>
                  <a:srgbClr val="9FC2D4"/>
                </a:solidFill>
                <a:latin typeface="Calibri" pitchFamily="34" charset="0"/>
                <a:ea typeface="Calibri" pitchFamily="34" charset="-122"/>
                <a:cs typeface="Calibri" pitchFamily="34" charset="-120"/>
              </a:rPr>
              <a:t>A4  Fine-tuning configuration</a:t>
            </a:r>
            <a:endParaRPr lang="en-US" sz="1050" dirty="0"/>
          </a:p>
        </p:txBody>
      </p:sp>
      <p:sp>
        <p:nvSpPr>
          <p:cNvPr id="10" name="Text 8"/>
          <p:cNvSpPr txBox="1"/>
          <p:nvPr/>
        </p:nvSpPr>
        <p:spPr>
          <a:xfrm>
            <a:off x="566928" y="5001768"/>
            <a:ext cx="2651760" cy="384048"/>
          </a:xfrm>
          <a:prstGeom prst="rect">
            <a:avLst/>
          </a:prstGeom>
          <a:noFill/>
          <a:ln/>
        </p:spPr>
        <p:txBody>
          <a:bodyPr wrap="square" lIns="0" tIns="0" rIns="0" bIns="0" rtlCol="0" anchor="ctr"/>
          <a:lstStyle/>
          <a:p>
            <a:pPr indent="0" marL="0">
              <a:buNone/>
            </a:pPr>
            <a:r>
              <a:rPr lang="en-US" sz="1050" dirty="0">
                <a:solidFill>
                  <a:srgbClr val="9FC2D4"/>
                </a:solidFill>
                <a:latin typeface="Calibri" pitchFamily="34" charset="0"/>
                <a:ea typeface="Calibri" pitchFamily="34" charset="-122"/>
                <a:cs typeface="Calibri" pitchFamily="34" charset="-120"/>
              </a:rPr>
              <a:t>A5  Model specification comparison</a:t>
            </a:r>
            <a:endParaRPr lang="en-US" sz="1050" dirty="0"/>
          </a:p>
        </p:txBody>
      </p:sp>
      <p:sp>
        <p:nvSpPr>
          <p:cNvPr id="11" name="Text 9"/>
          <p:cNvSpPr txBox="1"/>
          <p:nvPr/>
        </p:nvSpPr>
        <p:spPr>
          <a:xfrm>
            <a:off x="3355848" y="5001768"/>
            <a:ext cx="2651760" cy="384048"/>
          </a:xfrm>
          <a:prstGeom prst="rect">
            <a:avLst/>
          </a:prstGeom>
          <a:noFill/>
          <a:ln/>
        </p:spPr>
        <p:txBody>
          <a:bodyPr wrap="square" lIns="0" tIns="0" rIns="0" bIns="0" rtlCol="0" anchor="ctr"/>
          <a:lstStyle/>
          <a:p>
            <a:pPr indent="0" marL="0">
              <a:buNone/>
            </a:pPr>
            <a:r>
              <a:rPr lang="en-US" sz="1050" dirty="0">
                <a:solidFill>
                  <a:srgbClr val="9FC2D4"/>
                </a:solidFill>
                <a:latin typeface="Calibri" pitchFamily="34" charset="0"/>
                <a:ea typeface="Calibri" pitchFamily="34" charset="-122"/>
                <a:cs typeface="Calibri" pitchFamily="34" charset="-120"/>
              </a:rPr>
              <a:t>A6  Anticipated questions</a:t>
            </a:r>
            <a:endParaRPr lang="en-US" sz="1050" dirty="0"/>
          </a:p>
        </p:txBody>
      </p:sp>
      <p:sp>
        <p:nvSpPr>
          <p:cNvPr id="12" name="Text 10"/>
          <p:cNvSpPr txBox="1"/>
          <p:nvPr/>
        </p:nvSpPr>
        <p:spPr>
          <a:xfrm>
            <a:off x="6144768" y="5001768"/>
            <a:ext cx="2651760" cy="384048"/>
          </a:xfrm>
          <a:prstGeom prst="rect">
            <a:avLst/>
          </a:prstGeom>
          <a:noFill/>
          <a:ln/>
        </p:spPr>
        <p:txBody>
          <a:bodyPr wrap="square" lIns="0" tIns="0" rIns="0" bIns="0" rtlCol="0" anchor="ctr"/>
          <a:lstStyle/>
          <a:p>
            <a:pPr indent="0" marL="0">
              <a:buNone/>
            </a:pPr>
            <a:r>
              <a:rPr lang="en-US" sz="1050" dirty="0">
                <a:solidFill>
                  <a:srgbClr val="9FC2D4"/>
                </a:solidFill>
                <a:latin typeface="Calibri" pitchFamily="34" charset="0"/>
                <a:ea typeface="Calibri" pitchFamily="34" charset="-122"/>
                <a:cs typeface="Calibri" pitchFamily="34" charset="-120"/>
              </a:rPr>
              <a:t>A7  Glossary</a:t>
            </a:r>
            <a:endParaRPr lang="en-US" sz="1050" dirty="0"/>
          </a:p>
        </p:txBody>
      </p:sp>
      <p:sp>
        <p:nvSpPr>
          <p:cNvPr id="13" name="Text 11"/>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14" name="Text 12"/>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ANNEXURE A1</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Editorial evaluation rubric</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17</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5096" cy="914400"/>
        </p:xfrm>
        <a:graphic>
          <a:graphicData uri="http://schemas.openxmlformats.org/drawingml/2006/table">
            <a:tbl>
              <a:tblPr/>
              <a:tblGrid>
                <a:gridCol w="960120"/>
                <a:gridCol w="5047488"/>
                <a:gridCol w="5047488"/>
              </a:tblGrid>
              <a:tr h="64008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Score</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Marathi fluency and register</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Mahasamvad style adherence</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r>
              <a:tr h="640080">
                <a:tc>
                  <a:txBody>
                    <a:bodyPr/>
                    <a:lstStyle/>
                    <a:p>
                      <a:pPr algn="ctr" indent="0" marL="0">
                        <a:buNone/>
                      </a:pPr>
                      <a:r>
                        <a:rPr lang="en-US" sz="1500" b="1" dirty="0">
                          <a:solidFill>
                            <a:srgbClr val="1C7293"/>
                          </a:solidFill>
                          <a:latin typeface="Cambria" pitchFamily="34" charset="0"/>
                          <a:ea typeface="Cambria" pitchFamily="34" charset="-122"/>
                          <a:cs typeface="Cambria" pitchFamily="34" charset="-120"/>
                        </a:rPr>
                        <a:t>5</a:t>
                      </a:r>
                      <a:endParaRPr lang="en-US" sz="1500" dirty="0">
                        <a:latin typeface="Cambria" charset="0"/>
                        <a:ea typeface="Cambria" charset="0"/>
                        <a:cs typeface="Cambria"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424E"/>
                          </a:solidFill>
                          <a:latin typeface="Calibri" pitchFamily="34" charset="0"/>
                          <a:ea typeface="Calibri" pitchFamily="34" charset="-122"/>
                          <a:cs typeface="Calibri" pitchFamily="34" charset="-120"/>
                        </a:rPr>
                        <a:t>Indistinguishable from an experienced DGIPR writer. Correct administrative register throughout, no English loanwords where a settled Marathi term exists.</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424E"/>
                          </a:solidFill>
                          <a:latin typeface="Calibri" pitchFamily="34" charset="0"/>
                          <a:ea typeface="Calibri" pitchFamily="34" charset="-122"/>
                          <a:cs typeface="Calibri" pitchFamily="34" charset="-120"/>
                        </a:rPr>
                        <a:t>Structure, headline convention, dateline, designation formatting and closing all match house practice without change.</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r>
              <a:tr h="640080">
                <a:tc>
                  <a:txBody>
                    <a:bodyPr/>
                    <a:lstStyle/>
                    <a:p>
                      <a:pPr algn="ctr" indent="0" marL="0">
                        <a:buNone/>
                      </a:pPr>
                      <a:r>
                        <a:rPr lang="en-US" sz="1500" b="1" dirty="0">
                          <a:solidFill>
                            <a:srgbClr val="1C7293"/>
                          </a:solidFill>
                          <a:latin typeface="Cambria" pitchFamily="34" charset="0"/>
                          <a:ea typeface="Cambria" pitchFamily="34" charset="-122"/>
                          <a:cs typeface="Cambria" pitchFamily="34" charset="-120"/>
                        </a:rPr>
                        <a:t>4</a:t>
                      </a:r>
                      <a:endParaRPr lang="en-US" sz="1500" dirty="0">
                        <a:latin typeface="Cambria" charset="0"/>
                        <a:ea typeface="Cambria" charset="0"/>
                        <a:cs typeface="Cambria"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l" indent="0" marL="0">
                        <a:buNone/>
                      </a:pPr>
                      <a:r>
                        <a:rPr lang="en-US" sz="900" dirty="0">
                          <a:solidFill>
                            <a:srgbClr val="33424E"/>
                          </a:solidFill>
                          <a:latin typeface="Calibri" pitchFamily="34" charset="0"/>
                          <a:ea typeface="Calibri" pitchFamily="34" charset="-122"/>
                          <a:cs typeface="Calibri" pitchFamily="34" charset="-120"/>
                        </a:rPr>
                        <a:t>Fluent and publishable. At most one or two register slips an editor corrects in passing.</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l" indent="0" marL="0">
                        <a:buNone/>
                      </a:pPr>
                      <a:r>
                        <a:rPr lang="en-US" sz="900" dirty="0">
                          <a:solidFill>
                            <a:srgbClr val="33424E"/>
                          </a:solidFill>
                          <a:latin typeface="Calibri" pitchFamily="34" charset="0"/>
                          <a:ea typeface="Calibri" pitchFamily="34" charset="-122"/>
                          <a:cs typeface="Calibri" pitchFamily="34" charset="-120"/>
                        </a:rPr>
                        <a:t>Recognisably house style. One structural element — usually the headline or the closing paragraph — needs reworking.</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r h="640080">
                <a:tc>
                  <a:txBody>
                    <a:bodyPr/>
                    <a:lstStyle/>
                    <a:p>
                      <a:pPr algn="ctr" indent="0" marL="0">
                        <a:buNone/>
                      </a:pPr>
                      <a:r>
                        <a:rPr lang="en-US" sz="1500" b="1" dirty="0">
                          <a:solidFill>
                            <a:srgbClr val="1C7293"/>
                          </a:solidFill>
                          <a:latin typeface="Cambria" pitchFamily="34" charset="0"/>
                          <a:ea typeface="Cambria" pitchFamily="34" charset="-122"/>
                          <a:cs typeface="Cambria" pitchFamily="34" charset="-120"/>
                        </a:rPr>
                        <a:t>3</a:t>
                      </a:r>
                      <a:endParaRPr lang="en-US" sz="1500" dirty="0">
                        <a:latin typeface="Cambria" charset="0"/>
                        <a:ea typeface="Cambria" charset="0"/>
                        <a:cs typeface="Cambria"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424E"/>
                          </a:solidFill>
                          <a:latin typeface="Calibri" pitchFamily="34" charset="0"/>
                          <a:ea typeface="Calibri" pitchFamily="34" charset="-122"/>
                          <a:cs typeface="Calibri" pitchFamily="34" charset="-120"/>
                        </a:rPr>
                        <a:t>Grammatically correct but reads as translated. Noticeable English loanwords or news-agency phrasing.</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424E"/>
                          </a:solidFill>
                          <a:latin typeface="Calibri" pitchFamily="34" charset="0"/>
                          <a:ea typeface="Calibri" pitchFamily="34" charset="-122"/>
                          <a:cs typeface="Calibri" pitchFamily="34" charset="-120"/>
                        </a:rPr>
                        <a:t>Facts are ordered sensibly but the article does not follow house structure. Substantial reordering needed.</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r>
              <a:tr h="640080">
                <a:tc>
                  <a:txBody>
                    <a:bodyPr/>
                    <a:lstStyle/>
                    <a:p>
                      <a:pPr algn="ctr" indent="0" marL="0">
                        <a:buNone/>
                      </a:pPr>
                      <a:r>
                        <a:rPr lang="en-US" sz="1500" b="1" dirty="0">
                          <a:solidFill>
                            <a:srgbClr val="1C7293"/>
                          </a:solidFill>
                          <a:latin typeface="Cambria" pitchFamily="34" charset="0"/>
                          <a:ea typeface="Cambria" pitchFamily="34" charset="-122"/>
                          <a:cs typeface="Cambria" pitchFamily="34" charset="-120"/>
                        </a:rPr>
                        <a:t>2</a:t>
                      </a:r>
                      <a:endParaRPr lang="en-US" sz="1500" dirty="0">
                        <a:latin typeface="Cambria" charset="0"/>
                        <a:ea typeface="Cambria" charset="0"/>
                        <a:cs typeface="Cambria"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l" indent="0" marL="0">
                        <a:buNone/>
                      </a:pPr>
                      <a:r>
                        <a:rPr lang="en-US" sz="900" dirty="0">
                          <a:solidFill>
                            <a:srgbClr val="33424E"/>
                          </a:solidFill>
                          <a:latin typeface="Calibri" pitchFamily="34" charset="0"/>
                          <a:ea typeface="Calibri" pitchFamily="34" charset="-122"/>
                          <a:cs typeface="Calibri" pitchFamily="34" charset="-120"/>
                        </a:rPr>
                        <a:t>Errors in agreement, case or honorifics that an officer must fix before the draft can be shown to anyone.</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algn="l" indent="0" marL="0">
                        <a:buNone/>
                      </a:pPr>
                      <a:r>
                        <a:rPr lang="en-US" sz="900" dirty="0">
                          <a:solidFill>
                            <a:srgbClr val="33424E"/>
                          </a:solidFill>
                          <a:latin typeface="Calibri" pitchFamily="34" charset="0"/>
                          <a:ea typeface="Calibri" pitchFamily="34" charset="-122"/>
                          <a:cs typeface="Calibri" pitchFamily="34" charset="-120"/>
                        </a:rPr>
                        <a:t>Little resemblance to house style. Effectively a rewrite.</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r h="640080">
                <a:tc>
                  <a:txBody>
                    <a:bodyPr/>
                    <a:lstStyle/>
                    <a:p>
                      <a:pPr algn="ctr" indent="0" marL="0">
                        <a:buNone/>
                      </a:pPr>
                      <a:r>
                        <a:rPr lang="en-US" sz="1500" b="1" dirty="0">
                          <a:solidFill>
                            <a:srgbClr val="1C7293"/>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424E"/>
                          </a:solidFill>
                          <a:latin typeface="Calibri" pitchFamily="34" charset="0"/>
                          <a:ea typeface="Calibri" pitchFamily="34" charset="-122"/>
                          <a:cs typeface="Calibri" pitchFamily="34" charset="-120"/>
                        </a:rPr>
                        <a:t>Not publishable. Devanagari rendering faults, sustained grammatical failure, or drift into another language.</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424E"/>
                          </a:solidFill>
                          <a:latin typeface="Calibri" pitchFamily="34" charset="0"/>
                          <a:ea typeface="Calibri" pitchFamily="34" charset="-122"/>
                          <a:cs typeface="Calibri" pitchFamily="34" charset="-120"/>
                        </a:rPr>
                        <a:t>No usable structure.</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66928" y="5596128"/>
            <a:ext cx="11055096" cy="274320"/>
          </a:xfrm>
          <a:prstGeom prst="rect">
            <a:avLst/>
          </a:prstGeom>
          <a:noFill/>
          <a:ln/>
        </p:spPr>
        <p:txBody>
          <a:bodyPr wrap="square" lIns="0" tIns="0" rIns="0" bIns="0" rtlCol="0" anchor="ctr"/>
          <a:lstStyle/>
          <a:p>
            <a:pPr indent="0" marL="0">
              <a:buNone/>
            </a:pPr>
            <a:r>
              <a:rPr lang="en-US" sz="900" i="1" dirty="0">
                <a:solidFill>
                  <a:srgbClr val="72868F"/>
                </a:solidFill>
                <a:latin typeface="Calibri" pitchFamily="34" charset="0"/>
                <a:ea typeface="Calibri" pitchFamily="34" charset="-122"/>
                <a:cs typeface="Calibri" pitchFamily="34" charset="-120"/>
              </a:rPr>
              <a:t>Three reviewers score every output independently. A spread greater than one point on either axis is adjudicated by a fourth reviewer. Reported figures are the adjudicated mean.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ANNEXURE A2</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Metric definitions</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18</a:t>
            </a:r>
            <a:endParaRPr lang="en-US" sz="850" dirty="0"/>
          </a:p>
        </p:txBody>
      </p:sp>
      <p:sp>
        <p:nvSpPr>
          <p:cNvPr id="7" name="Shape 4"/>
          <p:cNvSpPr/>
          <p:nvPr/>
        </p:nvSpPr>
        <p:spPr>
          <a:xfrm>
            <a:off x="566928" y="1463040"/>
            <a:ext cx="5399532" cy="1426464"/>
          </a:xfrm>
          <a:prstGeom prst="roundRect">
            <a:avLst>
              <a:gd name="adj" fmla="val 4487"/>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8" name="Text 5"/>
          <p:cNvSpPr txBox="1"/>
          <p:nvPr/>
        </p:nvSpPr>
        <p:spPr>
          <a:xfrm>
            <a:off x="786384" y="1627632"/>
            <a:ext cx="4960620" cy="274320"/>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Faithfulness</a:t>
            </a:r>
            <a:endParaRPr lang="en-US" sz="1400" dirty="0"/>
          </a:p>
        </p:txBody>
      </p:sp>
      <p:sp>
        <p:nvSpPr>
          <p:cNvPr id="9" name="Text 6"/>
          <p:cNvSpPr txBox="1"/>
          <p:nvPr/>
        </p:nvSpPr>
        <p:spPr>
          <a:xfrm>
            <a:off x="786384" y="1938528"/>
            <a:ext cx="4960620" cy="822960"/>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Each factual claim in the generated article is extracted and checked against the verified source. Faithfulness is the percentage of claims fully supported. An unsupported number, name, date or attribution counts as a failure regardless of how minor.</a:t>
            </a:r>
            <a:endParaRPr lang="en-US" sz="950" dirty="0"/>
          </a:p>
        </p:txBody>
      </p:sp>
      <p:sp>
        <p:nvSpPr>
          <p:cNvPr id="10" name="Shape 7"/>
          <p:cNvSpPr/>
          <p:nvPr/>
        </p:nvSpPr>
        <p:spPr>
          <a:xfrm>
            <a:off x="6222492" y="1463040"/>
            <a:ext cx="5399532" cy="1426464"/>
          </a:xfrm>
          <a:prstGeom prst="roundRect">
            <a:avLst>
              <a:gd name="adj" fmla="val 4487"/>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1" name="Text 8"/>
          <p:cNvSpPr txBox="1"/>
          <p:nvPr/>
        </p:nvSpPr>
        <p:spPr>
          <a:xfrm>
            <a:off x="6441948" y="1627632"/>
            <a:ext cx="4960620" cy="274320"/>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Coverage</a:t>
            </a:r>
            <a:endParaRPr lang="en-US" sz="1400" dirty="0"/>
          </a:p>
        </p:txBody>
      </p:sp>
      <p:sp>
        <p:nvSpPr>
          <p:cNvPr id="12" name="Text 9"/>
          <p:cNvSpPr txBox="1"/>
          <p:nvPr/>
        </p:nvSpPr>
        <p:spPr>
          <a:xfrm>
            <a:off x="6441948" y="1938528"/>
            <a:ext cx="4960620" cy="822960"/>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The required facts in the source — figures, decisions, named officials, dates, scheme names — are enumerated in advance. Coverage is the percentage present in the article. Measures omission, where faithfulness measures invention.</a:t>
            </a:r>
            <a:endParaRPr lang="en-US" sz="950" dirty="0"/>
          </a:p>
        </p:txBody>
      </p:sp>
      <p:sp>
        <p:nvSpPr>
          <p:cNvPr id="13" name="Shape 10"/>
          <p:cNvSpPr/>
          <p:nvPr/>
        </p:nvSpPr>
        <p:spPr>
          <a:xfrm>
            <a:off x="566928" y="3035808"/>
            <a:ext cx="5399532" cy="1426464"/>
          </a:xfrm>
          <a:prstGeom prst="roundRect">
            <a:avLst>
              <a:gd name="adj" fmla="val 4487"/>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4" name="Text 11"/>
          <p:cNvSpPr txBox="1"/>
          <p:nvPr/>
        </p:nvSpPr>
        <p:spPr>
          <a:xfrm>
            <a:off x="786384" y="3200400"/>
            <a:ext cx="4960620" cy="274320"/>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First-draft acceptance</a:t>
            </a:r>
            <a:endParaRPr lang="en-US" sz="1400" dirty="0"/>
          </a:p>
        </p:txBody>
      </p:sp>
      <p:sp>
        <p:nvSpPr>
          <p:cNvPr id="15" name="Text 12"/>
          <p:cNvSpPr txBox="1"/>
          <p:nvPr/>
        </p:nvSpPr>
        <p:spPr>
          <a:xfrm>
            <a:off x="786384" y="3511296"/>
            <a:ext cx="4960620" cy="822960"/>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The share of articles an officer published with cosmetic change only, defined as fewer than 5% of tokens altered. The metric that converts most directly into staff hours.</a:t>
            </a:r>
            <a:endParaRPr lang="en-US" sz="950" dirty="0"/>
          </a:p>
        </p:txBody>
      </p:sp>
      <p:sp>
        <p:nvSpPr>
          <p:cNvPr id="16" name="Shape 13"/>
          <p:cNvSpPr/>
          <p:nvPr/>
        </p:nvSpPr>
        <p:spPr>
          <a:xfrm>
            <a:off x="6222492" y="3035808"/>
            <a:ext cx="5399532" cy="1426464"/>
          </a:xfrm>
          <a:prstGeom prst="roundRect">
            <a:avLst>
              <a:gd name="adj" fmla="val 4487"/>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7" name="Text 14"/>
          <p:cNvSpPr txBox="1"/>
          <p:nvPr/>
        </p:nvSpPr>
        <p:spPr>
          <a:xfrm>
            <a:off x="6441948" y="3200400"/>
            <a:ext cx="4960620" cy="274320"/>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Editor rewrite</a:t>
            </a:r>
            <a:endParaRPr lang="en-US" sz="1400" dirty="0"/>
          </a:p>
        </p:txBody>
      </p:sp>
      <p:sp>
        <p:nvSpPr>
          <p:cNvPr id="18" name="Text 15"/>
          <p:cNvSpPr txBox="1"/>
          <p:nvPr/>
        </p:nvSpPr>
        <p:spPr>
          <a:xfrm>
            <a:off x="6441948" y="3511296"/>
            <a:ext cx="4960620" cy="822960"/>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Normalised edit distance between the model's draft and the officer's approved version, expressed as a percentage of the article. Lower is better.</a:t>
            </a:r>
            <a:endParaRPr lang="en-US" sz="950" dirty="0"/>
          </a:p>
        </p:txBody>
      </p:sp>
      <p:sp>
        <p:nvSpPr>
          <p:cNvPr id="19" name="Shape 16"/>
          <p:cNvSpPr/>
          <p:nvPr/>
        </p:nvSpPr>
        <p:spPr>
          <a:xfrm>
            <a:off x="566928" y="4608576"/>
            <a:ext cx="5399532" cy="1426464"/>
          </a:xfrm>
          <a:prstGeom prst="roundRect">
            <a:avLst>
              <a:gd name="adj" fmla="val 4487"/>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0" name="Text 17"/>
          <p:cNvSpPr txBox="1"/>
          <p:nvPr/>
        </p:nvSpPr>
        <p:spPr>
          <a:xfrm>
            <a:off x="786384" y="4773168"/>
            <a:ext cx="4960620" cy="274320"/>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Tokens per second</a:t>
            </a:r>
            <a:endParaRPr lang="en-US" sz="1400" dirty="0"/>
          </a:p>
        </p:txBody>
      </p:sp>
      <p:sp>
        <p:nvSpPr>
          <p:cNvPr id="21" name="Text 18"/>
          <p:cNvSpPr txBox="1"/>
          <p:nvPr/>
        </p:nvSpPr>
        <p:spPr>
          <a:xfrm>
            <a:off x="786384" y="5084064"/>
            <a:ext cx="4960620" cy="822960"/>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Sustained decode throughput at a 16K input context under production batching on identical hardware, not a peak single-stream figure.</a:t>
            </a:r>
            <a:endParaRPr lang="en-US" sz="950" dirty="0"/>
          </a:p>
        </p:txBody>
      </p:sp>
      <p:sp>
        <p:nvSpPr>
          <p:cNvPr id="22" name="Shape 19"/>
          <p:cNvSpPr/>
          <p:nvPr/>
        </p:nvSpPr>
        <p:spPr>
          <a:xfrm>
            <a:off x="6222492" y="4608576"/>
            <a:ext cx="5399532" cy="1426464"/>
          </a:xfrm>
          <a:prstGeom prst="roundRect">
            <a:avLst>
              <a:gd name="adj" fmla="val 4487"/>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3" name="Text 20"/>
          <p:cNvSpPr txBox="1"/>
          <p:nvPr/>
        </p:nvSpPr>
        <p:spPr>
          <a:xfrm>
            <a:off x="6441948" y="4773168"/>
            <a:ext cx="4960620" cy="274320"/>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Tokens per Marathi character</a:t>
            </a:r>
            <a:endParaRPr lang="en-US" sz="1400" dirty="0"/>
          </a:p>
        </p:txBody>
      </p:sp>
      <p:sp>
        <p:nvSpPr>
          <p:cNvPr id="24" name="Text 21"/>
          <p:cNvSpPr txBox="1"/>
          <p:nvPr/>
        </p:nvSpPr>
        <p:spPr>
          <a:xfrm>
            <a:off x="6441948" y="5084064"/>
            <a:ext cx="4960620" cy="822960"/>
          </a:xfrm>
          <a:prstGeom prst="rect">
            <a:avLst/>
          </a:prstGeom>
          <a:noFill/>
          <a:ln/>
        </p:spPr>
        <p:txBody>
          <a:bodyPr wrap="square" lIns="0" tIns="0" rIns="0" bIns="0" rtlCol="0" anchor="ctr"/>
          <a:lstStyle/>
          <a:p>
            <a:pPr indent="0" marL="0">
              <a:lnSpc>
                <a:spcPts val="1250"/>
              </a:lnSpc>
              <a:buNone/>
            </a:pPr>
            <a:r>
              <a:rPr lang="en-US" sz="950" dirty="0">
                <a:solidFill>
                  <a:srgbClr val="33424E"/>
                </a:solidFill>
                <a:latin typeface="Calibri" pitchFamily="34" charset="0"/>
                <a:ea typeface="Calibri" pitchFamily="34" charset="-122"/>
                <a:cs typeface="Calibri" pitchFamily="34" charset="-120"/>
              </a:rPr>
              <a:t>Tokenizer efficiency on Devanagari. Directly determines cost, latency and how much source a fixed context window can hold. Measured on a fixed 50,000-character DGIPR corpus sample.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ANNEXURE A3</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Memory and per-node capacity</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19</a:t>
            </a:r>
            <a:endParaRPr lang="en-US" sz="850" dirty="0"/>
          </a:p>
        </p:txBody>
      </p:sp>
      <p:sp>
        <p:nvSpPr>
          <p:cNvPr id="7" name="Shape 4"/>
          <p:cNvSpPr/>
          <p:nvPr/>
        </p:nvSpPr>
        <p:spPr>
          <a:xfrm>
            <a:off x="566928" y="1444752"/>
            <a:ext cx="5367528" cy="2788920"/>
          </a:xfrm>
          <a:prstGeom prst="roundRect">
            <a:avLst>
              <a:gd name="adj" fmla="val 2295"/>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8" name="Text 5"/>
          <p:cNvSpPr txBox="1"/>
          <p:nvPr/>
        </p:nvSpPr>
        <p:spPr>
          <a:xfrm>
            <a:off x="822960" y="1609344"/>
            <a:ext cx="4846320" cy="274320"/>
          </a:xfrm>
          <a:prstGeom prst="rect">
            <a:avLst/>
          </a:prstGeom>
          <a:noFill/>
          <a:ln/>
        </p:spPr>
        <p:txBody>
          <a:bodyPr wrap="square" lIns="0" tIns="0" rIns="0" bIns="0" rtlCol="0" anchor="ctr"/>
          <a:lstStyle/>
          <a:p>
            <a:pPr indent="0" marL="0">
              <a:buNone/>
            </a:pPr>
            <a:r>
              <a:rPr lang="en-US" sz="1500" b="1" dirty="0">
                <a:solidFill>
                  <a:srgbClr val="0F2B46"/>
                </a:solidFill>
                <a:latin typeface="Cambria" pitchFamily="34" charset="0"/>
                <a:ea typeface="Cambria" pitchFamily="34" charset="-122"/>
                <a:cs typeface="Cambria" pitchFamily="34" charset="-120"/>
              </a:rPr>
              <a:t>Qwen3-32B memory footprint</a:t>
            </a:r>
            <a:endParaRPr lang="en-US" sz="1500" dirty="0"/>
          </a:p>
        </p:txBody>
      </p:sp>
      <p:sp>
        <p:nvSpPr>
          <p:cNvPr id="9" name="Text 6"/>
          <p:cNvSpPr txBox="1"/>
          <p:nvPr/>
        </p:nvSpPr>
        <p:spPr>
          <a:xfrm>
            <a:off x="822960" y="1956816"/>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Weights, BF16</a:t>
            </a:r>
            <a:endParaRPr lang="en-US" sz="900" dirty="0"/>
          </a:p>
        </p:txBody>
      </p:sp>
      <p:sp>
        <p:nvSpPr>
          <p:cNvPr id="10" name="Text 7"/>
          <p:cNvSpPr txBox="1"/>
          <p:nvPr/>
        </p:nvSpPr>
        <p:spPr>
          <a:xfrm>
            <a:off x="2633472" y="1956816"/>
            <a:ext cx="3026664"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32.8B × 2 bytes ≈ 66 GB</a:t>
            </a:r>
            <a:endParaRPr lang="en-US" sz="900" dirty="0"/>
          </a:p>
        </p:txBody>
      </p:sp>
      <p:sp>
        <p:nvSpPr>
          <p:cNvPr id="11" name="Text 8"/>
          <p:cNvSpPr txBox="1"/>
          <p:nvPr/>
        </p:nvSpPr>
        <p:spPr>
          <a:xfrm>
            <a:off x="822960" y="2272284"/>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Weights, FP8</a:t>
            </a:r>
            <a:endParaRPr lang="en-US" sz="900" dirty="0"/>
          </a:p>
        </p:txBody>
      </p:sp>
      <p:sp>
        <p:nvSpPr>
          <p:cNvPr id="12" name="Text 9"/>
          <p:cNvSpPr txBox="1"/>
          <p:nvPr/>
        </p:nvSpPr>
        <p:spPr>
          <a:xfrm>
            <a:off x="2633472" y="2272284"/>
            <a:ext cx="3026664"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 35 GB</a:t>
            </a:r>
            <a:endParaRPr lang="en-US" sz="900" dirty="0"/>
          </a:p>
        </p:txBody>
      </p:sp>
      <p:sp>
        <p:nvSpPr>
          <p:cNvPr id="13" name="Text 10"/>
          <p:cNvSpPr txBox="1"/>
          <p:nvPr/>
        </p:nvSpPr>
        <p:spPr>
          <a:xfrm>
            <a:off x="822960" y="2587752"/>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Weights, 4-bit AWQ/GPTQ</a:t>
            </a:r>
            <a:endParaRPr lang="en-US" sz="900" dirty="0"/>
          </a:p>
        </p:txBody>
      </p:sp>
      <p:sp>
        <p:nvSpPr>
          <p:cNvPr id="14" name="Text 11"/>
          <p:cNvSpPr txBox="1"/>
          <p:nvPr/>
        </p:nvSpPr>
        <p:spPr>
          <a:xfrm>
            <a:off x="2633472" y="2587752"/>
            <a:ext cx="3026664"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 19 GB</a:t>
            </a:r>
            <a:endParaRPr lang="en-US" sz="900" dirty="0"/>
          </a:p>
        </p:txBody>
      </p:sp>
      <p:sp>
        <p:nvSpPr>
          <p:cNvPr id="15" name="Text 12"/>
          <p:cNvSpPr txBox="1"/>
          <p:nvPr/>
        </p:nvSpPr>
        <p:spPr>
          <a:xfrm>
            <a:off x="822960" y="2903220"/>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KV cache, BF16</a:t>
            </a:r>
            <a:endParaRPr lang="en-US" sz="900" dirty="0"/>
          </a:p>
        </p:txBody>
      </p:sp>
      <p:sp>
        <p:nvSpPr>
          <p:cNvPr id="16" name="Text 13"/>
          <p:cNvSpPr txBox="1"/>
          <p:nvPr/>
        </p:nvSpPr>
        <p:spPr>
          <a:xfrm>
            <a:off x="2633472" y="2903220"/>
            <a:ext cx="3026664"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64 layers × 8 KV heads × 128 dim × 2 ≈ 256 KB per token → ≈ 8 GB per 32K sequence</a:t>
            </a:r>
            <a:endParaRPr lang="en-US" sz="900" dirty="0"/>
          </a:p>
        </p:txBody>
      </p:sp>
      <p:sp>
        <p:nvSpPr>
          <p:cNvPr id="17" name="Text 14"/>
          <p:cNvSpPr txBox="1"/>
          <p:nvPr/>
        </p:nvSpPr>
        <p:spPr>
          <a:xfrm>
            <a:off x="822960" y="3218688"/>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KV cache, FP8</a:t>
            </a:r>
            <a:endParaRPr lang="en-US" sz="900" dirty="0"/>
          </a:p>
        </p:txBody>
      </p:sp>
      <p:sp>
        <p:nvSpPr>
          <p:cNvPr id="18" name="Text 15"/>
          <p:cNvSpPr txBox="1"/>
          <p:nvPr/>
        </p:nvSpPr>
        <p:spPr>
          <a:xfrm>
            <a:off x="2633472" y="3218688"/>
            <a:ext cx="3026664"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 4 GB per 32K sequence</a:t>
            </a:r>
            <a:endParaRPr lang="en-US" sz="900" dirty="0"/>
          </a:p>
        </p:txBody>
      </p:sp>
      <p:sp>
        <p:nvSpPr>
          <p:cNvPr id="19" name="Text 16"/>
          <p:cNvSpPr txBox="1"/>
          <p:nvPr/>
        </p:nvSpPr>
        <p:spPr>
          <a:xfrm>
            <a:off x="822960" y="3534156"/>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One RTX PRO 6000, BF16</a:t>
            </a:r>
            <a:endParaRPr lang="en-US" sz="900" dirty="0"/>
          </a:p>
        </p:txBody>
      </p:sp>
      <p:sp>
        <p:nvSpPr>
          <p:cNvPr id="20" name="Text 17"/>
          <p:cNvSpPr txBox="1"/>
          <p:nvPr/>
        </p:nvSpPr>
        <p:spPr>
          <a:xfrm>
            <a:off x="2633472" y="3534156"/>
            <a:ext cx="3026664"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66 GB weights + ≈ 26 GB usable cache → 3–4 concurrent 32K sessions</a:t>
            </a:r>
            <a:endParaRPr lang="en-US" sz="900" dirty="0"/>
          </a:p>
        </p:txBody>
      </p:sp>
      <p:sp>
        <p:nvSpPr>
          <p:cNvPr id="21" name="Text 18"/>
          <p:cNvSpPr txBox="1"/>
          <p:nvPr/>
        </p:nvSpPr>
        <p:spPr>
          <a:xfrm>
            <a:off x="822960" y="3849624"/>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One RTX PRO 6000, FP8</a:t>
            </a:r>
            <a:endParaRPr lang="en-US" sz="900" dirty="0"/>
          </a:p>
        </p:txBody>
      </p:sp>
      <p:sp>
        <p:nvSpPr>
          <p:cNvPr id="22" name="Text 19"/>
          <p:cNvSpPr txBox="1"/>
          <p:nvPr/>
        </p:nvSpPr>
        <p:spPr>
          <a:xfrm>
            <a:off x="2633472" y="3849624"/>
            <a:ext cx="3026664"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35 GB weights + ≈ 55 GB cache → 13+ concurrent 32K sessions, or 50+ at typical 8K working context</a:t>
            </a:r>
            <a:endParaRPr lang="en-US" sz="900" dirty="0"/>
          </a:p>
        </p:txBody>
      </p:sp>
      <p:sp>
        <p:nvSpPr>
          <p:cNvPr id="23" name="Shape 20"/>
          <p:cNvSpPr/>
          <p:nvPr/>
        </p:nvSpPr>
        <p:spPr>
          <a:xfrm>
            <a:off x="6254496" y="1444752"/>
            <a:ext cx="5367528" cy="2788920"/>
          </a:xfrm>
          <a:prstGeom prst="roundRect">
            <a:avLst>
              <a:gd name="adj" fmla="val 2295"/>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4" name="Text 21"/>
          <p:cNvSpPr txBox="1"/>
          <p:nvPr/>
        </p:nvSpPr>
        <p:spPr>
          <a:xfrm>
            <a:off x="6510528" y="1609344"/>
            <a:ext cx="4846320" cy="274320"/>
          </a:xfrm>
          <a:prstGeom prst="rect">
            <a:avLst/>
          </a:prstGeom>
          <a:noFill/>
          <a:ln/>
        </p:spPr>
        <p:txBody>
          <a:bodyPr wrap="square" lIns="0" tIns="0" rIns="0" bIns="0" rtlCol="0" anchor="ctr"/>
          <a:lstStyle/>
          <a:p>
            <a:pPr indent="0" marL="0">
              <a:buNone/>
            </a:pPr>
            <a:r>
              <a:rPr lang="en-US" sz="1500" b="1" dirty="0">
                <a:solidFill>
                  <a:srgbClr val="0F2B46"/>
                </a:solidFill>
                <a:latin typeface="Cambria" pitchFamily="34" charset="0"/>
                <a:ea typeface="Cambria" pitchFamily="34" charset="-122"/>
                <a:cs typeface="Cambria" pitchFamily="34" charset="-120"/>
              </a:rPr>
              <a:t>Capacity of a single node</a:t>
            </a:r>
            <a:endParaRPr lang="en-US" sz="1500" dirty="0"/>
          </a:p>
        </p:txBody>
      </p:sp>
      <p:sp>
        <p:nvSpPr>
          <p:cNvPr id="25" name="Text 22"/>
          <p:cNvSpPr txBox="1"/>
          <p:nvPr/>
        </p:nvSpPr>
        <p:spPr>
          <a:xfrm>
            <a:off x="6510528" y="1956816"/>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Input per call</a:t>
            </a:r>
            <a:endParaRPr lang="en-US" sz="900" dirty="0"/>
          </a:p>
        </p:txBody>
      </p:sp>
      <p:sp>
        <p:nvSpPr>
          <p:cNvPr id="26" name="Text 23"/>
          <p:cNvSpPr txBox="1"/>
          <p:nvPr/>
        </p:nvSpPr>
        <p:spPr>
          <a:xfrm>
            <a:off x="8321040" y="1956816"/>
            <a:ext cx="3054096"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 6,000 tokens — verified source plus retrieved style references</a:t>
            </a:r>
            <a:endParaRPr lang="en-US" sz="900" dirty="0"/>
          </a:p>
        </p:txBody>
      </p:sp>
      <p:sp>
        <p:nvSpPr>
          <p:cNvPr id="27" name="Text 24"/>
          <p:cNvSpPr txBox="1"/>
          <p:nvPr/>
        </p:nvSpPr>
        <p:spPr>
          <a:xfrm>
            <a:off x="6510528" y="2272284"/>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Output per call</a:t>
            </a:r>
            <a:endParaRPr lang="en-US" sz="900" dirty="0"/>
          </a:p>
        </p:txBody>
      </p:sp>
      <p:sp>
        <p:nvSpPr>
          <p:cNvPr id="28" name="Text 25"/>
          <p:cNvSpPr txBox="1"/>
          <p:nvPr/>
        </p:nvSpPr>
        <p:spPr>
          <a:xfrm>
            <a:off x="8321040" y="2272284"/>
            <a:ext cx="3054096"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 1,500 tokens for a full Marathi article</a:t>
            </a:r>
            <a:endParaRPr lang="en-US" sz="900" dirty="0"/>
          </a:p>
        </p:txBody>
      </p:sp>
      <p:sp>
        <p:nvSpPr>
          <p:cNvPr id="29" name="Text 26"/>
          <p:cNvSpPr txBox="1"/>
          <p:nvPr/>
        </p:nvSpPr>
        <p:spPr>
          <a:xfrm>
            <a:off x="6510528" y="2587752"/>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Calls per article</a:t>
            </a:r>
            <a:endParaRPr lang="en-US" sz="900" dirty="0"/>
          </a:p>
        </p:txBody>
      </p:sp>
      <p:sp>
        <p:nvSpPr>
          <p:cNvPr id="30" name="Text 27"/>
          <p:cNvSpPr txBox="1"/>
          <p:nvPr/>
        </p:nvSpPr>
        <p:spPr>
          <a:xfrm>
            <a:off x="8321040" y="2587752"/>
            <a:ext cx="3054096"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 2.5, including officer-requested revisions</a:t>
            </a:r>
            <a:endParaRPr lang="en-US" sz="900" dirty="0"/>
          </a:p>
        </p:txBody>
      </p:sp>
      <p:sp>
        <p:nvSpPr>
          <p:cNvPr id="31" name="Text 28"/>
          <p:cNvSpPr txBox="1"/>
          <p:nvPr/>
        </p:nvSpPr>
        <p:spPr>
          <a:xfrm>
            <a:off x="6510528" y="2903220"/>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Single-stream decode</a:t>
            </a:r>
            <a:endParaRPr lang="en-US" sz="900" dirty="0"/>
          </a:p>
        </p:txBody>
      </p:sp>
      <p:sp>
        <p:nvSpPr>
          <p:cNvPr id="32" name="Text 29"/>
          <p:cNvSpPr txBox="1"/>
          <p:nvPr/>
        </p:nvSpPr>
        <p:spPr>
          <a:xfrm>
            <a:off x="8321040" y="2903220"/>
            <a:ext cx="3054096"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 42 tok/s on one RTX PRO 6000</a:t>
            </a:r>
            <a:endParaRPr lang="en-US" sz="900" dirty="0"/>
          </a:p>
        </p:txBody>
      </p:sp>
      <p:sp>
        <p:nvSpPr>
          <p:cNvPr id="33" name="Text 30"/>
          <p:cNvSpPr txBox="1"/>
          <p:nvPr/>
        </p:nvSpPr>
        <p:spPr>
          <a:xfrm>
            <a:off x="6510528" y="3218688"/>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Aggregate under batching</a:t>
            </a:r>
            <a:endParaRPr lang="en-US" sz="900" dirty="0"/>
          </a:p>
        </p:txBody>
      </p:sp>
      <p:sp>
        <p:nvSpPr>
          <p:cNvPr id="34" name="Text 31"/>
          <p:cNvSpPr txBox="1"/>
          <p:nvPr/>
        </p:nvSpPr>
        <p:spPr>
          <a:xfrm>
            <a:off x="8321040" y="3218688"/>
            <a:ext cx="3054096"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 500 tok/s decode per node</a:t>
            </a:r>
            <a:endParaRPr lang="en-US" sz="900" dirty="0"/>
          </a:p>
        </p:txBody>
      </p:sp>
      <p:sp>
        <p:nvSpPr>
          <p:cNvPr id="35" name="Text 32"/>
          <p:cNvSpPr txBox="1"/>
          <p:nvPr/>
        </p:nvSpPr>
        <p:spPr>
          <a:xfrm>
            <a:off x="6510528" y="3534156"/>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1C7293"/>
                </a:solidFill>
                <a:latin typeface="Calibri" pitchFamily="34" charset="0"/>
                <a:ea typeface="Calibri" pitchFamily="34" charset="-122"/>
                <a:cs typeface="Calibri" pitchFamily="34" charset="-120"/>
              </a:rPr>
              <a:t>Net sustained capacity</a:t>
            </a:r>
            <a:endParaRPr lang="en-US" sz="900" dirty="0"/>
          </a:p>
        </p:txBody>
      </p:sp>
      <p:sp>
        <p:nvSpPr>
          <p:cNvPr id="36" name="Text 33"/>
          <p:cNvSpPr txBox="1"/>
          <p:nvPr/>
        </p:nvSpPr>
        <p:spPr>
          <a:xfrm>
            <a:off x="8321040" y="3534156"/>
            <a:ext cx="3054096"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 600–800 generation calls per hour per node once prefill of the 6,000-token input is accounted for</a:t>
            </a:r>
            <a:endParaRPr lang="en-US" sz="900" dirty="0"/>
          </a:p>
        </p:txBody>
      </p:sp>
      <p:sp>
        <p:nvSpPr>
          <p:cNvPr id="37" name="Text 34"/>
          <p:cNvSpPr txBox="1"/>
          <p:nvPr/>
        </p:nvSpPr>
        <p:spPr>
          <a:xfrm>
            <a:off x="6510528" y="3849624"/>
            <a:ext cx="1773936" cy="292608"/>
          </a:xfrm>
          <a:prstGeom prst="rect">
            <a:avLst/>
          </a:prstGeom>
          <a:noFill/>
          <a:ln/>
        </p:spPr>
        <p:txBody>
          <a:bodyPr wrap="square" lIns="0" tIns="0" rIns="0" bIns="0" rtlCol="0" anchor="t"/>
          <a:lstStyle/>
          <a:p>
            <a:pPr indent="0" marL="0">
              <a:lnSpc>
                <a:spcPts val="1100"/>
              </a:lnSpc>
              <a:buNone/>
            </a:pPr>
            <a:r>
              <a:rPr lang="en-US" sz="900" b="1" dirty="0">
                <a:solidFill>
                  <a:srgbClr val="C2690F"/>
                </a:solidFill>
                <a:latin typeface="Calibri" pitchFamily="34" charset="0"/>
                <a:ea typeface="Calibri" pitchFamily="34" charset="-122"/>
                <a:cs typeface="Calibri" pitchFamily="34" charset="-120"/>
              </a:rPr>
              <a:t>Scaling rule</a:t>
            </a:r>
            <a:endParaRPr lang="en-US" sz="900" dirty="0"/>
          </a:p>
        </p:txBody>
      </p:sp>
      <p:sp>
        <p:nvSpPr>
          <p:cNvPr id="38" name="Text 35"/>
          <p:cNvSpPr txBox="1"/>
          <p:nvPr/>
        </p:nvSpPr>
        <p:spPr>
          <a:xfrm>
            <a:off x="8321040" y="3849624"/>
            <a:ext cx="3054096" cy="310896"/>
          </a:xfrm>
          <a:prstGeom prst="rect">
            <a:avLst/>
          </a:prstGeom>
          <a:noFill/>
          <a:ln/>
        </p:spPr>
        <p:txBody>
          <a:bodyPr wrap="square" lIns="0" tIns="0" rIns="0" bIns="0" rtlCol="0" anchor="t"/>
          <a:lstStyle/>
          <a:p>
            <a:pPr indent="0" marL="0">
              <a:lnSpc>
                <a:spcPts val="1100"/>
              </a:lnSpc>
              <a:buNone/>
            </a:pPr>
            <a:r>
              <a:rPr lang="en-US" sz="900" dirty="0">
                <a:solidFill>
                  <a:srgbClr val="33424E"/>
                </a:solidFill>
                <a:latin typeface="Calibri" pitchFamily="34" charset="0"/>
                <a:ea typeface="Calibri" pitchFamily="34" charset="-122"/>
                <a:cs typeface="Calibri" pitchFamily="34" charset="-120"/>
              </a:rPr>
              <a:t>Nodes = measured peak concurrent demand ÷ per-node capacity. Measured on departmental hardware, not assumed.</a:t>
            </a:r>
            <a:endParaRPr lang="en-US" sz="900" dirty="0"/>
          </a:p>
        </p:txBody>
      </p:sp>
      <p:sp>
        <p:nvSpPr>
          <p:cNvPr id="39" name="Shape 36"/>
          <p:cNvSpPr/>
          <p:nvPr/>
        </p:nvSpPr>
        <p:spPr>
          <a:xfrm>
            <a:off x="566928" y="4407408"/>
            <a:ext cx="11055096" cy="1755648"/>
          </a:xfrm>
          <a:prstGeom prst="roundRect">
            <a:avLst>
              <a:gd name="adj" fmla="val 3646"/>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40" name="Text 37"/>
          <p:cNvSpPr txBox="1"/>
          <p:nvPr/>
        </p:nvSpPr>
        <p:spPr>
          <a:xfrm>
            <a:off x="841248" y="4572000"/>
            <a:ext cx="5486400" cy="274320"/>
          </a:xfrm>
          <a:prstGeom prst="rect">
            <a:avLst/>
          </a:prstGeom>
          <a:noFill/>
          <a:ln/>
        </p:spPr>
        <p:txBody>
          <a:bodyPr wrap="square" lIns="0" tIns="0" rIns="0" bIns="0" rtlCol="0" anchor="ctr"/>
          <a:lstStyle/>
          <a:p>
            <a:pPr indent="0" marL="0">
              <a:buNone/>
            </a:pPr>
            <a:r>
              <a:rPr lang="en-US" sz="1400" b="1" dirty="0">
                <a:solidFill>
                  <a:srgbClr val="0F2B46"/>
                </a:solidFill>
                <a:latin typeface="Cambria" pitchFamily="34" charset="0"/>
                <a:ea typeface="Cambria" pitchFamily="34" charset="-122"/>
                <a:cs typeface="Cambria" pitchFamily="34" charset="-120"/>
              </a:rPr>
              <a:t>Development environment cost, for reference</a:t>
            </a:r>
            <a:endParaRPr lang="en-US" sz="1400" dirty="0"/>
          </a:p>
        </p:txBody>
      </p:sp>
      <p:sp>
        <p:nvSpPr>
          <p:cNvPr id="41" name="Text 38"/>
          <p:cNvSpPr txBox="1"/>
          <p:nvPr/>
        </p:nvSpPr>
        <p:spPr>
          <a:xfrm>
            <a:off x="585216" y="4956048"/>
            <a:ext cx="2599182" cy="310896"/>
          </a:xfrm>
          <a:prstGeom prst="rect">
            <a:avLst/>
          </a:prstGeom>
          <a:noFill/>
          <a:ln/>
        </p:spPr>
        <p:txBody>
          <a:bodyPr wrap="square" lIns="0" tIns="0" rIns="0" bIns="0" rtlCol="0" anchor="ctr"/>
          <a:lstStyle/>
          <a:p>
            <a:pPr indent="0" marL="0">
              <a:buNone/>
            </a:pPr>
            <a:r>
              <a:rPr lang="en-US" sz="1500" b="1" dirty="0">
                <a:solidFill>
                  <a:srgbClr val="C2690F"/>
                </a:solidFill>
                <a:latin typeface="Cambria" pitchFamily="34" charset="0"/>
                <a:ea typeface="Cambria" pitchFamily="34" charset="-122"/>
                <a:cs typeface="Cambria" pitchFamily="34" charset="-120"/>
              </a:rPr>
              <a:t>$2.09 / hr</a:t>
            </a:r>
            <a:endParaRPr lang="en-US" sz="1500" dirty="0"/>
          </a:p>
        </p:txBody>
      </p:sp>
      <p:sp>
        <p:nvSpPr>
          <p:cNvPr id="42" name="Text 39"/>
          <p:cNvSpPr txBox="1"/>
          <p:nvPr/>
        </p:nvSpPr>
        <p:spPr>
          <a:xfrm>
            <a:off x="585216" y="5285232"/>
            <a:ext cx="2507742" cy="694944"/>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NVIDIA RTX PRO 6000 Blackwell, 96 GB VRAM, RunPod Secure Cloud (community cloud $1.69/hr)</a:t>
            </a:r>
            <a:endParaRPr lang="en-US" sz="850" dirty="0"/>
          </a:p>
        </p:txBody>
      </p:sp>
      <p:sp>
        <p:nvSpPr>
          <p:cNvPr id="43" name="Text 40"/>
          <p:cNvSpPr txBox="1"/>
          <p:nvPr/>
        </p:nvSpPr>
        <p:spPr>
          <a:xfrm>
            <a:off x="3403854" y="4956048"/>
            <a:ext cx="2599182" cy="310896"/>
          </a:xfrm>
          <a:prstGeom prst="rect">
            <a:avLst/>
          </a:prstGeom>
          <a:noFill/>
          <a:ln/>
        </p:spPr>
        <p:txBody>
          <a:bodyPr wrap="square" lIns="0" tIns="0" rIns="0" bIns="0" rtlCol="0" anchor="ctr"/>
          <a:lstStyle/>
          <a:p>
            <a:pPr indent="0" marL="0">
              <a:buNone/>
            </a:pPr>
            <a:r>
              <a:rPr lang="en-US" sz="1500" b="1" dirty="0">
                <a:solidFill>
                  <a:srgbClr val="C2690F"/>
                </a:solidFill>
                <a:latin typeface="Cambria" pitchFamily="34" charset="0"/>
                <a:ea typeface="Cambria" pitchFamily="34" charset="-122"/>
                <a:cs typeface="Cambria" pitchFamily="34" charset="-120"/>
              </a:rPr>
              <a:t>≈ $1,505 / mo</a:t>
            </a:r>
            <a:endParaRPr lang="en-US" sz="1500" dirty="0"/>
          </a:p>
        </p:txBody>
      </p:sp>
      <p:sp>
        <p:nvSpPr>
          <p:cNvPr id="44" name="Text 41"/>
          <p:cNvSpPr txBox="1"/>
          <p:nvPr/>
        </p:nvSpPr>
        <p:spPr>
          <a:xfrm>
            <a:off x="3403854" y="5285232"/>
            <a:ext cx="2507742" cy="694944"/>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If run continuously 24×7 for a full month</a:t>
            </a:r>
            <a:endParaRPr lang="en-US" sz="850" dirty="0"/>
          </a:p>
        </p:txBody>
      </p:sp>
      <p:sp>
        <p:nvSpPr>
          <p:cNvPr id="45" name="Text 42"/>
          <p:cNvSpPr txBox="1"/>
          <p:nvPr/>
        </p:nvSpPr>
        <p:spPr>
          <a:xfrm>
            <a:off x="6222492" y="4956048"/>
            <a:ext cx="2599182" cy="310896"/>
          </a:xfrm>
          <a:prstGeom prst="rect">
            <a:avLst/>
          </a:prstGeom>
          <a:noFill/>
          <a:ln/>
        </p:spPr>
        <p:txBody>
          <a:bodyPr wrap="square" lIns="0" tIns="0" rIns="0" bIns="0" rtlCol="0" anchor="ctr"/>
          <a:lstStyle/>
          <a:p>
            <a:pPr indent="0" marL="0">
              <a:buNone/>
            </a:pPr>
            <a:r>
              <a:rPr lang="en-US" sz="1500" b="1" dirty="0">
                <a:solidFill>
                  <a:srgbClr val="C2690F"/>
                </a:solidFill>
                <a:latin typeface="Cambria" pitchFamily="34" charset="0"/>
                <a:ea typeface="Cambria" pitchFamily="34" charset="-122"/>
                <a:cs typeface="Cambria" pitchFamily="34" charset="-120"/>
              </a:rPr>
              <a:t>≈ $500 / mo</a:t>
            </a:r>
            <a:endParaRPr lang="en-US" sz="1500" dirty="0"/>
          </a:p>
        </p:txBody>
      </p:sp>
      <p:sp>
        <p:nvSpPr>
          <p:cNvPr id="46" name="Text 43"/>
          <p:cNvSpPr txBox="1"/>
          <p:nvPr/>
        </p:nvSpPr>
        <p:spPr>
          <a:xfrm>
            <a:off x="6222492" y="5285232"/>
            <a:ext cx="2507742" cy="694944"/>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Realistic development pattern — roughly 8 hours a day of active use</a:t>
            </a:r>
            <a:endParaRPr lang="en-US" sz="850" dirty="0"/>
          </a:p>
        </p:txBody>
      </p:sp>
      <p:sp>
        <p:nvSpPr>
          <p:cNvPr id="47" name="Text 44"/>
          <p:cNvSpPr txBox="1"/>
          <p:nvPr/>
        </p:nvSpPr>
        <p:spPr>
          <a:xfrm>
            <a:off x="9041130" y="4956048"/>
            <a:ext cx="2599182" cy="310896"/>
          </a:xfrm>
          <a:prstGeom prst="rect">
            <a:avLst/>
          </a:prstGeom>
          <a:noFill/>
          <a:ln/>
        </p:spPr>
        <p:txBody>
          <a:bodyPr wrap="square" lIns="0" tIns="0" rIns="0" bIns="0" rtlCol="0" anchor="ctr"/>
          <a:lstStyle/>
          <a:p>
            <a:pPr indent="0" marL="0">
              <a:buNone/>
            </a:pPr>
            <a:r>
              <a:rPr lang="en-US" sz="1500" b="1" dirty="0">
                <a:solidFill>
                  <a:srgbClr val="72868F"/>
                </a:solidFill>
                <a:latin typeface="Cambria" pitchFamily="34" charset="0"/>
                <a:ea typeface="Cambria" pitchFamily="34" charset="-122"/>
                <a:cs typeface="Cambria" pitchFamily="34" charset="-120"/>
              </a:rPr>
              <a:t>Not the production cost</a:t>
            </a:r>
            <a:endParaRPr lang="en-US" sz="1500" dirty="0"/>
          </a:p>
        </p:txBody>
      </p:sp>
      <p:sp>
        <p:nvSpPr>
          <p:cNvPr id="48" name="Text 45"/>
          <p:cNvSpPr txBox="1"/>
          <p:nvPr/>
        </p:nvSpPr>
        <p:spPr>
          <a:xfrm>
            <a:off x="9041130" y="5285232"/>
            <a:ext cx="2507742" cy="694944"/>
          </a:xfrm>
          <a:prstGeom prst="rect">
            <a:avLst/>
          </a:prstGeom>
          <a:noFill/>
          <a:ln/>
        </p:spPr>
        <p:txBody>
          <a:bodyPr wrap="square" lIns="0" tIns="0" rIns="0" bIns="0" rtlCol="0" anchor="ctr"/>
          <a:lstStyle/>
          <a:p>
            <a:pPr indent="0" marL="0">
              <a:lnSpc>
                <a:spcPts val="1100"/>
              </a:lnSpc>
              <a:buNone/>
            </a:pPr>
            <a:r>
              <a:rPr lang="en-US" sz="850" dirty="0">
                <a:solidFill>
                  <a:srgbClr val="33424E"/>
                </a:solidFill>
                <a:latin typeface="Calibri" pitchFamily="34" charset="0"/>
                <a:ea typeface="Calibri" pitchFamily="34" charset="-122"/>
                <a:cs typeface="Calibri" pitchFamily="34" charset="-120"/>
              </a:rPr>
              <a:t>Production hardware sits in departmental infrastructure and is a capital item, not an hourly rental</a:t>
            </a:r>
            <a:endParaRPr lang="en-US" sz="850" dirty="0"/>
          </a:p>
        </p:txBody>
      </p:sp>
      <p:sp>
        <p:nvSpPr>
          <p:cNvPr id="49" name="Text 46"/>
          <p:cNvSpPr txBox="1"/>
          <p:nvPr/>
        </p:nvSpPr>
        <p:spPr>
          <a:xfrm>
            <a:off x="566928" y="6272784"/>
            <a:ext cx="11055096" cy="274320"/>
          </a:xfrm>
          <a:prstGeom prst="rect">
            <a:avLst/>
          </a:prstGeom>
          <a:noFill/>
          <a:ln/>
        </p:spPr>
        <p:txBody>
          <a:bodyPr wrap="square" lIns="0" tIns="0" rIns="0" bIns="0" rtlCol="0" anchor="ctr"/>
          <a:lstStyle/>
          <a:p>
            <a:pPr indent="0" marL="0">
              <a:buNone/>
            </a:pPr>
            <a:r>
              <a:rPr lang="en-US" sz="900" i="1" dirty="0">
                <a:solidFill>
                  <a:srgbClr val="72868F"/>
                </a:solidFill>
                <a:latin typeface="Calibri" pitchFamily="34" charset="0"/>
                <a:ea typeface="Calibri" pitchFamily="34" charset="-122"/>
                <a:cs typeface="Calibri" pitchFamily="34" charset="-120"/>
              </a:rPr>
              <a:t>RunPod pricing as published September 2026. Memory figures derived from the published Qwen3-32B architecture: 64 layers, 64 query heads, 8 key-value heads, grouped query attention.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ANNEXURE A4</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Fine-tuning configuration and data governance</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20</a:t>
            </a:r>
            <a:endParaRPr lang="en-US" sz="8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55096" cy="914400"/>
        </p:xfrm>
        <a:graphic>
          <a:graphicData uri="http://schemas.openxmlformats.org/drawingml/2006/table">
            <a:tbl>
              <a:tblPr/>
              <a:tblGrid>
                <a:gridCol w="2148840"/>
                <a:gridCol w="4453128"/>
                <a:gridCol w="4453128"/>
              </a:tblGrid>
              <a:tr h="402336">
                <a:tc>
                  <a:txBody>
                    <a:bodyPr/>
                    <a:lstStyle/>
                    <a:p>
                      <a:pPr indent="0" marL="0">
                        <a:buNone/>
                      </a:pP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Supervised fine-tuning</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Direct Preference Optimisation</a:t>
                      </a:r>
                      <a:endParaRPr lang="en-US" sz="10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C2690F"/>
                    </a:solidFill>
                  </a:tcPr>
                </a:tc>
              </a:tr>
              <a:tr h="402336">
                <a:tc>
                  <a:txBody>
                    <a:bodyPr/>
                    <a:lstStyle/>
                    <a:p>
                      <a:pPr indent="0" marL="0">
                        <a:buNone/>
                      </a:pPr>
                      <a:r>
                        <a:rPr lang="en-US" sz="900" b="1" dirty="0">
                          <a:solidFill>
                            <a:srgbClr val="0F2B46"/>
                          </a:solidFill>
                          <a:latin typeface="Calibri" pitchFamily="34" charset="0"/>
                          <a:ea typeface="Calibri" pitchFamily="34" charset="-122"/>
                          <a:cs typeface="Calibri" pitchFamily="34" charset="-120"/>
                        </a:rPr>
                        <a:t>Base</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Qwen3-32B instruct weights</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The SFT checkpoint from stage 1</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r>
              <a:tr h="402336">
                <a:tc>
                  <a:txBody>
                    <a:bodyPr/>
                    <a:lstStyle/>
                    <a:p>
                      <a:pPr indent="0" marL="0">
                        <a:buNone/>
                      </a:pPr>
                      <a:r>
                        <a:rPr lang="en-US" sz="900" b="1" dirty="0">
                          <a:solidFill>
                            <a:srgbClr val="0F2B46"/>
                          </a:solidFill>
                          <a:latin typeface="Calibri" pitchFamily="34" charset="0"/>
                          <a:ea typeface="Calibri" pitchFamily="34" charset="-122"/>
                          <a:cs typeface="Calibri" pitchFamily="34" charset="-120"/>
                        </a:rPr>
                        <a:t>Adapter</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LoRA — rank 32, alpha 64, dropout 0.05, all attention and MLP projections</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LoRA continued on the same target modules</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r h="402336">
                <a:tc>
                  <a:txBody>
                    <a:bodyPr/>
                    <a:lstStyle/>
                    <a:p>
                      <a:pPr indent="0" marL="0">
                        <a:buNone/>
                      </a:pPr>
                      <a:r>
                        <a:rPr lang="en-US" sz="900" b="1" dirty="0">
                          <a:solidFill>
                            <a:srgbClr val="0F2B46"/>
                          </a:solidFill>
                          <a:latin typeface="Calibri" pitchFamily="34" charset="0"/>
                          <a:ea typeface="Calibri" pitchFamily="34" charset="-122"/>
                          <a:cs typeface="Calibri" pitchFamily="34" charset="-120"/>
                        </a:rPr>
                        <a:t>Precision</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BF16 with gradient checkpointing</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BF16</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r>
              <a:tr h="402336">
                <a:tc>
                  <a:txBody>
                    <a:bodyPr/>
                    <a:lstStyle/>
                    <a:p>
                      <a:pPr indent="0" marL="0">
                        <a:buNone/>
                      </a:pPr>
                      <a:r>
                        <a:rPr lang="en-US" sz="900" b="1" dirty="0">
                          <a:solidFill>
                            <a:srgbClr val="0F2B46"/>
                          </a:solidFill>
                          <a:latin typeface="Calibri" pitchFamily="34" charset="0"/>
                          <a:ea typeface="Calibri" pitchFamily="34" charset="-122"/>
                          <a:cs typeface="Calibri" pitchFamily="34" charset="-120"/>
                        </a:rPr>
                        <a:t>Sequence length</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16,384 tokens</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16,384 tokens</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r h="402336">
                <a:tc>
                  <a:txBody>
                    <a:bodyPr/>
                    <a:lstStyle/>
                    <a:p>
                      <a:pPr indent="0" marL="0">
                        <a:buNone/>
                      </a:pPr>
                      <a:r>
                        <a:rPr lang="en-US" sz="900" b="1" dirty="0">
                          <a:solidFill>
                            <a:srgbClr val="0F2B46"/>
                          </a:solidFill>
                          <a:latin typeface="Calibri" pitchFamily="34" charset="0"/>
                          <a:ea typeface="Calibri" pitchFamily="34" charset="-122"/>
                          <a:cs typeface="Calibri" pitchFamily="34" charset="-120"/>
                        </a:rPr>
                        <a:t>Epochs / LR</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2–3 epochs, 1e-4 with cosine decay and warmup</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1 epoch, 5e-7, beta 0.1</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r>
              <a:tr h="402336">
                <a:tc>
                  <a:txBody>
                    <a:bodyPr/>
                    <a:lstStyle/>
                    <a:p>
                      <a:pPr indent="0" marL="0">
                        <a:buNone/>
                      </a:pPr>
                      <a:r>
                        <a:rPr lang="en-US" sz="900" b="1" dirty="0">
                          <a:solidFill>
                            <a:srgbClr val="0F2B46"/>
                          </a:solidFill>
                          <a:latin typeface="Calibri" pitchFamily="34" charset="0"/>
                          <a:ea typeface="Calibri" pitchFamily="34" charset="-122"/>
                          <a:cs typeface="Calibri" pitchFamily="34" charset="-120"/>
                        </a:rPr>
                        <a:t>Loss</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Masked to assistant tokens only — the model is never trained to reproduce the source</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Pairwise preference loss against the frozen SFT reference</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r h="402336">
                <a:tc>
                  <a:txBody>
                    <a:bodyPr/>
                    <a:lstStyle/>
                    <a:p>
                      <a:pPr indent="0" marL="0">
                        <a:buNone/>
                      </a:pPr>
                      <a:r>
                        <a:rPr lang="en-US" sz="900" b="1" dirty="0">
                          <a:solidFill>
                            <a:srgbClr val="0F2B46"/>
                          </a:solidFill>
                          <a:latin typeface="Calibri" pitchFamily="34" charset="0"/>
                          <a:ea typeface="Calibri" pitchFamily="34" charset="-122"/>
                          <a:cs typeface="Calibri" pitchFamily="34" charset="-120"/>
                        </a:rPr>
                        <a:t>Dataset unit</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One officer-approved article with its complete source and instruction chain</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One (rejected draft, approved article) pair from the same generation</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r>
              <a:tr h="402336">
                <a:tc>
                  <a:txBody>
                    <a:bodyPr/>
                    <a:lstStyle/>
                    <a:p>
                      <a:pPr indent="0" marL="0">
                        <a:buNone/>
                      </a:pPr>
                      <a:r>
                        <a:rPr lang="en-US" sz="900" b="1" dirty="0">
                          <a:solidFill>
                            <a:srgbClr val="0F2B46"/>
                          </a:solidFill>
                          <a:latin typeface="Calibri" pitchFamily="34" charset="0"/>
                          <a:ea typeface="Calibri" pitchFamily="34" charset="-122"/>
                          <a:cs typeface="Calibri" pitchFamily="34" charset="-120"/>
                        </a:rPr>
                        <a:t>Splitting</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By intake thread, never by row — no source straddles train and evaluation</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00" dirty="0">
                          <a:solidFill>
                            <a:srgbClr val="33424E"/>
                          </a:solidFill>
                          <a:latin typeface="Calibri" pitchFamily="34" charset="0"/>
                          <a:ea typeface="Calibri" pitchFamily="34" charset="-122"/>
                          <a:cs typeface="Calibri" pitchFamily="34" charset="-120"/>
                        </a:rPr>
                        <a:t>Same thread-level split, inherited from stage 1</a:t>
                      </a:r>
                      <a:endParaRPr lang="en-US" sz="90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bl>
          </a:graphicData>
        </a:graphic>
      </p:graphicFrame>
      <p:sp>
        <p:nvSpPr>
          <p:cNvPr id="8" name="Shape 4"/>
          <p:cNvSpPr/>
          <p:nvPr/>
        </p:nvSpPr>
        <p:spPr>
          <a:xfrm>
            <a:off x="566928" y="5358384"/>
            <a:ext cx="3526536" cy="932688"/>
          </a:xfrm>
          <a:prstGeom prst="roundRect">
            <a:avLst>
              <a:gd name="adj" fmla="val 6863"/>
            </a:avLst>
          </a:prstGeom>
          <a:solidFill>
            <a:srgbClr val="E4EEF3"/>
          </a:solidFill>
          <a:ln w="9525">
            <a:solidFill>
              <a:srgbClr val="BFD8E3"/>
            </a:solidFill>
            <a:prstDash val="solid"/>
          </a:ln>
          <a:effectLst>
            <a:outerShdw sx="100000" sy="100000" kx="0" ky="0" algn="bl" rotWithShape="0" blurRad="101600" dist="12700" dir="5400000">
              <a:srgbClr val="0F2B46">
                <a:alpha val="8000"/>
              </a:srgbClr>
            </a:outerShdw>
          </a:effectLst>
        </p:spPr>
      </p:sp>
      <p:sp>
        <p:nvSpPr>
          <p:cNvPr id="9" name="Text 5"/>
          <p:cNvSpPr txBox="1"/>
          <p:nvPr/>
        </p:nvSpPr>
        <p:spPr>
          <a:xfrm>
            <a:off x="749808" y="5468112"/>
            <a:ext cx="3160776" cy="219456"/>
          </a:xfrm>
          <a:prstGeom prst="rect">
            <a:avLst/>
          </a:prstGeom>
          <a:noFill/>
          <a:ln/>
        </p:spPr>
        <p:txBody>
          <a:bodyPr wrap="square" lIns="0" tIns="0" rIns="0" bIns="0" rtlCol="0" anchor="ctr"/>
          <a:lstStyle/>
          <a:p>
            <a:pPr indent="0" marL="0">
              <a:buNone/>
            </a:pPr>
            <a:r>
              <a:rPr lang="en-US" sz="1000" b="1" dirty="0">
                <a:solidFill>
                  <a:srgbClr val="1C7293"/>
                </a:solidFill>
                <a:latin typeface="Cambria" pitchFamily="34" charset="0"/>
                <a:ea typeface="Cambria" pitchFamily="34" charset="-122"/>
                <a:cs typeface="Cambria" pitchFamily="34" charset="-120"/>
              </a:rPr>
              <a:t>Human approval before training</a:t>
            </a:r>
            <a:endParaRPr lang="en-US" sz="1000" dirty="0"/>
          </a:p>
        </p:txBody>
      </p:sp>
      <p:sp>
        <p:nvSpPr>
          <p:cNvPr id="10" name="Text 6"/>
          <p:cNvSpPr txBox="1"/>
          <p:nvPr/>
        </p:nvSpPr>
        <p:spPr>
          <a:xfrm>
            <a:off x="749808" y="5705856"/>
            <a:ext cx="3160776" cy="512064"/>
          </a:xfrm>
          <a:prstGeom prst="rect">
            <a:avLst/>
          </a:prstGeom>
          <a:noFill/>
          <a:ln/>
        </p:spPr>
        <p:txBody>
          <a:bodyPr wrap="square" lIns="0" tIns="0" rIns="0" bIns="0" rtlCol="0" anchor="ctr"/>
          <a:lstStyle/>
          <a:p>
            <a:pPr indent="0" marL="0">
              <a:lnSpc>
                <a:spcPts val="1000"/>
              </a:lnSpc>
              <a:buNone/>
            </a:pPr>
            <a:r>
              <a:rPr lang="en-US" sz="800" dirty="0">
                <a:solidFill>
                  <a:srgbClr val="33424E"/>
                </a:solidFill>
                <a:latin typeface="Calibri" pitchFamily="34" charset="0"/>
                <a:ea typeface="Calibri" pitchFamily="34" charset="-122"/>
                <a:cs typeface="Calibri" pitchFamily="34" charset="-120"/>
              </a:rPr>
              <a:t>Completed does not mean approved. Every source-and-answer pair is reviewed before it enters a training set. Runs where the source is incomplete are rejected by the exporter rather than filled in.</a:t>
            </a:r>
            <a:endParaRPr lang="en-US" sz="800" dirty="0"/>
          </a:p>
        </p:txBody>
      </p:sp>
      <p:sp>
        <p:nvSpPr>
          <p:cNvPr id="11" name="Shape 7"/>
          <p:cNvSpPr/>
          <p:nvPr/>
        </p:nvSpPr>
        <p:spPr>
          <a:xfrm>
            <a:off x="4331208" y="5358384"/>
            <a:ext cx="3526536" cy="932688"/>
          </a:xfrm>
          <a:prstGeom prst="roundRect">
            <a:avLst>
              <a:gd name="adj" fmla="val 6863"/>
            </a:avLst>
          </a:prstGeom>
          <a:solidFill>
            <a:srgbClr val="E4EEF3"/>
          </a:solidFill>
          <a:ln w="9525">
            <a:solidFill>
              <a:srgbClr val="BFD8E3"/>
            </a:solidFill>
            <a:prstDash val="solid"/>
          </a:ln>
          <a:effectLst>
            <a:outerShdw sx="100000" sy="100000" kx="0" ky="0" algn="bl" rotWithShape="0" blurRad="101600" dist="12700" dir="5400000">
              <a:srgbClr val="0F2B46">
                <a:alpha val="8000"/>
              </a:srgbClr>
            </a:outerShdw>
          </a:effectLst>
        </p:spPr>
      </p:sp>
      <p:sp>
        <p:nvSpPr>
          <p:cNvPr id="12" name="Text 8"/>
          <p:cNvSpPr txBox="1"/>
          <p:nvPr/>
        </p:nvSpPr>
        <p:spPr>
          <a:xfrm>
            <a:off x="4514088" y="5468112"/>
            <a:ext cx="3160776" cy="219456"/>
          </a:xfrm>
          <a:prstGeom prst="rect">
            <a:avLst/>
          </a:prstGeom>
          <a:noFill/>
          <a:ln/>
        </p:spPr>
        <p:txBody>
          <a:bodyPr wrap="square" lIns="0" tIns="0" rIns="0" bIns="0" rtlCol="0" anchor="ctr"/>
          <a:lstStyle/>
          <a:p>
            <a:pPr indent="0" marL="0">
              <a:buNone/>
            </a:pPr>
            <a:r>
              <a:rPr lang="en-US" sz="1000" b="1" dirty="0">
                <a:solidFill>
                  <a:srgbClr val="1C7293"/>
                </a:solidFill>
                <a:latin typeface="Cambria" pitchFamily="34" charset="0"/>
                <a:ea typeface="Cambria" pitchFamily="34" charset="-122"/>
                <a:cs typeface="Cambria" pitchFamily="34" charset="-120"/>
              </a:rPr>
              <a:t>No fabrication in data preparation</a:t>
            </a:r>
            <a:endParaRPr lang="en-US" sz="1000" dirty="0"/>
          </a:p>
        </p:txBody>
      </p:sp>
      <p:sp>
        <p:nvSpPr>
          <p:cNvPr id="13" name="Text 9"/>
          <p:cNvSpPr txBox="1"/>
          <p:nvPr/>
        </p:nvSpPr>
        <p:spPr>
          <a:xfrm>
            <a:off x="4514088" y="5705856"/>
            <a:ext cx="3160776" cy="512064"/>
          </a:xfrm>
          <a:prstGeom prst="rect">
            <a:avLst/>
          </a:prstGeom>
          <a:noFill/>
          <a:ln/>
        </p:spPr>
        <p:txBody>
          <a:bodyPr wrap="square" lIns="0" tIns="0" rIns="0" bIns="0" rtlCol="0" anchor="ctr"/>
          <a:lstStyle/>
          <a:p>
            <a:pPr indent="0" marL="0">
              <a:lnSpc>
                <a:spcPts val="1000"/>
              </a:lnSpc>
              <a:buNone/>
            </a:pPr>
            <a:r>
              <a:rPr lang="en-US" sz="800" dirty="0">
                <a:solidFill>
                  <a:srgbClr val="33424E"/>
                </a:solidFill>
                <a:latin typeface="Calibri" pitchFamily="34" charset="0"/>
                <a:ea typeface="Calibri" pitchFamily="34" charset="-122"/>
                <a:cs typeface="Calibri" pitchFamily="34" charset="-120"/>
              </a:rPr>
              <a:t>The export tool performs no factual verification and invents no missing text. Where an earlier draft is absent and a feedback instruction depends on it, the gap is flagged and the example is held back.</a:t>
            </a:r>
            <a:endParaRPr lang="en-US" sz="800" dirty="0"/>
          </a:p>
        </p:txBody>
      </p:sp>
      <p:sp>
        <p:nvSpPr>
          <p:cNvPr id="14" name="Shape 10"/>
          <p:cNvSpPr/>
          <p:nvPr/>
        </p:nvSpPr>
        <p:spPr>
          <a:xfrm>
            <a:off x="8095488" y="5358384"/>
            <a:ext cx="3526536" cy="932688"/>
          </a:xfrm>
          <a:prstGeom prst="roundRect">
            <a:avLst>
              <a:gd name="adj" fmla="val 6863"/>
            </a:avLst>
          </a:prstGeom>
          <a:solidFill>
            <a:srgbClr val="E4EEF3"/>
          </a:solidFill>
          <a:ln w="9525">
            <a:solidFill>
              <a:srgbClr val="BFD8E3"/>
            </a:solidFill>
            <a:prstDash val="solid"/>
          </a:ln>
          <a:effectLst>
            <a:outerShdw sx="100000" sy="100000" kx="0" ky="0" algn="bl" rotWithShape="0" blurRad="101600" dist="12700" dir="5400000">
              <a:srgbClr val="0F2B46">
                <a:alpha val="8000"/>
              </a:srgbClr>
            </a:outerShdw>
          </a:effectLst>
        </p:spPr>
      </p:sp>
      <p:sp>
        <p:nvSpPr>
          <p:cNvPr id="15" name="Text 11"/>
          <p:cNvSpPr txBox="1"/>
          <p:nvPr/>
        </p:nvSpPr>
        <p:spPr>
          <a:xfrm>
            <a:off x="8278368" y="5468112"/>
            <a:ext cx="3160776" cy="219456"/>
          </a:xfrm>
          <a:prstGeom prst="rect">
            <a:avLst/>
          </a:prstGeom>
          <a:noFill/>
          <a:ln/>
        </p:spPr>
        <p:txBody>
          <a:bodyPr wrap="square" lIns="0" tIns="0" rIns="0" bIns="0" rtlCol="0" anchor="ctr"/>
          <a:lstStyle/>
          <a:p>
            <a:pPr indent="0" marL="0">
              <a:buNone/>
            </a:pPr>
            <a:r>
              <a:rPr lang="en-US" sz="1000" b="1" dirty="0">
                <a:solidFill>
                  <a:srgbClr val="1C7293"/>
                </a:solidFill>
                <a:latin typeface="Cambria" pitchFamily="34" charset="0"/>
                <a:ea typeface="Cambria" pitchFamily="34" charset="-122"/>
                <a:cs typeface="Cambria" pitchFamily="34" charset="-120"/>
              </a:rPr>
              <a:t>Personal data</a:t>
            </a:r>
            <a:endParaRPr lang="en-US" sz="1000" dirty="0"/>
          </a:p>
        </p:txBody>
      </p:sp>
      <p:sp>
        <p:nvSpPr>
          <p:cNvPr id="16" name="Text 12"/>
          <p:cNvSpPr txBox="1"/>
          <p:nvPr/>
        </p:nvSpPr>
        <p:spPr>
          <a:xfrm>
            <a:off x="8278368" y="5705856"/>
            <a:ext cx="3160776" cy="512064"/>
          </a:xfrm>
          <a:prstGeom prst="rect">
            <a:avLst/>
          </a:prstGeom>
          <a:noFill/>
          <a:ln/>
        </p:spPr>
        <p:txBody>
          <a:bodyPr wrap="square" lIns="0" tIns="0" rIns="0" bIns="0" rtlCol="0" anchor="ctr"/>
          <a:lstStyle/>
          <a:p>
            <a:pPr indent="0" marL="0">
              <a:lnSpc>
                <a:spcPts val="1000"/>
              </a:lnSpc>
              <a:buNone/>
            </a:pPr>
            <a:r>
              <a:rPr lang="en-US" sz="800" dirty="0">
                <a:solidFill>
                  <a:srgbClr val="33424E"/>
                </a:solidFill>
                <a:latin typeface="Calibri" pitchFamily="34" charset="0"/>
                <a:ea typeface="Calibri" pitchFamily="34" charset="-122"/>
                <a:cs typeface="Calibri" pitchFamily="34" charset="-120"/>
              </a:rPr>
              <a:t>Names and designations of public officials appear as they do in published material. Citizen personal data present in a source is excluded from training sets, not merely masked at generation time.</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ANNEXURE A5</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Model specifications compared</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21</a:t>
            </a:r>
            <a:endParaRPr lang="en-US" sz="8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55096" cy="914400"/>
        </p:xfrm>
        <a:graphic>
          <a:graphicData uri="http://schemas.openxmlformats.org/drawingml/2006/table">
            <a:tbl>
              <a:tblPr/>
              <a:tblGrid>
                <a:gridCol w="2331720"/>
                <a:gridCol w="960120"/>
                <a:gridCol w="2971800"/>
                <a:gridCol w="1783080"/>
                <a:gridCol w="1600200"/>
                <a:gridCol w="1408176"/>
              </a:tblGrid>
              <a:tr h="48463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Params</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Architecture</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Context</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Licence</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Serving footprint</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F2B46"/>
                    </a:solidFill>
                  </a:tcPr>
                </a:tc>
              </a:tr>
              <a:tr h="484632">
                <a:tc>
                  <a:txBody>
                    <a:bodyPr/>
                    <a:lstStyle/>
                    <a:p>
                      <a:pPr indent="0" marL="0">
                        <a:buNone/>
                      </a:pPr>
                      <a:r>
                        <a:rPr lang="en-US" sz="950" b="1" dirty="0">
                          <a:solidFill>
                            <a:srgbClr val="C2690F"/>
                          </a:solidFill>
                          <a:latin typeface="Calibri" pitchFamily="34" charset="0"/>
                          <a:ea typeface="Calibri" pitchFamily="34" charset="-122"/>
                          <a:cs typeface="Calibri" pitchFamily="34" charset="-120"/>
                        </a:rPr>
                        <a:t>Qwen3-32B</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indent="0" marL="0">
                        <a:buNone/>
                      </a:pPr>
                      <a:r>
                        <a:rPr lang="en-US" sz="950" b="1" dirty="0">
                          <a:solidFill>
                            <a:srgbClr val="C2690F"/>
                          </a:solidFill>
                          <a:latin typeface="Calibri" pitchFamily="34" charset="0"/>
                          <a:ea typeface="Calibri" pitchFamily="34" charset="-122"/>
                          <a:cs typeface="Calibri" pitchFamily="34" charset="-120"/>
                        </a:rPr>
                        <a:t>32.8B</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indent="0" marL="0">
                        <a:buNone/>
                      </a:pPr>
                      <a:r>
                        <a:rPr lang="en-US" sz="950" b="1" dirty="0">
                          <a:solidFill>
                            <a:srgbClr val="C2690F"/>
                          </a:solidFill>
                          <a:latin typeface="Calibri" pitchFamily="34" charset="0"/>
                          <a:ea typeface="Calibri" pitchFamily="34" charset="-122"/>
                          <a:cs typeface="Calibri" pitchFamily="34" charset="-120"/>
                        </a:rPr>
                        <a:t>Dense, 64 layers, GQA 64/8 heads</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indent="0" marL="0">
                        <a:buNone/>
                      </a:pPr>
                      <a:r>
                        <a:rPr lang="en-US" sz="950" b="1" dirty="0">
                          <a:solidFill>
                            <a:srgbClr val="C2690F"/>
                          </a:solidFill>
                          <a:latin typeface="Calibri" pitchFamily="34" charset="0"/>
                          <a:ea typeface="Calibri" pitchFamily="34" charset="-122"/>
                          <a:cs typeface="Calibri" pitchFamily="34" charset="-120"/>
                        </a:rPr>
                        <a:t>32K native, 131K with YaRN</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indent="0" marL="0">
                        <a:buNone/>
                      </a:pPr>
                      <a:r>
                        <a:rPr lang="en-US" sz="950" b="1" dirty="0">
                          <a:solidFill>
                            <a:srgbClr val="C2690F"/>
                          </a:solidFill>
                          <a:latin typeface="Calibri" pitchFamily="34" charset="0"/>
                          <a:ea typeface="Calibri" pitchFamily="34" charset="-122"/>
                          <a:cs typeface="Calibri" pitchFamily="34" charset="-120"/>
                        </a:rPr>
                        <a:t>Apache 2.0</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c>
                  <a:txBody>
                    <a:bodyPr/>
                    <a:lstStyle/>
                    <a:p>
                      <a:pPr indent="0" marL="0">
                        <a:buNone/>
                      </a:pPr>
                      <a:r>
                        <a:rPr lang="en-US" sz="950" b="1" dirty="0">
                          <a:solidFill>
                            <a:srgbClr val="C2690F"/>
                          </a:solidFill>
                          <a:latin typeface="Calibri" pitchFamily="34" charset="0"/>
                          <a:ea typeface="Calibri" pitchFamily="34" charset="-122"/>
                          <a:cs typeface="Calibri" pitchFamily="34" charset="-120"/>
                        </a:rPr>
                        <a:t>One RTX PRO 6000 96 GB at BF16</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BEEDC"/>
                    </a:solidFill>
                  </a:tcPr>
                </a:tc>
              </a:tr>
              <a:tr h="484632">
                <a:tc>
                  <a:txBody>
                    <a:bodyPr/>
                    <a:lstStyle/>
                    <a:p>
                      <a:pPr indent="0" marL="0">
                        <a:buNone/>
                      </a:pPr>
                      <a:r>
                        <a:rPr lang="en-US" sz="950" b="1" dirty="0">
                          <a:solidFill>
                            <a:srgbClr val="0F2B46"/>
                          </a:solidFill>
                          <a:latin typeface="Calibri" pitchFamily="34" charset="0"/>
                          <a:ea typeface="Calibri" pitchFamily="34" charset="-122"/>
                          <a:cs typeface="Calibri" pitchFamily="34" charset="-120"/>
                        </a:rPr>
                        <a:t>Sarvam-105B</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105B</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Mixture-of-experts, multi-head latent attention</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Long context</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Apache 2.0</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Multi-GPU</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r h="484632">
                <a:tc>
                  <a:txBody>
                    <a:bodyPr/>
                    <a:lstStyle/>
                    <a:p>
                      <a:pPr indent="0" marL="0">
                        <a:buNone/>
                      </a:pPr>
                      <a:r>
                        <a:rPr lang="en-US" sz="950" b="1" dirty="0">
                          <a:solidFill>
                            <a:srgbClr val="0F2B46"/>
                          </a:solidFill>
                          <a:latin typeface="Calibri" pitchFamily="34" charset="0"/>
                          <a:ea typeface="Calibri" pitchFamily="34" charset="-122"/>
                          <a:cs typeface="Calibri" pitchFamily="34" charset="-120"/>
                        </a:rPr>
                        <a:t>Llama 3.3-70B</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70B</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Dense</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128K</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Llama community licence</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2 × 80 GB at BF16</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r>
              <a:tr h="484632">
                <a:tc>
                  <a:txBody>
                    <a:bodyPr/>
                    <a:lstStyle/>
                    <a:p>
                      <a:pPr indent="0" marL="0">
                        <a:buNone/>
                      </a:pPr>
                      <a:r>
                        <a:rPr lang="en-US" sz="950" b="1" dirty="0">
                          <a:solidFill>
                            <a:srgbClr val="0F2B46"/>
                          </a:solidFill>
                          <a:latin typeface="Calibri" pitchFamily="34" charset="0"/>
                          <a:ea typeface="Calibri" pitchFamily="34" charset="-122"/>
                          <a:cs typeface="Calibri" pitchFamily="34" charset="-120"/>
                        </a:rPr>
                        <a:t>Gemma 3-27B</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27B</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Dense</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128K</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Gemma terms of use</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Single 80 GB GPU</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r h="484632">
                <a:tc>
                  <a:txBody>
                    <a:bodyPr/>
                    <a:lstStyle/>
                    <a:p>
                      <a:pPr indent="0" marL="0">
                        <a:buNone/>
                      </a:pPr>
                      <a:r>
                        <a:rPr lang="en-US" sz="950" b="1" dirty="0">
                          <a:solidFill>
                            <a:srgbClr val="0F2B46"/>
                          </a:solidFill>
                          <a:latin typeface="Calibri" pitchFamily="34" charset="0"/>
                          <a:ea typeface="Calibri" pitchFamily="34" charset="-122"/>
                          <a:cs typeface="Calibri" pitchFamily="34" charset="-120"/>
                        </a:rPr>
                        <a:t>Mistral Small 3.2</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24B</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Dense</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128K</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Apache 2.0</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Single 48–80 GB GPU</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r>
              <a:tr h="484632">
                <a:tc>
                  <a:txBody>
                    <a:bodyPr/>
                    <a:lstStyle/>
                    <a:p>
                      <a:pPr indent="0" marL="0">
                        <a:buNone/>
                      </a:pPr>
                      <a:r>
                        <a:rPr lang="en-US" sz="950" b="1" dirty="0">
                          <a:solidFill>
                            <a:srgbClr val="0F2B46"/>
                          </a:solidFill>
                          <a:latin typeface="Calibri" pitchFamily="34" charset="0"/>
                          <a:ea typeface="Calibri" pitchFamily="34" charset="-122"/>
                          <a:cs typeface="Calibri" pitchFamily="34" charset="-120"/>
                        </a:rPr>
                        <a:t>DeepSeek-R1-Distill-32B</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32B</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Dense, distilled from R1</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128K</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MIT</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c>
                  <a:txBody>
                    <a:bodyPr/>
                    <a:lstStyle/>
                    <a:p>
                      <a:pPr indent="0" marL="0">
                        <a:buNone/>
                      </a:pPr>
                      <a:r>
                        <a:rPr lang="en-US" sz="950" dirty="0">
                          <a:solidFill>
                            <a:srgbClr val="33424E"/>
                          </a:solidFill>
                          <a:latin typeface="Calibri" pitchFamily="34" charset="0"/>
                          <a:ea typeface="Calibri" pitchFamily="34" charset="-122"/>
                          <a:cs typeface="Calibri" pitchFamily="34" charset="-120"/>
                        </a:rPr>
                        <a:t>Single 80–96 GB GPU</a:t>
                      </a:r>
                      <a:endParaRPr lang="en-US" sz="950" dirty="0">
                        <a:latin typeface="Calibri" charset="0"/>
                        <a:ea typeface="Calibri" charset="0"/>
                        <a:cs typeface="Calibri" charset="0"/>
                      </a:endParaRPr>
                    </a:p>
                  </a:txBody>
                  <a:tcPr marL="91440" marR="91440" marT="45720" marB="4572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4F7F9"/>
                    </a:solidFill>
                  </a:tcPr>
                </a:tc>
              </a:tr>
            </a:tbl>
          </a:graphicData>
        </a:graphic>
      </p:graphicFrame>
      <p:sp>
        <p:nvSpPr>
          <p:cNvPr id="8" name="Shape 4"/>
          <p:cNvSpPr/>
          <p:nvPr/>
        </p:nvSpPr>
        <p:spPr>
          <a:xfrm>
            <a:off x="566928" y="5138928"/>
            <a:ext cx="5367528" cy="1042416"/>
          </a:xfrm>
          <a:prstGeom prst="roundRect">
            <a:avLst>
              <a:gd name="adj" fmla="val 6140"/>
            </a:avLst>
          </a:prstGeom>
          <a:solidFill>
            <a:srgbClr val="E4EEF3"/>
          </a:solidFill>
          <a:ln w="9525">
            <a:solidFill>
              <a:srgbClr val="BFD8E3"/>
            </a:solidFill>
            <a:prstDash val="solid"/>
          </a:ln>
          <a:effectLst>
            <a:outerShdw sx="100000" sy="100000" kx="0" ky="0" algn="bl" rotWithShape="0" blurRad="101600" dist="12700" dir="5400000">
              <a:srgbClr val="0F2B46">
                <a:alpha val="8000"/>
              </a:srgbClr>
            </a:outerShdw>
          </a:effectLst>
        </p:spPr>
      </p:sp>
      <p:sp>
        <p:nvSpPr>
          <p:cNvPr id="9" name="Text 5"/>
          <p:cNvSpPr txBox="1"/>
          <p:nvPr/>
        </p:nvSpPr>
        <p:spPr>
          <a:xfrm>
            <a:off x="804672" y="5266944"/>
            <a:ext cx="4846320" cy="237744"/>
          </a:xfrm>
          <a:prstGeom prst="rect">
            <a:avLst/>
          </a:prstGeom>
          <a:noFill/>
          <a:ln/>
        </p:spPr>
        <p:txBody>
          <a:bodyPr wrap="square" lIns="0" tIns="0" rIns="0" bIns="0" rtlCol="0" anchor="ctr"/>
          <a:lstStyle/>
          <a:p>
            <a:pPr indent="0" marL="0">
              <a:buNone/>
            </a:pPr>
            <a:r>
              <a:rPr lang="en-US" sz="1100" b="1" dirty="0">
                <a:solidFill>
                  <a:srgbClr val="1C7293"/>
                </a:solidFill>
                <a:latin typeface="Cambria" pitchFamily="34" charset="0"/>
                <a:ea typeface="Cambria" pitchFamily="34" charset="-122"/>
                <a:cs typeface="Cambria" pitchFamily="34" charset="-120"/>
              </a:rPr>
              <a:t>On licences</a:t>
            </a:r>
            <a:endParaRPr lang="en-US" sz="1100" dirty="0"/>
          </a:p>
        </p:txBody>
      </p:sp>
      <p:sp>
        <p:nvSpPr>
          <p:cNvPr id="10" name="Text 6"/>
          <p:cNvSpPr txBox="1"/>
          <p:nvPr/>
        </p:nvSpPr>
        <p:spPr>
          <a:xfrm>
            <a:off x="804672" y="5504688"/>
            <a:ext cx="4846320" cy="548640"/>
          </a:xfrm>
          <a:prstGeom prst="rect">
            <a:avLst/>
          </a:prstGeom>
          <a:noFill/>
          <a:ln/>
        </p:spPr>
        <p:txBody>
          <a:bodyPr wrap="square" lIns="0" tIns="0" rIns="0" bIns="0" rtlCol="0" anchor="ctr"/>
          <a:lstStyle/>
          <a:p>
            <a:pPr indent="0" marL="0">
              <a:lnSpc>
                <a:spcPts val="1050"/>
              </a:lnSpc>
              <a:buNone/>
            </a:pPr>
            <a:r>
              <a:rPr lang="en-US" sz="850" dirty="0">
                <a:solidFill>
                  <a:srgbClr val="33424E"/>
                </a:solidFill>
                <a:latin typeface="Calibri" pitchFamily="34" charset="0"/>
                <a:ea typeface="Calibri" pitchFamily="34" charset="-122"/>
                <a:cs typeface="Calibri" pitchFamily="34" charset="-120"/>
              </a:rPr>
              <a:t>Apache 2.0 and MIT place no restriction on commercial or governmental use, user counts, or redistribution of derived weights. The Llama and Gemma licences each add conditions that a department owning modified weights should have reviewed.</a:t>
            </a:r>
            <a:endParaRPr lang="en-US" sz="850" dirty="0"/>
          </a:p>
        </p:txBody>
      </p:sp>
      <p:sp>
        <p:nvSpPr>
          <p:cNvPr id="11" name="Shape 7"/>
          <p:cNvSpPr/>
          <p:nvPr/>
        </p:nvSpPr>
        <p:spPr>
          <a:xfrm>
            <a:off x="6254496" y="5138928"/>
            <a:ext cx="5367528" cy="1042416"/>
          </a:xfrm>
          <a:prstGeom prst="roundRect">
            <a:avLst>
              <a:gd name="adj" fmla="val 6140"/>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2" name="Text 8"/>
          <p:cNvSpPr txBox="1"/>
          <p:nvPr/>
        </p:nvSpPr>
        <p:spPr>
          <a:xfrm>
            <a:off x="6492240" y="5266944"/>
            <a:ext cx="4846320" cy="237744"/>
          </a:xfrm>
          <a:prstGeom prst="rect">
            <a:avLst/>
          </a:prstGeom>
          <a:noFill/>
          <a:ln/>
        </p:spPr>
        <p:txBody>
          <a:bodyPr wrap="square" lIns="0" tIns="0" rIns="0" bIns="0" rtlCol="0" anchor="ctr"/>
          <a:lstStyle/>
          <a:p>
            <a:pPr indent="0" marL="0">
              <a:buNone/>
            </a:pPr>
            <a:r>
              <a:rPr lang="en-US" sz="1100" b="1" dirty="0">
                <a:solidFill>
                  <a:srgbClr val="0F2B46"/>
                </a:solidFill>
                <a:latin typeface="Cambria" pitchFamily="34" charset="0"/>
                <a:ea typeface="Cambria" pitchFamily="34" charset="-122"/>
                <a:cs typeface="Cambria" pitchFamily="34" charset="-120"/>
              </a:rPr>
              <a:t>On footprint</a:t>
            </a:r>
            <a:endParaRPr lang="en-US" sz="1100" dirty="0"/>
          </a:p>
        </p:txBody>
      </p:sp>
      <p:sp>
        <p:nvSpPr>
          <p:cNvPr id="13" name="Text 9"/>
          <p:cNvSpPr txBox="1"/>
          <p:nvPr/>
        </p:nvSpPr>
        <p:spPr>
          <a:xfrm>
            <a:off x="6492240" y="5504688"/>
            <a:ext cx="4846320" cy="548640"/>
          </a:xfrm>
          <a:prstGeom prst="rect">
            <a:avLst/>
          </a:prstGeom>
          <a:noFill/>
          <a:ln/>
        </p:spPr>
        <p:txBody>
          <a:bodyPr wrap="square" lIns="0" tIns="0" rIns="0" bIns="0" rtlCol="0" anchor="ctr"/>
          <a:lstStyle/>
          <a:p>
            <a:pPr indent="0" marL="0">
              <a:lnSpc>
                <a:spcPts val="1050"/>
              </a:lnSpc>
              <a:buNone/>
            </a:pPr>
            <a:r>
              <a:rPr lang="en-US" sz="850" dirty="0">
                <a:solidFill>
                  <a:srgbClr val="33424E"/>
                </a:solidFill>
                <a:latin typeface="Calibri" pitchFamily="34" charset="0"/>
                <a:ea typeface="Calibri" pitchFamily="34" charset="-122"/>
                <a:cs typeface="Calibri" pitchFamily="34" charset="-120"/>
              </a:rPr>
              <a:t>A mixture-of-experts model activates only a fraction of its parameters per token, but all of them must be resident in GPU memory. That is why a 105B MoE model needs materially more hardware than a 32B dense model despite comparable per-token compute.</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ANNEXURE A6</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Anticipated questions</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22</a:t>
            </a:r>
            <a:endParaRPr lang="en-US" sz="850" dirty="0"/>
          </a:p>
        </p:txBody>
      </p:sp>
      <p:sp>
        <p:nvSpPr>
          <p:cNvPr id="7" name="Shape 4"/>
          <p:cNvSpPr/>
          <p:nvPr/>
        </p:nvSpPr>
        <p:spPr>
          <a:xfrm>
            <a:off x="566928" y="1463040"/>
            <a:ext cx="5399532" cy="1426464"/>
          </a:xfrm>
          <a:prstGeom prst="roundRect">
            <a:avLst>
              <a:gd name="adj" fmla="val 4487"/>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8" name="Text 5"/>
          <p:cNvSpPr txBox="1"/>
          <p:nvPr/>
        </p:nvSpPr>
        <p:spPr>
          <a:xfrm>
            <a:off x="786384" y="1609344"/>
            <a:ext cx="4960620" cy="438912"/>
          </a:xfrm>
          <a:prstGeom prst="rect">
            <a:avLst/>
          </a:prstGeom>
          <a:noFill/>
          <a:ln/>
        </p:spPr>
        <p:txBody>
          <a:bodyPr wrap="square" lIns="0" tIns="0" rIns="0" bIns="0" rtlCol="0" anchor="ctr"/>
          <a:lstStyle/>
          <a:p>
            <a:pPr indent="0" marL="0">
              <a:lnSpc>
                <a:spcPts val="1400"/>
              </a:lnSpc>
              <a:buNone/>
            </a:pPr>
            <a:r>
              <a:rPr lang="en-US" sz="1150" b="1" dirty="0">
                <a:solidFill>
                  <a:srgbClr val="0F2B46"/>
                </a:solidFill>
                <a:latin typeface="Cambria" pitchFamily="34" charset="0"/>
                <a:ea typeface="Cambria" pitchFamily="34" charset="-122"/>
                <a:cs typeface="Cambria" pitchFamily="34" charset="-120"/>
              </a:rPr>
              <a:t>What if the model states something that is not in the source?</a:t>
            </a:r>
            <a:endParaRPr lang="en-US" sz="1150" dirty="0"/>
          </a:p>
        </p:txBody>
      </p:sp>
      <p:sp>
        <p:nvSpPr>
          <p:cNvPr id="9" name="Text 6"/>
          <p:cNvSpPr txBox="1"/>
          <p:nvPr/>
        </p:nvSpPr>
        <p:spPr>
          <a:xfrm>
            <a:off x="786384" y="2066544"/>
            <a:ext cx="4960620" cy="713232"/>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The automated faithfulness check flags unsupported claims before an officer sees the draft, and no article publishes without officer approval. Fine-tuning on approved output reduces the rate further, but the human gate is what makes the guarantee, not the model.</a:t>
            </a:r>
            <a:endParaRPr lang="en-US" sz="900" dirty="0"/>
          </a:p>
        </p:txBody>
      </p:sp>
      <p:sp>
        <p:nvSpPr>
          <p:cNvPr id="10" name="Shape 7"/>
          <p:cNvSpPr/>
          <p:nvPr/>
        </p:nvSpPr>
        <p:spPr>
          <a:xfrm>
            <a:off x="6222492" y="1463040"/>
            <a:ext cx="5399532" cy="1426464"/>
          </a:xfrm>
          <a:prstGeom prst="roundRect">
            <a:avLst>
              <a:gd name="adj" fmla="val 4487"/>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1" name="Text 8"/>
          <p:cNvSpPr txBox="1"/>
          <p:nvPr/>
        </p:nvSpPr>
        <p:spPr>
          <a:xfrm>
            <a:off x="6441948" y="1609344"/>
            <a:ext cx="4960620" cy="438912"/>
          </a:xfrm>
          <a:prstGeom prst="rect">
            <a:avLst/>
          </a:prstGeom>
          <a:noFill/>
          <a:ln/>
        </p:spPr>
        <p:txBody>
          <a:bodyPr wrap="square" lIns="0" tIns="0" rIns="0" bIns="0" rtlCol="0" anchor="ctr"/>
          <a:lstStyle/>
          <a:p>
            <a:pPr indent="0" marL="0">
              <a:lnSpc>
                <a:spcPts val="1400"/>
              </a:lnSpc>
              <a:buNone/>
            </a:pPr>
            <a:r>
              <a:rPr lang="en-US" sz="1150" b="1" dirty="0">
                <a:solidFill>
                  <a:srgbClr val="0F2B46"/>
                </a:solidFill>
                <a:latin typeface="Cambria" pitchFamily="34" charset="0"/>
                <a:ea typeface="Cambria" pitchFamily="34" charset="-122"/>
                <a:cs typeface="Cambria" pitchFamily="34" charset="-120"/>
              </a:rPr>
              <a:t>What happens when the department's network goes down?</a:t>
            </a:r>
            <a:endParaRPr lang="en-US" sz="1150" dirty="0"/>
          </a:p>
        </p:txBody>
      </p:sp>
      <p:sp>
        <p:nvSpPr>
          <p:cNvPr id="12" name="Text 9"/>
          <p:cNvSpPr txBox="1"/>
          <p:nvPr/>
        </p:nvSpPr>
        <p:spPr>
          <a:xfrm>
            <a:off x="6441948" y="2066544"/>
            <a:ext cx="4960620" cy="713232"/>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Nothing in the article pipeline needs the internet. Inference, retrieval, OCR and transcription all run inside the perimeter. Only public-web monitoring and social publishing are affected.</a:t>
            </a:r>
            <a:endParaRPr lang="en-US" sz="900" dirty="0"/>
          </a:p>
        </p:txBody>
      </p:sp>
      <p:sp>
        <p:nvSpPr>
          <p:cNvPr id="13" name="Shape 10"/>
          <p:cNvSpPr/>
          <p:nvPr/>
        </p:nvSpPr>
        <p:spPr>
          <a:xfrm>
            <a:off x="566928" y="3035808"/>
            <a:ext cx="5399532" cy="1426464"/>
          </a:xfrm>
          <a:prstGeom prst="roundRect">
            <a:avLst>
              <a:gd name="adj" fmla="val 4487"/>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4" name="Text 11"/>
          <p:cNvSpPr txBox="1"/>
          <p:nvPr/>
        </p:nvSpPr>
        <p:spPr>
          <a:xfrm>
            <a:off x="786384" y="3182112"/>
            <a:ext cx="4960620" cy="438912"/>
          </a:xfrm>
          <a:prstGeom prst="rect">
            <a:avLst/>
          </a:prstGeom>
          <a:noFill/>
          <a:ln/>
        </p:spPr>
        <p:txBody>
          <a:bodyPr wrap="square" lIns="0" tIns="0" rIns="0" bIns="0" rtlCol="0" anchor="ctr"/>
          <a:lstStyle/>
          <a:p>
            <a:pPr indent="0" marL="0">
              <a:lnSpc>
                <a:spcPts val="1400"/>
              </a:lnSpc>
              <a:buNone/>
            </a:pPr>
            <a:r>
              <a:rPr lang="en-US" sz="1150" b="1" dirty="0">
                <a:solidFill>
                  <a:srgbClr val="0F2B46"/>
                </a:solidFill>
                <a:latin typeface="Cambria" pitchFamily="34" charset="0"/>
                <a:ea typeface="Cambria" pitchFamily="34" charset="-122"/>
                <a:cs typeface="Cambria" pitchFamily="34" charset="-120"/>
              </a:rPr>
              <a:t>Are we locked into Alibaba by choosing Qwen?</a:t>
            </a:r>
            <a:endParaRPr lang="en-US" sz="1150" dirty="0"/>
          </a:p>
        </p:txBody>
      </p:sp>
      <p:sp>
        <p:nvSpPr>
          <p:cNvPr id="15" name="Text 12"/>
          <p:cNvSpPr txBox="1"/>
          <p:nvPr/>
        </p:nvSpPr>
        <p:spPr>
          <a:xfrm>
            <a:off x="786384" y="3639312"/>
            <a:ext cx="4960620" cy="713232"/>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No. The weights are Apache 2.0 and already downloaded; they continue to work with no vendor relationship, no licence renewal and no connectivity. Generation also sits behind a provider interface, so replacing the model later is a configuration change.</a:t>
            </a:r>
            <a:endParaRPr lang="en-US" sz="900" dirty="0"/>
          </a:p>
        </p:txBody>
      </p:sp>
      <p:sp>
        <p:nvSpPr>
          <p:cNvPr id="16" name="Shape 13"/>
          <p:cNvSpPr/>
          <p:nvPr/>
        </p:nvSpPr>
        <p:spPr>
          <a:xfrm>
            <a:off x="6222492" y="3035808"/>
            <a:ext cx="5399532" cy="1426464"/>
          </a:xfrm>
          <a:prstGeom prst="roundRect">
            <a:avLst>
              <a:gd name="adj" fmla="val 4487"/>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17" name="Text 14"/>
          <p:cNvSpPr txBox="1"/>
          <p:nvPr/>
        </p:nvSpPr>
        <p:spPr>
          <a:xfrm>
            <a:off x="6441948" y="3182112"/>
            <a:ext cx="4960620" cy="438912"/>
          </a:xfrm>
          <a:prstGeom prst="rect">
            <a:avLst/>
          </a:prstGeom>
          <a:noFill/>
          <a:ln/>
        </p:spPr>
        <p:txBody>
          <a:bodyPr wrap="square" lIns="0" tIns="0" rIns="0" bIns="0" rtlCol="0" anchor="ctr"/>
          <a:lstStyle/>
          <a:p>
            <a:pPr indent="0" marL="0">
              <a:lnSpc>
                <a:spcPts val="1400"/>
              </a:lnSpc>
              <a:buNone/>
            </a:pPr>
            <a:r>
              <a:rPr lang="en-US" sz="1150" b="1" dirty="0">
                <a:solidFill>
                  <a:srgbClr val="0F2B46"/>
                </a:solidFill>
                <a:latin typeface="Cambria" pitchFamily="34" charset="0"/>
                <a:ea typeface="Cambria" pitchFamily="34" charset="-122"/>
                <a:cs typeface="Cambria" pitchFamily="34" charset="-120"/>
              </a:rPr>
              <a:t>How long before fine-tuning shows a benefit?</a:t>
            </a:r>
            <a:endParaRPr lang="en-US" sz="1150" dirty="0"/>
          </a:p>
        </p:txBody>
      </p:sp>
      <p:sp>
        <p:nvSpPr>
          <p:cNvPr id="18" name="Text 15"/>
          <p:cNvSpPr txBox="1"/>
          <p:nvPr/>
        </p:nvSpPr>
        <p:spPr>
          <a:xfrm>
            <a:off x="6441948" y="3639312"/>
            <a:ext cx="4960620" cy="713232"/>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The dataset accumulates from day one as a by-product of normal use — every approved article and every rejected draft. A first supervised fine-tune becomes worthwhile at a few thousand approved pairs, a threshold ordinary district-office usage reaches on its own.</a:t>
            </a:r>
            <a:endParaRPr lang="en-US" sz="900" dirty="0"/>
          </a:p>
        </p:txBody>
      </p:sp>
      <p:sp>
        <p:nvSpPr>
          <p:cNvPr id="19" name="Shape 16"/>
          <p:cNvSpPr/>
          <p:nvPr/>
        </p:nvSpPr>
        <p:spPr>
          <a:xfrm>
            <a:off x="566928" y="4608576"/>
            <a:ext cx="5399532" cy="1426464"/>
          </a:xfrm>
          <a:prstGeom prst="roundRect">
            <a:avLst>
              <a:gd name="adj" fmla="val 4487"/>
            </a:avLst>
          </a:prstGeom>
          <a:solidFill>
            <a:srgbClr val="FFFFFF"/>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0" name="Text 17"/>
          <p:cNvSpPr txBox="1"/>
          <p:nvPr/>
        </p:nvSpPr>
        <p:spPr>
          <a:xfrm>
            <a:off x="786384" y="4754880"/>
            <a:ext cx="4960620" cy="438912"/>
          </a:xfrm>
          <a:prstGeom prst="rect">
            <a:avLst/>
          </a:prstGeom>
          <a:noFill/>
          <a:ln/>
        </p:spPr>
        <p:txBody>
          <a:bodyPr wrap="square" lIns="0" tIns="0" rIns="0" bIns="0" rtlCol="0" anchor="ctr"/>
          <a:lstStyle/>
          <a:p>
            <a:pPr indent="0" marL="0">
              <a:lnSpc>
                <a:spcPts val="1400"/>
              </a:lnSpc>
              <a:buNone/>
            </a:pPr>
            <a:r>
              <a:rPr lang="en-US" sz="1150" b="1" dirty="0">
                <a:solidFill>
                  <a:srgbClr val="0F2B46"/>
                </a:solidFill>
                <a:latin typeface="Cambria" pitchFamily="34" charset="0"/>
                <a:ea typeface="Cambria" pitchFamily="34" charset="-122"/>
                <a:cs typeface="Cambria" pitchFamily="34" charset="-120"/>
              </a:rPr>
              <a:t>Who owns the fine-tuned model?</a:t>
            </a:r>
            <a:endParaRPr lang="en-US" sz="1150" dirty="0"/>
          </a:p>
        </p:txBody>
      </p:sp>
      <p:sp>
        <p:nvSpPr>
          <p:cNvPr id="21" name="Text 18"/>
          <p:cNvSpPr txBox="1"/>
          <p:nvPr/>
        </p:nvSpPr>
        <p:spPr>
          <a:xfrm>
            <a:off x="786384" y="5212080"/>
            <a:ext cx="4960620" cy="713232"/>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The department. It is trained on departmental data, on departmental hardware, from base weights that carry no restriction on derived works.</a:t>
            </a:r>
            <a:endParaRPr lang="en-US" sz="900" dirty="0"/>
          </a:p>
        </p:txBody>
      </p:sp>
      <p:sp>
        <p:nvSpPr>
          <p:cNvPr id="22" name="Shape 19"/>
          <p:cNvSpPr/>
          <p:nvPr/>
        </p:nvSpPr>
        <p:spPr>
          <a:xfrm>
            <a:off x="6222492" y="4608576"/>
            <a:ext cx="5399532" cy="1426464"/>
          </a:xfrm>
          <a:prstGeom prst="roundRect">
            <a:avLst>
              <a:gd name="adj" fmla="val 4487"/>
            </a:avLst>
          </a:prstGeom>
          <a:solidFill>
            <a:srgbClr val="F4F7F9"/>
          </a:solidFill>
          <a:ln w="9525">
            <a:solidFill>
              <a:srgbClr val="D9E2E8"/>
            </a:solidFill>
            <a:prstDash val="solid"/>
          </a:ln>
          <a:effectLst>
            <a:outerShdw sx="100000" sy="100000" kx="0" ky="0" algn="bl" rotWithShape="0" blurRad="101600" dist="12700" dir="5400000">
              <a:srgbClr val="0F2B46">
                <a:alpha val="8000"/>
              </a:srgbClr>
            </a:outerShdw>
          </a:effectLst>
        </p:spPr>
      </p:sp>
      <p:sp>
        <p:nvSpPr>
          <p:cNvPr id="23" name="Text 20"/>
          <p:cNvSpPr txBox="1"/>
          <p:nvPr/>
        </p:nvSpPr>
        <p:spPr>
          <a:xfrm>
            <a:off x="6441948" y="4754880"/>
            <a:ext cx="4960620" cy="438912"/>
          </a:xfrm>
          <a:prstGeom prst="rect">
            <a:avLst/>
          </a:prstGeom>
          <a:noFill/>
          <a:ln/>
        </p:spPr>
        <p:txBody>
          <a:bodyPr wrap="square" lIns="0" tIns="0" rIns="0" bIns="0" rtlCol="0" anchor="ctr"/>
          <a:lstStyle/>
          <a:p>
            <a:pPr indent="0" marL="0">
              <a:lnSpc>
                <a:spcPts val="1400"/>
              </a:lnSpc>
              <a:buNone/>
            </a:pPr>
            <a:r>
              <a:rPr lang="en-US" sz="1150" b="1" dirty="0">
                <a:solidFill>
                  <a:srgbClr val="0F2B46"/>
                </a:solidFill>
                <a:latin typeface="Cambria" pitchFamily="34" charset="0"/>
                <a:ea typeface="Cambria" pitchFamily="34" charset="-122"/>
                <a:cs typeface="Cambria" pitchFamily="34" charset="-120"/>
              </a:rPr>
              <a:t>Can this be audited by a third party?</a:t>
            </a:r>
            <a:endParaRPr lang="en-US" sz="1150" dirty="0"/>
          </a:p>
        </p:txBody>
      </p:sp>
      <p:sp>
        <p:nvSpPr>
          <p:cNvPr id="24" name="Text 21"/>
          <p:cNvSpPr txBox="1"/>
          <p:nvPr/>
        </p:nvSpPr>
        <p:spPr>
          <a:xfrm>
            <a:off x="6441948" y="5212080"/>
            <a:ext cx="4960620" cy="713232"/>
          </a:xfrm>
          <a:prstGeom prst="rect">
            <a:avLst/>
          </a:prstGeom>
          <a:noFill/>
          <a:ln/>
        </p:spPr>
        <p:txBody>
          <a:bodyPr wrap="square" lIns="0" tIns="0" rIns="0" bIns="0" rtlCol="0" anchor="ctr"/>
          <a:lstStyle/>
          <a:p>
            <a:pPr indent="0" marL="0">
              <a:lnSpc>
                <a:spcPts val="1150"/>
              </a:lnSpc>
              <a:buNone/>
            </a:pPr>
            <a:r>
              <a:rPr lang="en-US" sz="900" dirty="0">
                <a:solidFill>
                  <a:srgbClr val="33424E"/>
                </a:solidFill>
                <a:latin typeface="Calibri" pitchFamily="34" charset="0"/>
                <a:ea typeface="Calibri" pitchFamily="34" charset="-122"/>
                <a:cs typeface="Calibri" pitchFamily="34" charset="-120"/>
              </a:rPr>
              <a:t>Yes. Weights, training data, evaluation records and the full generation audit trail are all held on departmental infrastructure and can be produced for inspection.</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0515600" cy="219456"/>
          </a:xfrm>
          <a:prstGeom prst="rect">
            <a:avLst/>
          </a:prstGeom>
          <a:noFill/>
          <a:ln/>
        </p:spPr>
        <p:txBody>
          <a:bodyPr wrap="square" lIns="0" tIns="0" rIns="0" bIns="0" rtlCol="0" anchor="ctr"/>
          <a:lstStyle/>
          <a:p>
            <a:pPr indent="0" marL="0">
              <a:buNone/>
            </a:pPr>
            <a:r>
              <a:rPr lang="en-US" sz="1000" b="1" spc="180" kern="0" dirty="0">
                <a:solidFill>
                  <a:srgbClr val="1C7293"/>
                </a:solidFill>
                <a:latin typeface="Calibri" pitchFamily="34" charset="0"/>
                <a:ea typeface="Calibri" pitchFamily="34" charset="-122"/>
                <a:cs typeface="Calibri" pitchFamily="34" charset="-120"/>
              </a:rPr>
              <a:t>ANNEXURE A7</a:t>
            </a:r>
            <a:endParaRPr lang="en-US" sz="1000" dirty="0"/>
          </a:p>
        </p:txBody>
      </p:sp>
      <p:sp>
        <p:nvSpPr>
          <p:cNvPr id="3" name="Text 1"/>
          <p:cNvSpPr txBox="1"/>
          <p:nvPr/>
        </p:nvSpPr>
        <p:spPr>
          <a:xfrm>
            <a:off x="566928" y="603504"/>
            <a:ext cx="11055096" cy="566928"/>
          </a:xfrm>
          <a:prstGeom prst="rect">
            <a:avLst/>
          </a:prstGeom>
          <a:noFill/>
          <a:ln/>
        </p:spPr>
        <p:txBody>
          <a:bodyPr wrap="square" lIns="0" tIns="0" rIns="0" bIns="0" rtlCol="0" anchor="ctr"/>
          <a:lstStyle/>
          <a:p>
            <a:pPr indent="0" marL="0">
              <a:buNone/>
            </a:pPr>
            <a:r>
              <a:rPr lang="en-US" sz="2900" b="1" dirty="0">
                <a:solidFill>
                  <a:srgbClr val="0F2B46"/>
                </a:solidFill>
                <a:latin typeface="Cambria" pitchFamily="34" charset="0"/>
                <a:ea typeface="Cambria" pitchFamily="34" charset="-122"/>
                <a:cs typeface="Cambria" pitchFamily="34" charset="-120"/>
              </a:rPr>
              <a:t>Glossary</a:t>
            </a:r>
            <a:endParaRPr lang="en-US" sz="2900" dirty="0"/>
          </a:p>
        </p:txBody>
      </p:sp>
      <p:sp>
        <p:nvSpPr>
          <p:cNvPr id="4" name="Text 2"/>
          <p:cNvSpPr txBox="1"/>
          <p:nvPr/>
        </p:nvSpPr>
        <p:spPr>
          <a:xfrm>
            <a:off x="566928" y="6473952"/>
            <a:ext cx="5943600" cy="219456"/>
          </a:xfrm>
          <a:prstGeom prst="rect">
            <a:avLst/>
          </a:prstGeom>
          <a:noFill/>
          <a:ln/>
        </p:spPr>
        <p:txBody>
          <a:bodyPr wrap="square" lIns="0" tIns="0" rIns="0" bIns="0" rtlCol="0" anchor="ctr"/>
          <a:lstStyle/>
          <a:p>
            <a:pPr indent="0" marL="0">
              <a:buNone/>
            </a:pPr>
            <a:r>
              <a:rPr lang="en-US" sz="850" dirty="0">
                <a:solidFill>
                  <a:srgbClr val="72868F"/>
                </a:solidFill>
                <a:latin typeface="Calibri" pitchFamily="34" charset="0"/>
                <a:ea typeface="Calibri" pitchFamily="34" charset="-122"/>
                <a:cs typeface="Calibri" pitchFamily="34" charset="-120"/>
              </a:rPr>
              <a:t>Incepthink LLP  ·  AI NewsRoom for DGIPR  ·  Confidential</a:t>
            </a:r>
            <a:endParaRPr lang="en-US" sz="850" dirty="0"/>
          </a:p>
        </p:txBody>
      </p:sp>
      <p:sp>
        <p:nvSpPr>
          <p:cNvPr id="5" name="Text 3"/>
          <p:cNvSpPr txBox="1"/>
          <p:nvPr/>
        </p:nvSpPr>
        <p:spPr>
          <a:xfrm>
            <a:off x="10984687" y="6473952"/>
            <a:ext cx="640080" cy="219456"/>
          </a:xfrm>
          <a:prstGeom prst="rect">
            <a:avLst/>
          </a:prstGeom>
          <a:noFill/>
          <a:ln/>
        </p:spPr>
        <p:txBody>
          <a:bodyPr wrap="square" lIns="0" tIns="0" rIns="0" bIns="0" rtlCol="0" anchor="ctr"/>
          <a:lstStyle/>
          <a:p>
            <a:pPr algn="r" indent="0" marL="0">
              <a:buNone/>
            </a:pPr>
            <a:r>
              <a:rPr lang="en-US" sz="850" dirty="0">
                <a:solidFill>
                  <a:srgbClr val="72868F"/>
                </a:solidFill>
                <a:latin typeface="Calibri" pitchFamily="34" charset="0"/>
                <a:ea typeface="Calibri" pitchFamily="34" charset="-122"/>
                <a:cs typeface="Calibri" pitchFamily="34" charset="-120"/>
              </a:rPr>
              <a:t>23</a:t>
            </a:r>
            <a:endParaRPr lang="en-US" sz="850" dirty="0"/>
          </a:p>
        </p:txBody>
      </p:sp>
      <p:sp>
        <p:nvSpPr>
          <p:cNvPr id="7" name="Text 4"/>
          <p:cNvSpPr txBox="1"/>
          <p:nvPr/>
        </p:nvSpPr>
        <p:spPr>
          <a:xfrm>
            <a:off x="566928" y="1463040"/>
            <a:ext cx="5390388" cy="21945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On-premise</a:t>
            </a:r>
            <a:endParaRPr lang="en-US" sz="1050" dirty="0"/>
          </a:p>
        </p:txBody>
      </p:sp>
      <p:sp>
        <p:nvSpPr>
          <p:cNvPr id="8" name="Text 5"/>
          <p:cNvSpPr txBox="1"/>
          <p:nvPr/>
        </p:nvSpPr>
        <p:spPr>
          <a:xfrm>
            <a:off x="566928" y="1682496"/>
            <a:ext cx="5390388" cy="493776"/>
          </a:xfrm>
          <a:prstGeom prst="rect">
            <a:avLst/>
          </a:prstGeom>
          <a:noFill/>
          <a:ln/>
        </p:spPr>
        <p:txBody>
          <a:bodyPr wrap="square" lIns="0" tIns="0" rIns="0" bIns="0" rtlCol="0" anchor="ctr"/>
          <a:lstStyle/>
          <a:p>
            <a:pPr indent="0" marL="0">
              <a:lnSpc>
                <a:spcPts val="1100"/>
              </a:lnSpc>
              <a:buNone/>
            </a:pPr>
            <a:r>
              <a:rPr lang="en-US" sz="880" dirty="0">
                <a:solidFill>
                  <a:srgbClr val="33424E"/>
                </a:solidFill>
                <a:latin typeface="Calibri" pitchFamily="34" charset="0"/>
                <a:ea typeface="Calibri" pitchFamily="34" charset="-122"/>
                <a:cs typeface="Calibri" pitchFamily="34" charset="-120"/>
              </a:rPr>
              <a:t>Software and models running on hardware the department controls, rather than on a vendor's cloud service.</a:t>
            </a:r>
            <a:endParaRPr lang="en-US" sz="880" dirty="0"/>
          </a:p>
        </p:txBody>
      </p:sp>
      <p:sp>
        <p:nvSpPr>
          <p:cNvPr id="9" name="Text 6"/>
          <p:cNvSpPr txBox="1"/>
          <p:nvPr/>
        </p:nvSpPr>
        <p:spPr>
          <a:xfrm>
            <a:off x="6231636" y="1463040"/>
            <a:ext cx="5390388" cy="21945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Open weights</a:t>
            </a:r>
            <a:endParaRPr lang="en-US" sz="1050" dirty="0"/>
          </a:p>
        </p:txBody>
      </p:sp>
      <p:sp>
        <p:nvSpPr>
          <p:cNvPr id="10" name="Text 7"/>
          <p:cNvSpPr txBox="1"/>
          <p:nvPr/>
        </p:nvSpPr>
        <p:spPr>
          <a:xfrm>
            <a:off x="6231636" y="1682496"/>
            <a:ext cx="5390388" cy="493776"/>
          </a:xfrm>
          <a:prstGeom prst="rect">
            <a:avLst/>
          </a:prstGeom>
          <a:noFill/>
          <a:ln/>
        </p:spPr>
        <p:txBody>
          <a:bodyPr wrap="square" lIns="0" tIns="0" rIns="0" bIns="0" rtlCol="0" anchor="ctr"/>
          <a:lstStyle/>
          <a:p>
            <a:pPr indent="0" marL="0">
              <a:lnSpc>
                <a:spcPts val="1100"/>
              </a:lnSpc>
              <a:buNone/>
            </a:pPr>
            <a:r>
              <a:rPr lang="en-US" sz="880" dirty="0">
                <a:solidFill>
                  <a:srgbClr val="33424E"/>
                </a:solidFill>
                <a:latin typeface="Calibri" pitchFamily="34" charset="0"/>
                <a:ea typeface="Calibri" pitchFamily="34" charset="-122"/>
                <a:cs typeface="Calibri" pitchFamily="34" charset="-120"/>
              </a:rPr>
              <a:t>Model parameters that can be downloaded, inspected, modified and run offline — as distinct from a model available only through an API.</a:t>
            </a:r>
            <a:endParaRPr lang="en-US" sz="880" dirty="0"/>
          </a:p>
        </p:txBody>
      </p:sp>
      <p:sp>
        <p:nvSpPr>
          <p:cNvPr id="11" name="Text 8"/>
          <p:cNvSpPr txBox="1"/>
          <p:nvPr/>
        </p:nvSpPr>
        <p:spPr>
          <a:xfrm>
            <a:off x="566928" y="2240280"/>
            <a:ext cx="5390388" cy="21945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Inference</a:t>
            </a:r>
            <a:endParaRPr lang="en-US" sz="1050" dirty="0"/>
          </a:p>
        </p:txBody>
      </p:sp>
      <p:sp>
        <p:nvSpPr>
          <p:cNvPr id="12" name="Text 9"/>
          <p:cNvSpPr txBox="1"/>
          <p:nvPr/>
        </p:nvSpPr>
        <p:spPr>
          <a:xfrm>
            <a:off x="566928" y="2459736"/>
            <a:ext cx="5390388" cy="493776"/>
          </a:xfrm>
          <a:prstGeom prst="rect">
            <a:avLst/>
          </a:prstGeom>
          <a:noFill/>
          <a:ln/>
        </p:spPr>
        <p:txBody>
          <a:bodyPr wrap="square" lIns="0" tIns="0" rIns="0" bIns="0" rtlCol="0" anchor="ctr"/>
          <a:lstStyle/>
          <a:p>
            <a:pPr indent="0" marL="0">
              <a:lnSpc>
                <a:spcPts val="1100"/>
              </a:lnSpc>
              <a:buNone/>
            </a:pPr>
            <a:r>
              <a:rPr lang="en-US" sz="880" dirty="0">
                <a:solidFill>
                  <a:srgbClr val="33424E"/>
                </a:solidFill>
                <a:latin typeface="Calibri" pitchFamily="34" charset="0"/>
                <a:ea typeface="Calibri" pitchFamily="34" charset="-122"/>
                <a:cs typeface="Calibri" pitchFamily="34" charset="-120"/>
              </a:rPr>
              <a:t>Running a trained model to produce output. The step that consumes GPU capacity in day-to-day operation.</a:t>
            </a:r>
            <a:endParaRPr lang="en-US" sz="880" dirty="0"/>
          </a:p>
        </p:txBody>
      </p:sp>
      <p:sp>
        <p:nvSpPr>
          <p:cNvPr id="13" name="Text 10"/>
          <p:cNvSpPr txBox="1"/>
          <p:nvPr/>
        </p:nvSpPr>
        <p:spPr>
          <a:xfrm>
            <a:off x="6231636" y="2240280"/>
            <a:ext cx="5390388" cy="21945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vLLM</a:t>
            </a:r>
            <a:endParaRPr lang="en-US" sz="1050" dirty="0"/>
          </a:p>
        </p:txBody>
      </p:sp>
      <p:sp>
        <p:nvSpPr>
          <p:cNvPr id="14" name="Text 11"/>
          <p:cNvSpPr txBox="1"/>
          <p:nvPr/>
        </p:nvSpPr>
        <p:spPr>
          <a:xfrm>
            <a:off x="6231636" y="2459736"/>
            <a:ext cx="5390388" cy="493776"/>
          </a:xfrm>
          <a:prstGeom prst="rect">
            <a:avLst/>
          </a:prstGeom>
          <a:noFill/>
          <a:ln/>
        </p:spPr>
        <p:txBody>
          <a:bodyPr wrap="square" lIns="0" tIns="0" rIns="0" bIns="0" rtlCol="0" anchor="ctr"/>
          <a:lstStyle/>
          <a:p>
            <a:pPr indent="0" marL="0">
              <a:lnSpc>
                <a:spcPts val="1100"/>
              </a:lnSpc>
              <a:buNone/>
            </a:pPr>
            <a:r>
              <a:rPr lang="en-US" sz="880" dirty="0">
                <a:solidFill>
                  <a:srgbClr val="33424E"/>
                </a:solidFill>
                <a:latin typeface="Calibri" pitchFamily="34" charset="0"/>
                <a:ea typeface="Calibri" pitchFamily="34" charset="-122"/>
                <a:cs typeface="Calibri" pitchFamily="34" charset="-120"/>
              </a:rPr>
              <a:t>The open-source serving engine used to run the model efficiently, handling batching and memory management across concurrent users.</a:t>
            </a:r>
            <a:endParaRPr lang="en-US" sz="880" dirty="0"/>
          </a:p>
        </p:txBody>
      </p:sp>
      <p:sp>
        <p:nvSpPr>
          <p:cNvPr id="15" name="Text 12"/>
          <p:cNvSpPr txBox="1"/>
          <p:nvPr/>
        </p:nvSpPr>
        <p:spPr>
          <a:xfrm>
            <a:off x="566928" y="3017520"/>
            <a:ext cx="5390388" cy="21945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Quantisation (FP8, 4-bit)</a:t>
            </a:r>
            <a:endParaRPr lang="en-US" sz="1050" dirty="0"/>
          </a:p>
        </p:txBody>
      </p:sp>
      <p:sp>
        <p:nvSpPr>
          <p:cNvPr id="16" name="Text 13"/>
          <p:cNvSpPr txBox="1"/>
          <p:nvPr/>
        </p:nvSpPr>
        <p:spPr>
          <a:xfrm>
            <a:off x="566928" y="3236976"/>
            <a:ext cx="5390388" cy="493776"/>
          </a:xfrm>
          <a:prstGeom prst="rect">
            <a:avLst/>
          </a:prstGeom>
          <a:noFill/>
          <a:ln/>
        </p:spPr>
        <p:txBody>
          <a:bodyPr wrap="square" lIns="0" tIns="0" rIns="0" bIns="0" rtlCol="0" anchor="ctr"/>
          <a:lstStyle/>
          <a:p>
            <a:pPr indent="0" marL="0">
              <a:lnSpc>
                <a:spcPts val="1100"/>
              </a:lnSpc>
              <a:buNone/>
            </a:pPr>
            <a:r>
              <a:rPr lang="en-US" sz="880" dirty="0">
                <a:solidFill>
                  <a:srgbClr val="33424E"/>
                </a:solidFill>
                <a:latin typeface="Calibri" pitchFamily="34" charset="0"/>
                <a:ea typeface="Calibri" pitchFamily="34" charset="-122"/>
                <a:cs typeface="Calibri" pitchFamily="34" charset="-120"/>
              </a:rPr>
              <a:t>Storing model weights at lower numerical precision to cut memory use and increase speed, at a small and measurable quality cost.</a:t>
            </a:r>
            <a:endParaRPr lang="en-US" sz="880" dirty="0"/>
          </a:p>
        </p:txBody>
      </p:sp>
      <p:sp>
        <p:nvSpPr>
          <p:cNvPr id="17" name="Text 14"/>
          <p:cNvSpPr txBox="1"/>
          <p:nvPr/>
        </p:nvSpPr>
        <p:spPr>
          <a:xfrm>
            <a:off x="6231636" y="3017520"/>
            <a:ext cx="5390388" cy="21945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KV cache</a:t>
            </a:r>
            <a:endParaRPr lang="en-US" sz="1050" dirty="0"/>
          </a:p>
        </p:txBody>
      </p:sp>
      <p:sp>
        <p:nvSpPr>
          <p:cNvPr id="18" name="Text 15"/>
          <p:cNvSpPr txBox="1"/>
          <p:nvPr/>
        </p:nvSpPr>
        <p:spPr>
          <a:xfrm>
            <a:off x="6231636" y="3236976"/>
            <a:ext cx="5390388" cy="493776"/>
          </a:xfrm>
          <a:prstGeom prst="rect">
            <a:avLst/>
          </a:prstGeom>
          <a:noFill/>
          <a:ln/>
        </p:spPr>
        <p:txBody>
          <a:bodyPr wrap="square" lIns="0" tIns="0" rIns="0" bIns="0" rtlCol="0" anchor="ctr"/>
          <a:lstStyle/>
          <a:p>
            <a:pPr indent="0" marL="0">
              <a:lnSpc>
                <a:spcPts val="1100"/>
              </a:lnSpc>
              <a:buNone/>
            </a:pPr>
            <a:r>
              <a:rPr lang="en-US" sz="880" dirty="0">
                <a:solidFill>
                  <a:srgbClr val="33424E"/>
                </a:solidFill>
                <a:latin typeface="Calibri" pitchFamily="34" charset="0"/>
                <a:ea typeface="Calibri" pitchFamily="34" charset="-122"/>
                <a:cs typeface="Calibri" pitchFamily="34" charset="-120"/>
              </a:rPr>
              <a:t>Per-conversation GPU memory holding attention state. Grows with context length and is usually what limits concurrency, not the weights.</a:t>
            </a:r>
            <a:endParaRPr lang="en-US" sz="880" dirty="0"/>
          </a:p>
        </p:txBody>
      </p:sp>
      <p:sp>
        <p:nvSpPr>
          <p:cNvPr id="19" name="Text 16"/>
          <p:cNvSpPr txBox="1"/>
          <p:nvPr/>
        </p:nvSpPr>
        <p:spPr>
          <a:xfrm>
            <a:off x="566928" y="3794760"/>
            <a:ext cx="5390388" cy="21945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RAG (retrieval-augmented generation)</a:t>
            </a:r>
            <a:endParaRPr lang="en-US" sz="1050" dirty="0"/>
          </a:p>
        </p:txBody>
      </p:sp>
      <p:sp>
        <p:nvSpPr>
          <p:cNvPr id="20" name="Text 17"/>
          <p:cNvSpPr txBox="1"/>
          <p:nvPr/>
        </p:nvSpPr>
        <p:spPr>
          <a:xfrm>
            <a:off x="566928" y="4014216"/>
            <a:ext cx="5390388" cy="493776"/>
          </a:xfrm>
          <a:prstGeom prst="rect">
            <a:avLst/>
          </a:prstGeom>
          <a:noFill/>
          <a:ln/>
        </p:spPr>
        <p:txBody>
          <a:bodyPr wrap="square" lIns="0" tIns="0" rIns="0" bIns="0" rtlCol="0" anchor="ctr"/>
          <a:lstStyle/>
          <a:p>
            <a:pPr indent="0" marL="0">
              <a:lnSpc>
                <a:spcPts val="1100"/>
              </a:lnSpc>
              <a:buNone/>
            </a:pPr>
            <a:r>
              <a:rPr lang="en-US" sz="880" dirty="0">
                <a:solidFill>
                  <a:srgbClr val="33424E"/>
                </a:solidFill>
                <a:latin typeface="Calibri" pitchFamily="34" charset="0"/>
                <a:ea typeface="Calibri" pitchFamily="34" charset="-122"/>
                <a:cs typeface="Calibri" pitchFamily="34" charset="-120"/>
              </a:rPr>
              <a:t>Searching a document store and supplying the results to the model as context. Here it supplies writing style from the Mahasamvad archive, never facts.</a:t>
            </a:r>
            <a:endParaRPr lang="en-US" sz="880" dirty="0"/>
          </a:p>
        </p:txBody>
      </p:sp>
      <p:sp>
        <p:nvSpPr>
          <p:cNvPr id="21" name="Text 18"/>
          <p:cNvSpPr txBox="1"/>
          <p:nvPr/>
        </p:nvSpPr>
        <p:spPr>
          <a:xfrm>
            <a:off x="6231636" y="3794760"/>
            <a:ext cx="5390388" cy="21945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pgvector</a:t>
            </a:r>
            <a:endParaRPr lang="en-US" sz="1050" dirty="0"/>
          </a:p>
        </p:txBody>
      </p:sp>
      <p:sp>
        <p:nvSpPr>
          <p:cNvPr id="22" name="Text 19"/>
          <p:cNvSpPr txBox="1"/>
          <p:nvPr/>
        </p:nvSpPr>
        <p:spPr>
          <a:xfrm>
            <a:off x="6231636" y="4014216"/>
            <a:ext cx="5390388" cy="493776"/>
          </a:xfrm>
          <a:prstGeom prst="rect">
            <a:avLst/>
          </a:prstGeom>
          <a:noFill/>
          <a:ln/>
        </p:spPr>
        <p:txBody>
          <a:bodyPr wrap="square" lIns="0" tIns="0" rIns="0" bIns="0" rtlCol="0" anchor="ctr"/>
          <a:lstStyle/>
          <a:p>
            <a:pPr indent="0" marL="0">
              <a:lnSpc>
                <a:spcPts val="1100"/>
              </a:lnSpc>
              <a:buNone/>
            </a:pPr>
            <a:r>
              <a:rPr lang="en-US" sz="880" dirty="0">
                <a:solidFill>
                  <a:srgbClr val="33424E"/>
                </a:solidFill>
                <a:latin typeface="Calibri" pitchFamily="34" charset="0"/>
                <a:ea typeface="Calibri" pitchFamily="34" charset="-122"/>
                <a:cs typeface="Calibri" pitchFamily="34" charset="-120"/>
              </a:rPr>
              <a:t>A PostgreSQL extension that stores and searches embeddings, letting the archive be searched by meaning rather than keyword.</a:t>
            </a:r>
            <a:endParaRPr lang="en-US" sz="880" dirty="0"/>
          </a:p>
        </p:txBody>
      </p:sp>
      <p:sp>
        <p:nvSpPr>
          <p:cNvPr id="23" name="Text 20"/>
          <p:cNvSpPr txBox="1"/>
          <p:nvPr/>
        </p:nvSpPr>
        <p:spPr>
          <a:xfrm>
            <a:off x="566928" y="4572000"/>
            <a:ext cx="5390388" cy="21945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SFT (supervised fine-tuning)</a:t>
            </a:r>
            <a:endParaRPr lang="en-US" sz="1050" dirty="0"/>
          </a:p>
        </p:txBody>
      </p:sp>
      <p:sp>
        <p:nvSpPr>
          <p:cNvPr id="24" name="Text 21"/>
          <p:cNvSpPr txBox="1"/>
          <p:nvPr/>
        </p:nvSpPr>
        <p:spPr>
          <a:xfrm>
            <a:off x="566928" y="4791456"/>
            <a:ext cx="5390388" cy="493776"/>
          </a:xfrm>
          <a:prstGeom prst="rect">
            <a:avLst/>
          </a:prstGeom>
          <a:noFill/>
          <a:ln/>
        </p:spPr>
        <p:txBody>
          <a:bodyPr wrap="square" lIns="0" tIns="0" rIns="0" bIns="0" rtlCol="0" anchor="ctr"/>
          <a:lstStyle/>
          <a:p>
            <a:pPr indent="0" marL="0">
              <a:lnSpc>
                <a:spcPts val="1100"/>
              </a:lnSpc>
              <a:buNone/>
            </a:pPr>
            <a:r>
              <a:rPr lang="en-US" sz="880" dirty="0">
                <a:solidFill>
                  <a:srgbClr val="33424E"/>
                </a:solidFill>
                <a:latin typeface="Calibri" pitchFamily="34" charset="0"/>
                <a:ea typeface="Calibri" pitchFamily="34" charset="-122"/>
                <a:cs typeface="Calibri" pitchFamily="34" charset="-120"/>
              </a:rPr>
              <a:t>Training the model on paired examples of input and desired output — here, source material and the article an officer approved.</a:t>
            </a:r>
            <a:endParaRPr lang="en-US" sz="880" dirty="0"/>
          </a:p>
        </p:txBody>
      </p:sp>
      <p:sp>
        <p:nvSpPr>
          <p:cNvPr id="25" name="Text 22"/>
          <p:cNvSpPr txBox="1"/>
          <p:nvPr/>
        </p:nvSpPr>
        <p:spPr>
          <a:xfrm>
            <a:off x="6231636" y="4572000"/>
            <a:ext cx="5390388" cy="21945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DPO (Direct Preference Optimisation)</a:t>
            </a:r>
            <a:endParaRPr lang="en-US" sz="1050" dirty="0"/>
          </a:p>
        </p:txBody>
      </p:sp>
      <p:sp>
        <p:nvSpPr>
          <p:cNvPr id="26" name="Text 23"/>
          <p:cNvSpPr txBox="1"/>
          <p:nvPr/>
        </p:nvSpPr>
        <p:spPr>
          <a:xfrm>
            <a:off x="6231636" y="4791456"/>
            <a:ext cx="5390388" cy="493776"/>
          </a:xfrm>
          <a:prstGeom prst="rect">
            <a:avLst/>
          </a:prstGeom>
          <a:noFill/>
          <a:ln/>
        </p:spPr>
        <p:txBody>
          <a:bodyPr wrap="square" lIns="0" tIns="0" rIns="0" bIns="0" rtlCol="0" anchor="ctr"/>
          <a:lstStyle/>
          <a:p>
            <a:pPr indent="0" marL="0">
              <a:lnSpc>
                <a:spcPts val="1100"/>
              </a:lnSpc>
              <a:buNone/>
            </a:pPr>
            <a:r>
              <a:rPr lang="en-US" sz="880" dirty="0">
                <a:solidFill>
                  <a:srgbClr val="33424E"/>
                </a:solidFill>
                <a:latin typeface="Calibri" pitchFamily="34" charset="0"/>
                <a:ea typeface="Calibri" pitchFamily="34" charset="-122"/>
                <a:cs typeface="Calibri" pitchFamily="34" charset="-120"/>
              </a:rPr>
              <a:t>Training on pairs of a preferred and a rejected output, teaching the model which of two plausible answers is wanted.</a:t>
            </a:r>
            <a:endParaRPr lang="en-US" sz="880" dirty="0"/>
          </a:p>
        </p:txBody>
      </p:sp>
      <p:sp>
        <p:nvSpPr>
          <p:cNvPr id="27" name="Text 24"/>
          <p:cNvSpPr txBox="1"/>
          <p:nvPr/>
        </p:nvSpPr>
        <p:spPr>
          <a:xfrm>
            <a:off x="566928" y="5349240"/>
            <a:ext cx="5390388" cy="21945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LoRA</a:t>
            </a:r>
            <a:endParaRPr lang="en-US" sz="1050" dirty="0"/>
          </a:p>
        </p:txBody>
      </p:sp>
      <p:sp>
        <p:nvSpPr>
          <p:cNvPr id="28" name="Text 25"/>
          <p:cNvSpPr txBox="1"/>
          <p:nvPr/>
        </p:nvSpPr>
        <p:spPr>
          <a:xfrm>
            <a:off x="566928" y="5568696"/>
            <a:ext cx="5390388" cy="493776"/>
          </a:xfrm>
          <a:prstGeom prst="rect">
            <a:avLst/>
          </a:prstGeom>
          <a:noFill/>
          <a:ln/>
        </p:spPr>
        <p:txBody>
          <a:bodyPr wrap="square" lIns="0" tIns="0" rIns="0" bIns="0" rtlCol="0" anchor="ctr"/>
          <a:lstStyle/>
          <a:p>
            <a:pPr indent="0" marL="0">
              <a:lnSpc>
                <a:spcPts val="1100"/>
              </a:lnSpc>
              <a:buNone/>
            </a:pPr>
            <a:r>
              <a:rPr lang="en-US" sz="880" dirty="0">
                <a:solidFill>
                  <a:srgbClr val="33424E"/>
                </a:solidFill>
                <a:latin typeface="Calibri" pitchFamily="34" charset="0"/>
                <a:ea typeface="Calibri" pitchFamily="34" charset="-122"/>
                <a:cs typeface="Calibri" pitchFamily="34" charset="-120"/>
              </a:rPr>
              <a:t>Low-rank adaptation. Trains a small set of additional parameters instead of the whole model, cutting fine-tuning cost by orders of magnitude.</a:t>
            </a:r>
            <a:endParaRPr lang="en-US" sz="880" dirty="0"/>
          </a:p>
        </p:txBody>
      </p:sp>
      <p:sp>
        <p:nvSpPr>
          <p:cNvPr id="29" name="Text 26"/>
          <p:cNvSpPr txBox="1"/>
          <p:nvPr/>
        </p:nvSpPr>
        <p:spPr>
          <a:xfrm>
            <a:off x="6231636" y="5349240"/>
            <a:ext cx="5390388" cy="21945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Checkpoint</a:t>
            </a:r>
            <a:endParaRPr lang="en-US" sz="1050" dirty="0"/>
          </a:p>
        </p:txBody>
      </p:sp>
      <p:sp>
        <p:nvSpPr>
          <p:cNvPr id="30" name="Text 27"/>
          <p:cNvSpPr txBox="1"/>
          <p:nvPr/>
        </p:nvSpPr>
        <p:spPr>
          <a:xfrm>
            <a:off x="6231636" y="5568696"/>
            <a:ext cx="5390388" cy="493776"/>
          </a:xfrm>
          <a:prstGeom prst="rect">
            <a:avLst/>
          </a:prstGeom>
          <a:noFill/>
          <a:ln/>
        </p:spPr>
        <p:txBody>
          <a:bodyPr wrap="square" lIns="0" tIns="0" rIns="0" bIns="0" rtlCol="0" anchor="ctr"/>
          <a:lstStyle/>
          <a:p>
            <a:pPr indent="0" marL="0">
              <a:lnSpc>
                <a:spcPts val="1100"/>
              </a:lnSpc>
              <a:buNone/>
            </a:pPr>
            <a:r>
              <a:rPr lang="en-US" sz="880" dirty="0">
                <a:solidFill>
                  <a:srgbClr val="33424E"/>
                </a:solidFill>
                <a:latin typeface="Calibri" pitchFamily="34" charset="0"/>
                <a:ea typeface="Calibri" pitchFamily="34" charset="-122"/>
                <a:cs typeface="Calibri" pitchFamily="34" charset="-120"/>
              </a:rPr>
              <a:t>A specific saved version of the model. Every checkpoint is registered with its evaluation record and can be rolled back to.</a:t>
            </a:r>
            <a:endParaRPr lang="en-US" sz="8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Incepthink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On-Premise AI for Government Communication</dc:title>
  <dc:subject>PptxGenJS Presentation</dc:subject>
  <dc:creator>Incepthink LLP</dc:creator>
  <cp:lastModifiedBy>Incepthink LLP</cp:lastModifiedBy>
  <cp:revision>1</cp:revision>
  <dcterms:created xsi:type="dcterms:W3CDTF">2026-09-09T06:04:11Z</dcterms:created>
  <dcterms:modified xsi:type="dcterms:W3CDTF">2026-09-09T06:04:11Z</dcterms:modified>
</cp:coreProperties>
</file>