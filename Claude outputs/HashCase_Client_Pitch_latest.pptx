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cf60a87790940bd" Type="http://schemas.openxmlformats.org/package/2006/relationships/metadata/core-properties" Target="docProps/core.xml"/><Relationship Id="R47bdfbf2c67042f2" Type="http://schemas.openxmlformats.org/officeDocument/2006/relationships/officeDocument" Target="ppt/presentation.xml"/><Relationship Id="Rc94aa3c7bbc3487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0c184ac4d048e4"/>
  </p:sldMasterIdLst>
  <p:notesMasterIdLst>
    <p:notesMasterId xmlns:r="http://schemas.openxmlformats.org/officeDocument/2006/relationships" r:id="R95ca39e4b0ac405c"/>
  </p:notesMasterIdLst>
  <p:sldIdLst>
    <p:sldId xmlns:r="http://schemas.openxmlformats.org/officeDocument/2006/relationships" id="256" r:id="R6a824a274dfb49e2"/>
    <p:sldId xmlns:r="http://schemas.openxmlformats.org/officeDocument/2006/relationships" id="257" r:id="R6db431c42111466f"/>
    <p:sldId xmlns:r="http://schemas.openxmlformats.org/officeDocument/2006/relationships" id="258" r:id="Rcf6cb3d88f184b74"/>
    <p:sldId xmlns:r="http://schemas.openxmlformats.org/officeDocument/2006/relationships" id="259" r:id="Re23e6fa7d33843a7"/>
    <p:sldId xmlns:r="http://schemas.openxmlformats.org/officeDocument/2006/relationships" id="260" r:id="R4c61eba605fc4247"/>
    <p:sldId xmlns:r="http://schemas.openxmlformats.org/officeDocument/2006/relationships" id="261" r:id="Rbd2ee6be38ef4c47"/>
    <p:sldId xmlns:r="http://schemas.openxmlformats.org/officeDocument/2006/relationships" id="262" r:id="R3cdba6b5b5374869"/>
    <p:sldId xmlns:r="http://schemas.openxmlformats.org/officeDocument/2006/relationships" id="263" r:id="Rbbefe34e806b4269"/>
    <p:sldId xmlns:r="http://schemas.openxmlformats.org/officeDocument/2006/relationships" id="264" r:id="R1bc64713622846f2"/>
    <p:sldId xmlns:r="http://schemas.openxmlformats.org/officeDocument/2006/relationships" id="265" r:id="R4aade556529948c3"/>
    <p:sldId xmlns:r="http://schemas.openxmlformats.org/officeDocument/2006/relationships" id="266" r:id="R4660eeb09d394111"/>
    <p:sldId xmlns:r="http://schemas.openxmlformats.org/officeDocument/2006/relationships" id="267" r:id="R8508b819157747f7"/>
    <p:sldId xmlns:r="http://schemas.openxmlformats.org/officeDocument/2006/relationships" id="268" r:id="Rf6c5ba8b5c32496b"/>
    <p:sldId xmlns:r="http://schemas.openxmlformats.org/officeDocument/2006/relationships" id="269" r:id="R163dda2b654a4b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63dda2b654a4b35" Type="http://schemas.openxmlformats.org/officeDocument/2006/relationships/slide" Target="slides/slide14.xml"/><Relationship Id="R17b09e93b6a34d7f" Type="http://schemas.openxmlformats.org/officeDocument/2006/relationships/theme" Target="theme/theme1.xml"/><Relationship Id="R1bc64713622846f2" Type="http://schemas.openxmlformats.org/officeDocument/2006/relationships/slide" Target="slides/slide9.xml"/><Relationship Id="R33099ded12194572" Type="http://schemas.openxmlformats.org/officeDocument/2006/relationships/tableStyles" Target="tableStyles.xml"/><Relationship Id="R3cdba6b5b5374869" Type="http://schemas.openxmlformats.org/officeDocument/2006/relationships/slide" Target="slides/slide7.xml"/><Relationship Id="R4660eeb09d394111" Type="http://schemas.openxmlformats.org/officeDocument/2006/relationships/slide" Target="slides/slide11.xml"/><Relationship Id="R4759d60e947245a5" Type="http://schemas.openxmlformats.org/officeDocument/2006/relationships/presProps" Target="presProps.xml"/><Relationship Id="R4aade556529948c3" Type="http://schemas.openxmlformats.org/officeDocument/2006/relationships/slide" Target="slides/slide10.xml"/><Relationship Id="R4c61eba605fc4247" Type="http://schemas.openxmlformats.org/officeDocument/2006/relationships/slide" Target="slides/slide5.xml"/><Relationship Id="R6a824a274dfb49e2" Type="http://schemas.openxmlformats.org/officeDocument/2006/relationships/slide" Target="slides/slide1.xml"/><Relationship Id="R6db431c42111466f" Type="http://schemas.openxmlformats.org/officeDocument/2006/relationships/slide" Target="slides/slide2.xml"/><Relationship Id="R7f0c184ac4d048e4" Type="http://schemas.openxmlformats.org/officeDocument/2006/relationships/slideMaster" Target="slideMasters/slideMaster1.xml"/><Relationship Id="R8508b819157747f7" Type="http://schemas.openxmlformats.org/officeDocument/2006/relationships/slide" Target="slides/slide12.xml"/><Relationship Id="R95ca39e4b0ac405c" Type="http://schemas.openxmlformats.org/officeDocument/2006/relationships/notesMaster" Target="notesMasters/notesMaster1.xml"/><Relationship Id="Rbbefe34e806b4269" Type="http://schemas.openxmlformats.org/officeDocument/2006/relationships/slide" Target="slides/slide8.xml"/><Relationship Id="Rbd2ee6be38ef4c47" Type="http://schemas.openxmlformats.org/officeDocument/2006/relationships/slide" Target="slides/slide6.xml"/><Relationship Id="Rcf6cb3d88f184b74" Type="http://schemas.openxmlformats.org/officeDocument/2006/relationships/slide" Target="slides/slide3.xml"/><Relationship Id="Re23e6fa7d33843a7" Type="http://schemas.openxmlformats.org/officeDocument/2006/relationships/slide" Target="slides/slide4.xml"/><Relationship Id="Rf6c5ba8b5c32496b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5b4fb1b4f21a45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b76a765bb314e81" Type="http://schemas.openxmlformats.org/officeDocument/2006/relationships/slide" Target="../slides/slide1.xml"/><Relationship Id="R7d262f4410c3489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a2eb1c8086645e7" Type="http://schemas.openxmlformats.org/officeDocument/2006/relationships/notesMaster" Target="../notesMasters/notesMaster1.xml"/><Relationship Id="R3a0d79562e9a4ff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7da6dffe6f0e4446" Type="http://schemas.openxmlformats.org/officeDocument/2006/relationships/notesMaster" Target="../notesMasters/notesMaster1.xml"/><Relationship Id="R8913e6a01d3c46de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64b09db53884574" Type="http://schemas.openxmlformats.org/officeDocument/2006/relationships/notesMaster" Target="../notesMasters/notesMaster1.xml"/><Relationship Id="Rfdea64bb1ff3405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3e306a86ced840f4" Type="http://schemas.openxmlformats.org/officeDocument/2006/relationships/notesMaster" Target="../notesMasters/notesMaster1.xml"/><Relationship Id="Rfc4482a45a754734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b116d14f8b14e18" Type="http://schemas.openxmlformats.org/officeDocument/2006/relationships/notesMaster" Target="../notesMasters/notesMaster1.xml"/><Relationship Id="R6a9586698d024d6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751abed7434a4935" Type="http://schemas.openxmlformats.org/officeDocument/2006/relationships/notesMaster" Target="../notesMasters/notesMaster1.xml"/><Relationship Id="Rf8c266a0936a478a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6de613b23f754d14" Type="http://schemas.openxmlformats.org/officeDocument/2006/relationships/notesMaster" Target="../notesMasters/notesMaster1.xml"/><Relationship Id="Re0703f2f3de4426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bcd3c0a384754a6f" Type="http://schemas.openxmlformats.org/officeDocument/2006/relationships/notesMaster" Target="../notesMasters/notesMaster1.xml"/><Relationship Id="Rdf12dca23a3a4004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bd2e8ed70194c0d" Type="http://schemas.openxmlformats.org/officeDocument/2006/relationships/slide" Target="../slides/slide10.xml"/><Relationship Id="Rd9e791aea9304fdf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8adb6fe2a30b488a" Type="http://schemas.openxmlformats.org/officeDocument/2006/relationships/notesMaster" Target="../notesMasters/notesMaster1.xml"/><Relationship Id="R9d856b1947994d7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5178ba3fcf74022" Type="http://schemas.openxmlformats.org/officeDocument/2006/relationships/slide" Target="../slides/slide12.xml"/><Relationship Id="R85d2df48ba114993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84c6b60578a94ee2" Type="http://schemas.openxmlformats.org/officeDocument/2006/relationships/slide" Target="../slides/slide13.xml"/><Relationship Id="Rb4d451ed9d2f497e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26d1a2df3e7a4dea" Type="http://schemas.openxmlformats.org/officeDocument/2006/relationships/notesMaster" Target="../notesMasters/notesMaster1.xml"/><Relationship Id="R4eb5270a88704f29" Type="http://schemas.openxmlformats.org/officeDocument/2006/relationships/slide" Target="../slides/slide1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HashCase client capabilities. Cover photograph: original image generated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 based on the HashCase Executive Note, deliverables/HashCase_Executive_Note.docx.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example used throughout the deck: same-day publication of an official announcement in two languages. Illustrative composite of a common communication workflow; not presented as a specific client case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gap maps to a later section: intake (slide 6), grounding and evaluation (slides 6, 10), model tuning (slides 5, 6) and private deployment (slides 8, 9). Categories describe common workflow patterns, not measured prevalence.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HashCase Executive Note, core offerings and delivery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based on implemented DGIPR intake, grounding, generation, review and job orchestration components. The generation stage uses a model fine-tuned on officer-approved output so drafts follow the department house style. Sources: apps/api/src/jobs/document-intake.ts; packages/content-engine/src/intake; packages/content-engine/src/generation; packages/content-engine/src/finetune.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Client workflow patterns from HashCase Executive Note. These are scope examples rather than claims of identical prior deployments.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data center photograph generated for this presentation. Private deployment design comes from HashCase Executive Note and is a proposed offering, not a description of the current DGIPR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reference architecture based on HashCase Executive Note, private deployment section. Actual security controls, data flow and egress policy require client-specific design and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categories grounded in HashCase Executive Note and DGIPR code including packages/content-engine/src/generation/verify-coverage.ts and packages/content-engine/src/finetune/eval-model.ts. Thresholds are defined per client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implemented DGIPR correction and publishing gates, plus configurable client workflow design. The three-step visual is an illustrative pattern.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docs/CASE_STUDY.md; AGENTS.md current phase; apps/api/src/jobs/document-intake.ts; packages/content-engine/src/generation/generate-article.ts; packages/content-engine/src/generation/verify-coverage.ts; HashCase Executive Note. Current DGIPR architecture uses external AI providers in several flows and is not represented as on-prem.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approach from HashCase Executive Note. Duration, scope, commercial terms and numeric acceptance thresholds are client-specific.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ask: a single workflow, a scoped pilot and a measured result. Contact details as supplied by HashCase. Photograph: original generated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f7544f1efc4412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fb832f2e5ec4ee3" Type="http://schemas.openxmlformats.org/officeDocument/2006/relationships/slideLayout" Target="../slideLayouts/slideLayout1.xml"/><Relationship Id="Rbf4fa07fb80045f9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b832f2e5ec4e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01f554db13343ff" Type="http://schemas.openxmlformats.org/officeDocument/2006/relationships/slideLayout" Target="../slideLayouts/slideLayout1.xml"/><Relationship Id="R5de3b63e0a104905" Type="http://schemas.openxmlformats.org/officeDocument/2006/relationships/image" Target="../media/image.png"/><Relationship Id="R677c54850f444622" Type="http://schemas.openxmlformats.org/officeDocument/2006/relationships/image" Target="../media/image2.png"/><Relationship Id="R7dcb35fc36ba468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918df0d29bd84342" Type="http://schemas.openxmlformats.org/officeDocument/2006/relationships/notesSlide" Target="../notesSlides/notesSlide2.xml"/><Relationship Id="Raf25deaf1284451e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ee9c53e84f041a5" Type="http://schemas.openxmlformats.org/officeDocument/2006/relationships/slideLayout" Target="../slideLayouts/slideLayout1.xml"/><Relationship Id="R5311ae71ab404e0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72e28518d70741c2" Type="http://schemas.openxmlformats.org/officeDocument/2006/relationships/notesSlide" Target="../notesSlides/notesSlide4.xml"/><Relationship Id="R82fc918e503349d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a4f34b8ac604f4f" Type="http://schemas.openxmlformats.org/officeDocument/2006/relationships/slideLayout" Target="../slideLayouts/slideLayout1.xml"/><Relationship Id="R5b732de9eb4e41b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bd78f4235824224" Type="http://schemas.openxmlformats.org/officeDocument/2006/relationships/notesSlide" Target="../notesSlides/notesSlide6.xml"/><Relationship Id="Reac93f1d1761479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e2c378ed0764020" Type="http://schemas.openxmlformats.org/officeDocument/2006/relationships/slideLayout" Target="../slideLayouts/slideLayout1.xml"/><Relationship Id="Re3bf40ae188a438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2a8eedf9ed0e4942" Type="http://schemas.openxmlformats.org/officeDocument/2006/relationships/notesSlide" Target="../notesSlides/notesSlide8.xml"/><Relationship Id="Rafcce28959aa4e9c" Type="http://schemas.openxmlformats.org/officeDocument/2006/relationships/slideLayout" Target="../slideLayouts/slideLayout1.xml"/><Relationship Id="Rdbd8792be363474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04ca9fec9d364eca" Type="http://schemas.openxmlformats.org/officeDocument/2006/relationships/notesSlide" Target="../notesSlides/notesSlide9.xml"/><Relationship Id="R295a4faaa77a4b5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7e08929303714853" Type="http://schemas.openxmlformats.org/officeDocument/2006/relationships/notesSlide" Target="../notesSlides/notesSlide10.xml"/><Relationship Id="Rbc6a43f8a5cd463a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2e8127edc069415d" Type="http://schemas.openxmlformats.org/officeDocument/2006/relationships/slideLayout" Target="../slideLayouts/slideLayout1.xml"/><Relationship Id="R71616b4f1e4e444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e1fd23c3e7848b0" Type="http://schemas.openxmlformats.org/officeDocument/2006/relationships/slideLayout" Target="../slideLayouts/slideLayout1.xml"/><Relationship Id="R8eb90d0bb698436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9e4f36cccb5a49ac" Type="http://schemas.openxmlformats.org/officeDocument/2006/relationships/notesSlide" Target="../notesSlides/notesSlide13.xml"/><Relationship Id="Rd2036b66f323462a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6f92b2e05a124c19" Type="http://schemas.openxmlformats.org/officeDocument/2006/relationships/notesSlide" Target="../notesSlides/notesSlide14.xml"/><Relationship Id="R9829da7a11ca4954" Type="http://schemas.openxmlformats.org/officeDocument/2006/relationships/image" Target="../media/image4.png"/><Relationship Id="Ra07c1c43d5704d06" Type="http://schemas.openxmlformats.org/officeDocument/2006/relationships/slideLayout" Target="../slideLayouts/slideLayout1.xml"/><Relationship Id="Rea30200113254a31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3b63e0a1049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8E3CF-08A4-4920-86FE-765D817C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76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84D50-ADA5-4648-8452-20109241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HASHCASE  /  APPLIED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CEE99-5368-4506-998D-C6378121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8101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  <a:defRPr sz="4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AI that gets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the work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41B1C-D462-413E-A32C-572CA6A7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D9E3E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D9E3EF"/>
                </a:solidFill>
                <a:latin typeface="Segoe UI"/>
                <a:ea typeface="Segoe UI"/>
                <a:cs typeface="Segoe UI"/>
              </a:rPr>
              <a:t>End-to-end workflow automation and private AI systems built around your operations.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c54850f444622"/>
          <a:stretch xmlns:a="http://schemas.openxmlformats.org/drawingml/2006/main"/>
        </p:blipFill>
        <p:spPr>
          <a:xfrm xmlns:a="http://schemas.openxmlformats.org/drawingml/2006/main">
            <a:off x="671236" y="5410200"/>
            <a:ext cx="2619929" cy="5429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7CA77-45DA-45F8-8191-4F9E876E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B1BDC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1BDCD"/>
                </a:solidFill>
                <a:latin typeface="Bahnschrift"/>
                <a:ea typeface="Bahnschrift"/>
                <a:cs typeface="Bahnschrift"/>
              </a:rPr>
              <a:t>CLIENT CAPABILITIES  /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125725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FE60B-C543-4FEF-B4BF-F862C7D3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2CA63-8F51-4669-930B-578EB57E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7CF6D-DCBA-4A5C-80E0-1B87073B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From scattered inputs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to approved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67E0E-74E8-4DE1-966B-45EC6BA1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971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CEDBE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CEDBEC"/>
                </a:solidFill>
                <a:latin typeface="Segoe UI"/>
                <a:ea typeface="Segoe UI"/>
                <a:cs typeface="Segoe UI"/>
              </a:rPr>
              <a:t>HashCase designs the complete path from source material to a finished, reviewable business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925D-B484-46E7-9912-D6752BCF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3267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675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8F5D0-E0C3-4CB0-9B9D-0EC61103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READ THE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F11DA-D338-41E0-B6EA-E4B4DDFC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4D2E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4D2E3"/>
                </a:solidFill>
                <a:latin typeface="Segoe UI"/>
                <a:ea typeface="Segoe UI"/>
                <a:cs typeface="Segoe UI"/>
              </a:rPr>
              <a:t>Documents, audio, images and connected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28289-BBEF-4600-9BD8-67C56154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24375"/>
            <a:ext cx="3267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251C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2C2CB-20F4-49E2-9FE6-0B2E5F98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62500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APPLY JUDGMENT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CB778-EDEA-46B9-B17B-AC8BC846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2445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4D2E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4D2E3"/>
                </a:solidFill>
                <a:latin typeface="Segoe UI"/>
                <a:ea typeface="Segoe UI"/>
                <a:cs typeface="Segoe UI"/>
              </a:rPr>
              <a:t>Grounded models, rules and staff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5EC58-5D99-4D19-8F2E-FEDE5A28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3267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BC7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F9F72-BD61-4AAF-A747-60FACD32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FINISH THE 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0F07A-1B27-47A1-AB7D-ACCEEB7B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2445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4D2E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4D2E3"/>
                </a:solidFill>
                <a:latin typeface="Segoe UI"/>
                <a:ea typeface="Segoe UI"/>
                <a:cs typeface="Segoe UI"/>
              </a:rPr>
              <a:t>Approved outputs, records and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6795E-EBEA-4AAF-87C1-01A00977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1617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632F1-C56D-43F1-9F66-8310F87A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A9B8CC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A9B8CC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ADCD9-3ACD-4D84-B56C-8559209A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A9B8CC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A9B8CC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2070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29DC4D-4C8D-47E5-A7F6-AEF7996D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A WORKFLOW YOU ALREADY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AE002-9614-4733-BE1C-D639B8CB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F79FD-61E4-4B72-A8BD-568B2DC7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Five tools to publish one announcement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D0803-E911-41FA-B1E6-BD434CC4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A decision is approved at 11 a.m. and must be public, in two languages, by evening.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9D7FD-7D87-43D6-A772-7348399B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53170-D372-4509-8E5C-82D38C56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CEFC6-9B7F-4789-8AA4-E504BF0C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ARRIVE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69F4A-A0E2-47A9-B11A-9D570597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A scanned order, an audio briefing and photos.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2F6AC-F54B-47CB-A911-434FF03F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29000"/>
            <a:ext cx="180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AD4ED-B9A5-42CE-8714-6ABE3D0D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0060A-71E9-454B-9CB0-04AF9FB9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0CEAD-59F2-47C7-BE36-25D59F37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RE-TYPE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7AAE8-D864-40E4-A29D-C4D8EA2F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Names and figures are copied out by hand.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D8428-8AFA-4439-B80C-22E9F12C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429000"/>
            <a:ext cx="180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52ABF-D8E7-4069-AFD8-5CC90E98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F3DFB-91F8-4893-86A1-91390847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1A77D-FCC4-4E22-AF5F-D104C56C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2A598-8342-40D1-BFD7-87BC9D44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Every spelling and number checked by eye.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F2033-9C92-4E45-9701-13C7DEAD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180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48D84-6433-4381-8836-4F726CD2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37C9E-3BA3-4600-B42B-CBDBD4F0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41AFC-3A15-4187-AE30-C031B4A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WRITE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6DF0B-38B1-46F2-AF2C-7139AF46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Marathi, English and social, in separate tools.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40CD9-17A1-436F-9A1D-B5EA8F6F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429000"/>
            <a:ext cx="180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A8B8E4-F419-4D37-8511-072240E9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7049F6-3040-4EFB-BB8F-E94134F9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06CAC7-F094-435F-9DCE-EC664234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APPROVE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82AF89-68E4-4BC0-A0C3-D498FC27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The officer edits and signs; the desk publishes.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99B337-0BC5-4CF2-A883-681AC717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775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1C2F65-629F-47C4-9115-DC0DEE25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8162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Nothing here is difficult — all of it is manual. Half a day, five tools, and the officer still checks every name by hand.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EF1F4-67F3-4981-B9DF-76DFD918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B00CD3-4058-4C7D-9E7D-B67A0446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F68B92-A266-4A55-8F64-56A4EFF0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8677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1B116-4575-4951-BED9-C159775A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WHY WORK GETS STUCK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83FF6-ED51-411F-A6E5-4C0CCDC5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7964D-4124-4F29-82F0-CD220820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Four gaps behind those five handoffs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C1D76-7B26-43EF-95A8-4CFD2748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524125" cy="278130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6892E-46E7-436B-A7D8-B0442267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B8BD4-8CF0-411B-A43A-2E2D28E7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The source can't be 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66A6A-6411-4303-ADC7-3543119E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057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Scans and recordings hold the facts. Nothing can search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465C2-FC5E-4E62-B1A9-4A8B73C1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47900"/>
            <a:ext cx="2524125" cy="278130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A3F12-7837-462C-AC17-F5C7088D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47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D314A-7B00-4FF6-BC5C-FCAC3B58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Nothing checks the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29E7F-83C5-4E13-B9CF-2F66367C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2057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Names, designations and figures are verified by eye, one at a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35A20-64D3-4BCC-8D2E-DE54CBD8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2524125" cy="278130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D6EC8-5D09-4CB7-AA58-7359E220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47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67C8D-A44E-42FC-A5FA-742549BB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Generic AI, generic copy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ED67B-0610-455A-8E32-DCAC2ED0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2057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Off-the-shelf drafts miss your terms and format, so staff rewrite.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3855F-930F-4420-A42E-DA1431F9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524125" cy="278130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0D42F-6311-4424-B940-9BB621C3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47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422C0A-C3FB-4327-9BA3-828B75AA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The material can't leave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202C0-FB7A-41E1-A60D-3E49F781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48100"/>
            <a:ext cx="2057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C8D5E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5E6"/>
                </a:solidFill>
                <a:latin typeface="Segoe UI"/>
                <a:ea typeface="Segoe UI"/>
                <a:cs typeface="Segoe UI"/>
              </a:rPr>
              <a:t>Unreleased decisions and citizen data cannot go to a public AI.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5853D-57CE-41AC-AF30-14FE7F87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Each gap has a fix. The value is closing all four inside one run.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146A3-FB03-430C-952F-132D0488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C1D6A-B81B-47A0-8FCB-4AE44658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4CEC2-E23F-45FC-B564-9E883688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26981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D9602-5E25-4F81-A80F-C344B8C1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WHAT HASHCASE BUILDS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A7AB6-4890-4919-91B1-30FBB585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BA3F7-38FA-4D48-8A8B-178E4E95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8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8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Two capabilities. One operating standard.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F475E-468C-4E71-85E6-72BC4532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172075" cy="3352800"/>
          </a:xfrm>
          <a:prstGeom xmlns:a="http://schemas.openxmlformats.org/drawingml/2006/main" prst="roundRect">
            <a:avLst>
              <a:gd name="adj" fmla="val 1989"/>
            </a:avLst>
          </a:prstGeom>
          <a:solidFill xmlns:a="http://schemas.openxmlformats.org/drawingml/2006/main">
            <a:srgbClr val="182842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A1FCA-4AAB-4B27-ABC8-187109D0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90750"/>
            <a:ext cx="5476875" cy="3352800"/>
          </a:xfrm>
          <a:prstGeom xmlns:a="http://schemas.openxmlformats.org/drawingml/2006/main" prst="roundRect">
            <a:avLst>
              <a:gd name="adj" fmla="val 1989"/>
            </a:avLst>
          </a:prstGeom>
          <a:solidFill xmlns:a="http://schemas.openxmlformats.org/drawingml/2006/main">
            <a:srgbClr val="182842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AF4D9-7F88-4907-B399-686BEE75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172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A8379-2DE1-4BD8-ACF2-6E73E857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90750"/>
            <a:ext cx="547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0EFB1-FCE4-4069-8B2E-25EBB027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2C4BF-D6DE-4B89-89FB-425CCBBD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4457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Applied AI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workflow automation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6CDDE-0581-493A-9159-4DD27753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CBD8E8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CBD8E8"/>
                </a:solidFill>
                <a:latin typeface="Segoe UI"/>
                <a:ea typeface="Segoe UI"/>
                <a:cs typeface="Segoe UI"/>
              </a:rPr>
              <a:t>Intake → evidence → model and rules → review → approved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F3FEC-10C0-42D3-8F91-51CB6BCA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989F2-3F95-4069-B819-55DE35D4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Private model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deployment and tuning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276E0-7E5C-4579-BC22-EFA34273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CBD8E8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CBD8E8"/>
                </a:solidFill>
                <a:latin typeface="Segoe UI"/>
                <a:ea typeface="Segoe UI"/>
                <a:cs typeface="Segoe UI"/>
              </a:rPr>
              <a:t>Inference, retrieval, data, logs and lifecycle inside a client-controlled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34A62-07C4-41B9-A6EB-0980F71E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721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Built as products your team can run, inspect and improve.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ED8E4-D7C0-45AF-966E-82E645B2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1617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4FDB0-39C2-4B16-90FF-0DA32A64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A9B8CC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A9B8CC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DEA73-1467-45A7-B7BA-D8B3A65A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A9B8CC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A9B8CC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4211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885410-A0F0-4306-B141-3FBCEAB7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  APPLIED AI WORKFLOW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4FB04-490C-4961-8B1F-20E2317F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E5EFB-D306-4BEB-B370-DAA76B1D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The same announcement, one controlled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39F3D-3ECC-4161-903B-323519FA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478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Every stage has an input, an output, a failure path and a named owner.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4D8CE-EB3B-4EA1-AA07-21292025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E9651-7C82-4C1C-8C8B-F772E26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8BDDE-7BC3-47ED-BF58-DC2F9C86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A8262-AC6D-4F0C-BD9C-FDE4EF13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F2044-7193-4CCC-8351-777F8BA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Scan, audio, photos, APIs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DF2B7-DBC0-4D36-82AE-E32CC09C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DF619-F5AA-416F-B598-053E17E3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E9E24-722D-40C2-87D5-C6B409E1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4221A-27A8-472D-A2EB-A339E1B1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707BD-D1D1-49C7-9D3E-9FE5D702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EXTRACT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0E3B2-76BE-418B-B569-57971119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OCR, transcript, names, figures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8D207-CF46-405D-9CDC-1E4D3FCC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BB7A0-954C-4D4C-9307-880C5B5E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91060-0DD1-405D-92BC-F909A6F7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36C3E-CEC1-4A9B-A84B-067E86A6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AFE81-66D9-4DCC-8E6B-DFD9A994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395DF-BADA-4A6F-813E-0F30CD78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Facts locked to the 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9E236-895E-47A3-B3C2-766B6A16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CC312-1D89-42EF-AE5C-472E2131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EB45F-D636-4E1E-A835-C20DC347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BE3417-15BC-4D05-B485-9836ABE7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9FEA53-3E43-42A7-BF19-131B4929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WRITE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66DC2A-E335-4227-9686-C6B70062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Your fine-tuned model drafts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D77F3C-93BF-4779-BC0F-B730EC21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8C1FA-3E21-413B-900F-F793FCDF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0725D4-4ED0-41DE-9458-73035832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BC53F4-16FD-4CB5-AD1B-FEC5C3B0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5A0EA5-C7CB-4217-8DD3-9D504AA4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D12A17-C6AE-443A-B063-627ED75F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Officer edits beside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F2EF9E-B528-4FDA-B480-008E4276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4B18CA-008E-4A60-9165-BBC9CAF5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42DDD2-0BDA-44FF-926E-CF0EB12F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E1BBEC-2BA4-40FD-B298-8EDE8D2F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F61A87-DE90-4382-9E29-4693FC04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PUBLISH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F26DEF-F20C-4DF0-91F9-67606791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Marathi, English, social, creatives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4E1B9C-5F21-4B2D-A86C-3A2DBB65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1055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0B06AB-6FEE-4769-AB67-18F5280F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14925"/>
            <a:ext cx="1007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Stage 04 runs on a model fine-tuned on your own approved output — the first draft already reads like your department wrote it.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5F0A08-0646-40FA-89E7-F549004E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CAF963-69D5-4528-B79F-40EBDB73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633A70-A44B-4CD1-914F-2F7D8B75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53312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9BD677-2157-4503-80A9-F85E2567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WORKFLOWS WE CAN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46EBB-A59C-4805-8065-D935DC38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10C3C-5474-4232-8D83-F9B8D94C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Built around your documents, decisions and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EAFBF-A4B0-43B8-9AD8-3F716A22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0858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B2379-693D-4E7C-A30F-D87461C9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7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B60E5-E444-4A41-B778-A4BEB476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DOCUMENT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62E11-2B45-4AF8-BD5D-DA578F6C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431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PDFs, scans, forms and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B3FB5-E078-4127-BA29-B09F86DD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717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CF0FF-2E32-4916-9F32-B99CBC89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24075"/>
            <a:ext cx="337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350" b="1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Validated fields, review-ready records and exception queues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01E25-CE89-4EF6-9E43-E01C483E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858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756D4-E31A-49A6-ACA9-8F2641D1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57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58DD6-FD19-4AC5-9D03-EFEB9148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KNOWLEDGE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F14D8-CD5D-4555-A547-C405C76C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337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Approved internal policies and reference 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44754-6FEC-427A-9BCA-ECCFDFAD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1623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B0B6F-5B36-4B1C-83C8-84911BAD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14675"/>
            <a:ext cx="337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350" b="1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Sourced answers, reports and reusable institutional 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DE87B-F3F4-4BBE-A1F2-ACEB47A8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58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2CD2F-E40C-421E-BF77-FF53B96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57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6B7A1-F128-4D4F-88E5-6C833EB0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MULTI-SYSTEM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1BB92-0C78-4422-B43D-15AD314D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243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Requests, business APIs and approval chains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C40AF-53DF-4DDB-BA5B-59313B87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1529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4938F-FD24-4CD6-83A5-B1152D3B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05275"/>
            <a:ext cx="337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350" b="1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Tracked actions, recovery from partial failure and clear ownership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893F8-7850-4B3F-B886-E582616F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858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5785FB-08CF-4124-9B3B-85AACAA2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57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78D96C-5F7D-441F-9696-FE4FACC5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MULTIMODAL PRODUCTION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C9E78-B5C0-43B5-9507-1F88C7E1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149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Audio, notes, images and source documents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A3328-D88A-4D25-9298-8CAD233E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1435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8CD713-8157-4F07-AAA5-8D57ABDB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95875"/>
            <a:ext cx="337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350" b="1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Multilingual text and approved visual or video assets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0A95A3-4B22-4DFA-9D29-9EEA93E6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01E99F-69F2-4B72-963A-280BD961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4140BF-A226-4E11-9DA6-6668E9B6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932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8792be3634744"/>
          <a:srcRect xmlns:a="http://schemas.openxmlformats.org/drawingml/2006/main" l="21000" t="0" r="21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4450" y="0"/>
            <a:ext cx="70675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5A3BB-41E6-43C2-ADF1-26EE7BC0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73F30-9482-41AC-BA63-2512996C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02  PRIVATE AI 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1E25C-580E-4667-9B58-E675B16A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063B0-6B81-4D4B-9E31-77D469DB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4524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Your AI stays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inside your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19BED-ABFB-4D79-9673-8598FC6F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10000"/>
            <a:ext cx="4238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D0DDEB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D0DDEB"/>
                </a:solidFill>
                <a:latin typeface="Segoe UI"/>
                <a:ea typeface="Segoe UI"/>
                <a:cs typeface="Segoe UI"/>
              </a:rPr>
              <a:t>We deploy inference, retrieval and approved model adaptation in infrastructure you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7E017-6201-48E6-B2D5-DAE9F621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86350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AFC0D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FC0D3"/>
                </a:solidFill>
                <a:latin typeface="Segoe UI"/>
                <a:ea typeface="Segoe UI"/>
                <a:cs typeface="Segoe UI"/>
              </a:rPr>
              <a:t>Data paths, identity, network egress and logs are specified and tested for the deployment.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85E8B-AE6A-4EF2-8D78-3609FBB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2484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PRIVATE DEPLOYMENT  /  CLIENT-SPECIFIC DESIGN</a:t>
            </a:r>
          </a:p>
        </p:txBody>
      </p:sp>
    </p:spTree>
    <p:extLst>
      <p:ext uri="{BB962C8B-B14F-4D97-AF65-F5344CB8AC3E}">
        <p14:creationId xmlns:p14="http://schemas.microsoft.com/office/powerpoint/2010/main" val="1906426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1089FA-E228-46A5-9928-D8DEC0C4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PRIVATE DEPLOYMENT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0205F-9BD8-429C-9389-0A92C12A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7782A-F52D-4F5B-950D-D69818C1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 data boundary you can inspect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17F93-A2E2-494B-9950-35912FA4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907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The exact boundary is mapped to your infrastructure, access model and approved integrations.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57AB2-3CEC-49EF-B63B-F90CFC2A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381250" cy="2943225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E4C72-BCA2-4078-B3FE-1AEEA599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CLIENT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A2D2C-4BFD-4EA0-AE74-40A23789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05150"/>
            <a:ext cx="1971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FDACC-344A-4FB8-BA71-0ED704CB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Documents and media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3A391-A431-434E-BD3D-3E10FF95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71875"/>
            <a:ext cx="1971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4B7C4-C085-4EE8-B80F-9DCA49F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290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Internal 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31AAD-9013-4A37-A9FE-091A417A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38600"/>
            <a:ext cx="1971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72933-6F74-4EE1-BDA9-9FC439E6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Approved training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341FF-7A41-48A5-A9BD-0D0978D9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05325"/>
            <a:ext cx="1971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34532-BDB9-41F7-B06D-F5E849DC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624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Policies and reference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C1DA5-F74B-4505-83E3-A33EE79A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67125"/>
            <a:ext cx="485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5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24037-5FE8-4867-9CAA-F53AECFC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28875"/>
            <a:ext cx="5286375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4B4B2-D26F-4081-9951-D54026DC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479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CLIENT-CONTROLLED 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D27B7-1891-496F-817A-38D5E2A7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527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84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E7688-3C98-46DD-AEEA-2F04FF1B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766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MODEL INFERENCE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C42CC-690F-4131-A59C-01BE8AB3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5623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B9C9D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9C9DB"/>
                </a:solidFill>
                <a:latin typeface="Segoe UI"/>
                <a:ea typeface="Segoe UI"/>
                <a:cs typeface="Segoe UI"/>
              </a:rPr>
              <a:t>Selected open-weight models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0851F-D487-42FD-842B-C8456815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527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84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F9025-1A71-40C3-BCC1-0761A5F5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766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PRIVATE RETRIEVAL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B0801-314E-45A3-873E-BAEEEBC2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623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B9C9D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9C9DB"/>
                </a:solidFill>
                <a:latin typeface="Segoe UI"/>
                <a:ea typeface="Segoe UI"/>
                <a:cs typeface="Segoe UI"/>
              </a:rPr>
              <a:t>Indexes and grounding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394FC9-AC9A-4AFE-AD78-E8636D88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052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84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1FCE7-1AE0-4B1E-ACD9-20D34F62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291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ADAPTATION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488224-F5C9-49B7-93A4-84A9D1A8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5148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B9C9D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9C9DB"/>
                </a:solidFill>
                <a:latin typeface="Segoe UI"/>
                <a:ea typeface="Segoe UI"/>
                <a:cs typeface="Segoe UI"/>
              </a:rPr>
              <a:t>Approved examples and versions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70AA7-E441-47EA-AF69-5FD919A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84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61173-AE8A-4791-9DDC-6B907F9C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291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CONTROL PLANE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3A47F0-834E-47F7-8695-B44BF450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5148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B9C9D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9C9DB"/>
                </a:solidFill>
                <a:latin typeface="Segoe UI"/>
                <a:ea typeface="Segoe UI"/>
                <a:cs typeface="Segoe UI"/>
              </a:rPr>
              <a:t>Identity, logging and rollback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C0B88F-CE7D-481F-845E-F49D6F78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671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5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C581A9-D6E8-4603-8B91-D243EE2C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28875"/>
            <a:ext cx="1952625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C13396-516D-4379-9A11-01C57A14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57475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APPROVED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OUTPUTS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AA626A-F5BE-4FFC-A8CC-15E2A21B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671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Reviewed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5C9E91-BF46-454B-BFE9-2F9B2DDB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671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System actions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9A22C5-7016-408B-947D-5B019EC3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672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Exportable records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8EDED1-7768-410B-940B-EDAACE5C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6672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Audit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62A698-888A-4697-A424-468A3E3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A2D50C-FF1C-46D9-AF9E-2E6A24E6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7054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Unapproved external model calls are blocked by policy when the agreed private boundary requires it.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A9A063-9C36-470C-A260-9A20E001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3A2F75-F893-432C-BA81-AD03079A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83C2DA-7B92-4629-86E1-5E6C7E2C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130885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C78AEB-F541-41B1-BB0D-9785FED4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EVALUATION AND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D7CFE-8A2E-4B4E-AE55-04759519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EA251-9E10-426C-A62C-48BED247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Quality is tested at every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4C886-BF29-409F-ABE7-B8725DD6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D2534-E9B2-440B-BB2A-C0B0C423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92CC2-9CC9-4EA2-A29C-2054B858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10502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PROGRAMMATIC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2C6E0-7730-4BBB-91AF-F1CBCF17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8597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Schemas, identifiers, numbers and safe state transitions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1D863-AB9D-42BC-B4FD-3A28C7E9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18EC3-619D-46AA-BD22-385A5C6A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1F85B-DC1F-4FC6-804E-BC10CCE7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8607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FFBC2-C3D4-4881-BB7D-279C5541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6702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Source coverage, claim support, language rubrics and terminology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4FA40-4867-4580-9F63-C284369E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4EBFF-404C-4A52-BDD3-D7DB094D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E9D3D-6B59-4C91-81CD-A1516812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6712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TRAJECTORY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73BED-60A4-4F28-BD2F-4C99FDDA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4807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Tool choices, arguments, loops and final system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E07F4-CCD3-4C59-B1CE-10E17684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F18D3-864A-4FD0-8951-BFBABA6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17D1E-62FF-4059-8723-02C035DD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4817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FAILURE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B8391-9F25-4409-ABED-5F025B3F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2912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Conflicts, malformed inputs, timeouts and 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92D24-B5EB-4DED-8A4C-34E51544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EF4E6-73E1-446F-ADC7-75BF6C14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2922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5B08F-EB75-427D-80B9-D8E79116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2922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6C88B-A2BC-4839-8D2E-8493F3FE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1017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Latency, throughput, task cost and regression after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A1ED5D-1CE1-48FA-A1D1-E2B8223B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F58AC-EEA3-4420-A8FA-C599DA17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721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The client sees acceptance evidence, release criteria and the rollback path.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E01BEF-5475-460B-9468-3B6D8E57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583678-F1DA-402C-BD06-9A263CE7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A9FDA-8F4C-45A7-B5E9-B3521597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26278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087D6-3A39-476B-B405-84D5C268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HUMAN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AD428-BB9F-43C7-A8AE-17C22F87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39DD7-A3F1-4A55-A22E-AC7E1DE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Keep consequential decisions with your 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E5D49-4C1A-4F0E-A645-5F5F1F2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811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We place approval gates where a wrong fact or outward action would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EF1C0-8E5D-4374-A8A1-817B173F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3419475" cy="2638425"/>
          </a:xfrm>
          <a:prstGeom xmlns:a="http://schemas.openxmlformats.org/drawingml/2006/main" prst="roundRect">
            <a:avLst>
              <a:gd name="adj" fmla="val 25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6FCDC-E328-4EF9-AC30-7F8CEBBA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B9227-98A4-43A6-9B5E-5968352A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CORRECT THE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6BABF-9CEC-4817-85AD-EE97D8B3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2895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Staff inspect extracted text, names and fields before generation.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75065-89D7-455F-BF01-E5CF5191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09850"/>
            <a:ext cx="3419475" cy="2638425"/>
          </a:xfrm>
          <a:prstGeom xmlns:a="http://schemas.openxmlformats.org/drawingml/2006/main" prst="roundRect">
            <a:avLst>
              <a:gd name="adj" fmla="val 25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1D094-9F82-408A-B27B-2CC4BE97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194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69DA7-6491-4932-8C4C-5F26F5A8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90900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REVIEW THE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4F0C6-8400-472D-BECC-58322FEE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90975"/>
            <a:ext cx="2895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The draft carries evidence, exceptions and editable output.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08BA9-C0F1-4C4C-A779-AFF71908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3419475" cy="2638425"/>
          </a:xfrm>
          <a:prstGeom xmlns:a="http://schemas.openxmlformats.org/drawingml/2006/main" prst="roundRect">
            <a:avLst>
              <a:gd name="adj" fmla="val 252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BB9C9-0F2F-4334-A056-82F5C137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194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CFE6A-7DEA-4281-AB9F-B6AC4544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90900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APPROVE THE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8EF38-A464-45FD-963A-F09382A2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90975"/>
            <a:ext cx="2895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Publication or system changes follow the client’s authority rules.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85922-D5CB-469B-9C20-D310A1DB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The approval design can differ by task: staff may review every output, only exceptions, or only outward 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0A0C7-1399-4F97-9C1F-F0A169C9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3ABBE-5640-48F6-A30B-341198C1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6FAF8-B6E4-4E69-8A45-5BA30AD1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727683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6DADC7-3B51-47AF-AB94-2AB7F73F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PROOF FROM A DEMANDING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B7F17-0C9B-44DD-A177-E356E20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3C871-55F3-4B33-B738-A10FBE22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4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Official inputs to reviewed public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E4C8B-77B6-46DB-A39A-3E2CBF6E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907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For Maharashtra Government DGIPR, HashCase built a Marathi-first platform in production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4C2A2-D3A2-4D9E-855D-724CC949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27717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022BA-A54F-4C7D-ACD7-93C0D226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09850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SOURCE MATERIAL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2B1AE-0BDB-44D5-941B-F999DB91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956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Official notes and resolutions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8EFF2-C0EF-45E7-9AFD-9EE9621E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004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Audio and scanned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92BC8-B710-4B93-9AB8-4B7A0A07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052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Video source material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778F8-BCEE-4B87-BA99-60C185FB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3718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C8C92-4D70-454E-A842-C6919BDF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09825"/>
            <a:ext cx="40576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88C16-6D8B-43A9-B165-A9E3DF81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09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HASHCASE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8DC51-FC86-43AC-A1A7-7AB31A01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670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INTAKE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171CD-7D07-4799-B1D3-28BD046D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48000"/>
            <a:ext cx="2333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E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7D5E5"/>
                </a:solidFill>
                <a:latin typeface="Segoe UI"/>
                <a:ea typeface="Segoe UI"/>
                <a:cs typeface="Segoe UI"/>
              </a:rPr>
              <a:t>Extraction and entity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BDA64-FEE8-41F5-9EA8-CB61D7EC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9092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GROUNDING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1D715-2A6F-462E-B875-D54235F0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71875"/>
            <a:ext cx="2333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E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7D5E5"/>
                </a:solidFill>
                <a:latin typeface="Segoe UI"/>
                <a:ea typeface="Segoe UI"/>
                <a:cs typeface="Segoe UI"/>
              </a:rPr>
              <a:t>Official facts, separate style references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60EF3-9727-4B1B-A792-84AAABEC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148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5EA41-3DCD-4536-8A90-62527CDA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95750"/>
            <a:ext cx="2333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E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7D5E5"/>
                </a:solidFill>
                <a:latin typeface="Segoe UI"/>
                <a:ea typeface="Segoe UI"/>
                <a:cs typeface="Segoe UI"/>
              </a:rPr>
              <a:t>Generation, validation and officer edits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01970-900B-4C6A-B91A-7708733F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9E4C6-5474-451A-9BBF-CE57D55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9825"/>
            <a:ext cx="28194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445F1-CE2E-402B-A3F8-56D0052B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0985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REVIEWED OUTPUTS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89559B-0E0E-495F-9C49-D79B1D7D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194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Marathi articles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E752E-F1EB-49DC-8222-C7A1FED8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194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Translations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FDE9A-F139-4C10-823C-613E2A1A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195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Branded creatives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A8AF8-A87C-4183-BA9E-AA5F7CE3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195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Explainer videos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D1CAE5-512E-412A-B009-EFADBC42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10858500" cy="676275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CD9317-859E-4E84-B119-28CBA65C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10448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Safeguards include tracked jobs, verified names and terminology, source checks, schema rules and officer approval.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CEC5C1-7541-4B1E-9455-FCD2CFCE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15025"/>
            <a:ext cx="1072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Current DGIPR workflows use approved external AI services for several tasks. Private deployment is a separate offering.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499304-C05E-49DE-A9E8-A7EBF20C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3E9CF4-B19D-4FED-974C-721834D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E42237-E592-41E5-87F6-8BCFBA28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617073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4667ED-5AEF-428C-A1CF-30E6BB41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A PRACTICAL START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C9401-E7D2-4860-A7DB-B6559E28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E8996-DAAE-4CEE-998C-3D9DF48D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Start with one high-value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6CB03-6B23-40F8-8772-5656DB44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We agree on the work to automate, the data boundary and the evidence required before expansion.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4E911-EF71-4941-AF50-CBB15B58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2524125" cy="27622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E66EF-0160-45F4-B664-52D9065C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3BF08-DBB8-4A24-97D7-E3A30A50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016D8-91B4-4F47-8CF8-E930E355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2105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Source systems, decisions, handoffs and cost of errors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AF2E7-0FA0-4DEB-B7FC-CE982281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4C261-78A1-400E-B0C9-0277F4E4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2124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Workflow map + acceptance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DD09F-16A9-4ED1-A182-66980DFE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38425"/>
            <a:ext cx="2524125" cy="27622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C35E3-3B2C-4594-A756-D780FB39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9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C6D6C-842C-42FB-98C2-3CACD025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4327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5714D-324E-4592-B3C7-48DA1E81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9525"/>
            <a:ext cx="2105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Intake, model, rules, review and integration in a working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DED76-84B1-4296-8236-9FED2116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9582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4FC72-9F02-4933-B4C6-F51661BA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19650"/>
            <a:ext cx="2124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Usable interface + connected 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75310-1FEB-4553-A4F0-C573E737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38425"/>
            <a:ext cx="2524125" cy="27622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288B7-F4CF-47C3-AAA5-677F24BE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9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A7B13-147D-4591-B39F-89047897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4327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AC338-63BD-40FC-8565-9B4B642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9525"/>
            <a:ext cx="2105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Representative and edge cases against the current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A6DE2-A77A-4721-82A7-5E967A03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9582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F70F9-02C9-440F-A236-242E4D98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9650"/>
            <a:ext cx="2124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Evaluation record + failure modes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4350BD-60CE-4DA9-A6C7-C6C122CF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38425"/>
            <a:ext cx="2524125" cy="27622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84FF14-AEF0-4D49-9B0B-6907A194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9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792E0-3A04-4C07-B539-4EE61F82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4327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OPERATE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A3AE-71CC-458C-A244-C8964157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19525"/>
            <a:ext cx="2105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Logging, versioning, rollback and ownership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6A6FD1-47C2-4B99-B1B3-C00BE1C9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9582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129A69-4BD4-40CD-A120-AF3F5245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19650"/>
            <a:ext cx="2124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Release plan + handover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7E67F8-5379-45E3-8C44-3A71AAC2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62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The outcome is a working process and a documented decision on how to scale it.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539D6B-03AF-4EC1-99A6-26073313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A4F071-67A9-43A4-9A8A-5AE718B4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FA33C9-B685-43EF-9298-0DC8ED5F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852119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9da7a11ca4954"/>
          <a:srcRect xmlns:a="http://schemas.openxmlformats.org/drawingml/2006/main" l="24400" t="0" r="244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0"/>
            <a:ext cx="62388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07BCD-3529-4B70-A6AB-C2876868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4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D6D1E-7383-40FD-A04B-53E71CB1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THE 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6E5AD-F9E1-497A-BC30-A4A7B619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9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Bring us one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9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workflow worth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9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fixing.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E42AD-426E-4436-8D0A-DB34B72A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D0DCEB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E3BC75"/>
                </a:solidFill>
                <a:latin typeface="Bahnschrift"/>
                <a:ea typeface="Segoe UI"/>
                <a:cs typeface="Segoe UI"/>
              </a:rPr>
              <a:t>WHAT THE FIRST ENGAGEMENT LOOKS LIKE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0200113254a31"/>
          <a:stretch xmlns:a="http://schemas.openxmlformats.org/drawingml/2006/main"/>
        </p:blipFill>
        <p:spPr>
          <a:xfrm xmlns:a="http://schemas.openxmlformats.org/drawingml/2006/main">
            <a:off x="672288" y="5191125"/>
            <a:ext cx="2941674" cy="60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06CD4-9F03-486F-840D-6A60572A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taaha@hashcase.tech   ·   www.hashcase.tech</a:t>
            </a:r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666750" y="3448050"/>
            <a:ext cx="4524375" cy="9525"/>
          </a:xfrm>
          <a:prstGeom prst="rect">
            <a:avLst/>
          </a:prstGeom>
          <a:solidFill>
            <a:srgbClr val="3A4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666750" y="36385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E3BC75"/>
                </a:solidFill>
                <a:latin typeface="Bahnschrift"/>
              </a:rPr>
              <a:t>01</a:t>
            </a:r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1104900" y="3638550"/>
            <a:ext cx="4381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>
                <a:solidFill>
                  <a:srgbClr val="D6E1EF"/>
                </a:solidFill>
                <a:latin typeface="Segoe UI"/>
              </a:rPr>
              <a:t>A workshop on one live workflow</a:t>
            </a:r>
          </a:p>
        </p:txBody>
      </p:sp>
      <p:sp xmlns:a="http://schemas.openxmlformats.org/drawingml/2006/main">
        <p:nvSpPr>
          <p:cNvPr id="17" name="TextBox 16"/>
          <p:cNvSpPr txBox="1"/>
          <p:nvPr/>
        </p:nvSpPr>
        <p:spPr>
          <a:xfrm>
            <a:off x="666750" y="41148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E3BC75"/>
                </a:solidFill>
                <a:latin typeface="Bahnschrift"/>
              </a:rPr>
              <a:t>02</a:t>
            </a:r>
          </a:p>
        </p:txBody>
      </p:sp>
      <p:sp xmlns:a="http://schemas.openxmlformats.org/drawingml/2006/main">
        <p:nvSpPr>
          <p:cNvPr id="18" name="TextBox 17"/>
          <p:cNvSpPr txBox="1"/>
          <p:nvPr/>
        </p:nvSpPr>
        <p:spPr>
          <a:xfrm>
            <a:off x="1104900" y="4114800"/>
            <a:ext cx="4381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>
                <a:solidFill>
                  <a:srgbClr val="D6E1EF"/>
                </a:solidFill>
                <a:latin typeface="Segoe UI"/>
              </a:rPr>
              <a:t>A pilot built on your real cases</a:t>
            </a:r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666750" y="4591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E3BC75"/>
                </a:solidFill>
                <a:latin typeface="Bahnschrift"/>
              </a:rPr>
              <a:t>03</a:t>
            </a:r>
          </a:p>
        </p:txBody>
      </p:sp>
      <p:sp xmlns:a="http://schemas.openxmlformats.org/drawingml/2006/main">
        <p:nvSpPr>
          <p:cNvPr id="20" name="TextBox 19"/>
          <p:cNvSpPr txBox="1"/>
          <p:nvPr/>
        </p:nvSpPr>
        <p:spPr>
          <a:xfrm>
            <a:off x="1104900" y="4591050"/>
            <a:ext cx="4381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>
                <a:solidFill>
                  <a:srgbClr val="D6E1EF"/>
                </a:solidFill>
                <a:latin typeface="Segoe UI"/>
              </a:rPr>
              <a:t>An evaluation record, not a demo</a:t>
            </a:r>
          </a:p>
        </p:txBody>
      </p:sp>
    </p:spTree>
    <p:extLst>
      <p:ext uri="{BB962C8B-B14F-4D97-AF65-F5344CB8AC3E}">
        <p14:creationId xmlns:p14="http://schemas.microsoft.com/office/powerpoint/2010/main" val="886418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2026-09-17T19:22:18.0680000Z</dcterms:created>
  <dcterms:modified xsi:type="dcterms:W3CDTF">2026-09-17T19:22:18.0680000Z</dcterms:modified>
</coreProperties>
</file>