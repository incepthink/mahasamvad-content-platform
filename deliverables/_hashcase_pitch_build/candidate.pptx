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f60a87790940bd" /><Relationship Type="http://schemas.openxmlformats.org/officeDocument/2006/relationships/extended-properties" Target="/docProps/app.xml" Id="Rc94aa3c7bbc34876" /><Relationship Type="http://schemas.openxmlformats.org/officeDocument/2006/relationships/officeDocument" Target="/ppt/presentation.xml" Id="R47bdfbf2c67042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c184ac4d048e4"/>
  </p:sldMasterIdLst>
  <p:notesMasterIdLst>
    <p:notesMasterId xmlns:r="http://schemas.openxmlformats.org/officeDocument/2006/relationships" r:id="R95ca39e4b0ac405c"/>
  </p:notesMasterIdLst>
  <p:sldIdLst>
    <p:sldId xmlns:r="http://schemas.openxmlformats.org/officeDocument/2006/relationships" id="256" r:id="R6a824a274dfb49e2"/>
    <p:sldId xmlns:r="http://schemas.openxmlformats.org/officeDocument/2006/relationships" id="257" r:id="R6db431c42111466f"/>
    <p:sldId xmlns:r="http://schemas.openxmlformats.org/officeDocument/2006/relationships" id="258" r:id="Rcf6cb3d88f184b74"/>
    <p:sldId xmlns:r="http://schemas.openxmlformats.org/officeDocument/2006/relationships" id="259" r:id="Re23e6fa7d33843a7"/>
    <p:sldId xmlns:r="http://schemas.openxmlformats.org/officeDocument/2006/relationships" id="260" r:id="R4c61eba605fc4247"/>
    <p:sldId xmlns:r="http://schemas.openxmlformats.org/officeDocument/2006/relationships" id="261" r:id="Rbd2ee6be38ef4c47"/>
    <p:sldId xmlns:r="http://schemas.openxmlformats.org/officeDocument/2006/relationships" id="262" r:id="R3cdba6b5b5374869"/>
    <p:sldId xmlns:r="http://schemas.openxmlformats.org/officeDocument/2006/relationships" id="263" r:id="Rbbefe34e806b4269"/>
    <p:sldId xmlns:r="http://schemas.openxmlformats.org/officeDocument/2006/relationships" id="264" r:id="R1bc64713622846f2"/>
    <p:sldId xmlns:r="http://schemas.openxmlformats.org/officeDocument/2006/relationships" id="265" r:id="R4aade556529948c3"/>
    <p:sldId xmlns:r="http://schemas.openxmlformats.org/officeDocument/2006/relationships" id="266" r:id="R4660eeb09d394111"/>
    <p:sldId xmlns:r="http://schemas.openxmlformats.org/officeDocument/2006/relationships" id="267" r:id="R8508b819157747f7"/>
    <p:sldId xmlns:r="http://schemas.openxmlformats.org/officeDocument/2006/relationships" id="268" r:id="Rf6c5ba8b5c32496b"/>
    <p:sldId xmlns:r="http://schemas.openxmlformats.org/officeDocument/2006/relationships" id="269" r:id="R163dda2b654a4b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b09e93b6a34d7f" /><Relationship Type="http://schemas.openxmlformats.org/officeDocument/2006/relationships/slideMaster" Target="/ppt/slideMasters/slideMaster1.xml" Id="R7f0c184ac4d048e4" /><Relationship Type="http://schemas.openxmlformats.org/officeDocument/2006/relationships/notesMaster" Target="/ppt/notesMasters/notesMaster1.xml" Id="R95ca39e4b0ac405c" /><Relationship Type="http://schemas.openxmlformats.org/officeDocument/2006/relationships/presProps" Target="/ppt/presProps.xml" Id="R4759d60e947245a5" /><Relationship Type="http://schemas.openxmlformats.org/officeDocument/2006/relationships/tableStyles" Target="/ppt/tableStyles.xml" Id="R33099ded12194572" /><Relationship Type="http://schemas.openxmlformats.org/officeDocument/2006/relationships/slide" Target="/ppt/slides/slide1.xml" Id="R6a824a274dfb49e2" /><Relationship Type="http://schemas.openxmlformats.org/officeDocument/2006/relationships/slide" Target="/ppt/slides/slide2.xml" Id="R6db431c42111466f" /><Relationship Type="http://schemas.openxmlformats.org/officeDocument/2006/relationships/slide" Target="/ppt/slides/slide3.xml" Id="Rcf6cb3d88f184b74" /><Relationship Type="http://schemas.openxmlformats.org/officeDocument/2006/relationships/slide" Target="/ppt/slides/slide4.xml" Id="Re23e6fa7d33843a7" /><Relationship Type="http://schemas.openxmlformats.org/officeDocument/2006/relationships/slide" Target="/ppt/slides/slide5.xml" Id="R4c61eba605fc4247" /><Relationship Type="http://schemas.openxmlformats.org/officeDocument/2006/relationships/slide" Target="/ppt/slides/slide6.xml" Id="Rbd2ee6be38ef4c47" /><Relationship Type="http://schemas.openxmlformats.org/officeDocument/2006/relationships/slide" Target="/ppt/slides/slide7.xml" Id="R3cdba6b5b5374869" /><Relationship Type="http://schemas.openxmlformats.org/officeDocument/2006/relationships/slide" Target="/ppt/slides/slide8.xml" Id="Rbbefe34e806b4269" /><Relationship Type="http://schemas.openxmlformats.org/officeDocument/2006/relationships/slide" Target="/ppt/slides/slide9.xml" Id="R1bc64713622846f2" /><Relationship Type="http://schemas.openxmlformats.org/officeDocument/2006/relationships/slide" Target="/ppt/slides/slide10.xml" Id="R4aade556529948c3" /><Relationship Type="http://schemas.openxmlformats.org/officeDocument/2006/relationships/slide" Target="/ppt/slides/slide11.xml" Id="R4660eeb09d394111" /><Relationship Type="http://schemas.openxmlformats.org/officeDocument/2006/relationships/slide" Target="/ppt/slides/slide12.xml" Id="R8508b819157747f7" /><Relationship Type="http://schemas.openxmlformats.org/officeDocument/2006/relationships/slide" Target="/ppt/slides/slide13.xml" Id="Rf6c5ba8b5c32496b" /><Relationship Type="http://schemas.openxmlformats.org/officeDocument/2006/relationships/slide" Target="/ppt/slides/slide14.xml" Id="R163dda2b654a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4fb1b4f21a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76a765bb314e81" /><Relationship Type="http://schemas.openxmlformats.org/officeDocument/2006/relationships/notesMaster" Target="/ppt/notesMasters/notesMaster1.xml" Id="R7d262f4410c348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0d79562e9a4ff1" /><Relationship Type="http://schemas.openxmlformats.org/officeDocument/2006/relationships/notesMaster" Target="/ppt/notesMasters/notesMaster1.xml" Id="R2a2eb1c8086645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3e6a01d3c46de" /><Relationship Type="http://schemas.openxmlformats.org/officeDocument/2006/relationships/notesMaster" Target="/ppt/notesMasters/notesMaster1.xml" Id="R7da6dffe6f0e44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ea64bb1ff3405a" /><Relationship Type="http://schemas.openxmlformats.org/officeDocument/2006/relationships/notesMaster" Target="/ppt/notesMasters/notesMaster1.xml" Id="R164b09db538845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4482a45a754734" /><Relationship Type="http://schemas.openxmlformats.org/officeDocument/2006/relationships/notesMaster" Target="/ppt/notesMasters/notesMaster1.xml" Id="R3e306a86ced840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9586698d024d6e" /><Relationship Type="http://schemas.openxmlformats.org/officeDocument/2006/relationships/notesMaster" Target="/ppt/notesMasters/notesMaster1.xml" Id="R0b116d14f8b14e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c266a0936a478a" /><Relationship Type="http://schemas.openxmlformats.org/officeDocument/2006/relationships/notesMaster" Target="/ppt/notesMasters/notesMaster1.xml" Id="R751abed7434a49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703f2f3de4426d" /><Relationship Type="http://schemas.openxmlformats.org/officeDocument/2006/relationships/notesMaster" Target="/ppt/notesMasters/notesMaster1.xml" Id="R6de613b23f754d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12dca23a3a4004" /><Relationship Type="http://schemas.openxmlformats.org/officeDocument/2006/relationships/notesMaster" Target="/ppt/notesMasters/notesMaster1.xml" Id="Rbcd3c0a384754a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d2e8ed70194c0d" /><Relationship Type="http://schemas.openxmlformats.org/officeDocument/2006/relationships/notesMaster" Target="/ppt/notesMasters/notesMaster1.xml" Id="Rd9e791aea9304f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856b1947994d70" /><Relationship Type="http://schemas.openxmlformats.org/officeDocument/2006/relationships/notesMaster" Target="/ppt/notesMasters/notesMaster1.xml" Id="R8adb6fe2a30b48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178ba3fcf74022" /><Relationship Type="http://schemas.openxmlformats.org/officeDocument/2006/relationships/notesMaster" Target="/ppt/notesMasters/notesMaster1.xml" Id="R85d2df48ba1149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c6b60578a94ee2" /><Relationship Type="http://schemas.openxmlformats.org/officeDocument/2006/relationships/notesMaster" Target="/ppt/notesMasters/notesMaster1.xml" Id="Rb4d451ed9d2f49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b5270a88704f29" /><Relationship Type="http://schemas.openxmlformats.org/officeDocument/2006/relationships/notesMaster" Target="/ppt/notesMasters/notesMaster1.xml" Id="R26d1a2df3e7a4d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HashCase client capabilities. Cover photograph: original image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based on the HashCase Executive Note, deliverables/HashCase_Executive_Note.docx.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request scenario is illustrative and is not presented as a HashCase client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categories are derived from the HashCase Executive Note. They describe common workflow patterns, not measured prevalence.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HashCase Executive Note, core offerings and delivery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Representative architecture based on implemented DGIPR intake, content generation, review and job orchestration components. Sources: apps/api/src/jobs/document-intake.ts; packages/content-engine/src/intake; packages/content-engine/src/generation; HashCase Executive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Client workflow patterns from HashCase Executive Note. These are scope examples rather than claims of identical prior deployments.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data center photograph generated for this presentation. Private deployment design comes from HashCase Executive Note and is a proposed offering, not a description of the current DGIPR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reference architecture based on HashCase Executive Note, private deployment section. Actual security controls, data flow and egress policy require client-specific design and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categories grounded in HashCase Executive Note and DGIPR code including packages/content-engine/src/generation/verify-coverage.ts and packages/content-engine/src/finetune/eval-model.ts. Thresholds are defined per client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implemented DGIPR correction and publishing gates, plus configurable client workflow design. The three-step visual is an illustrative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docs/CASE_STUDY.md; AGENTS.md current phase; apps/api/src/jobs/document-intake.ts; packages/content-engine/src/generation/generate-article.ts; packages/content-engine/src/generation/verify-coverage.ts; HashCase Executive Note. Current DGIPR architecture uses external AI providers in several flows and is not represented as on-prem.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approach from HashCase Executive Note. Duration, scope, commercial terms and numeric acceptance thresholds are client-specific.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details follow the user-provided Maharashtra Visitor Platform reference presentation, slide 14. Photograph: original generated image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544f1efc4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4fa07fb80045f9" /><Relationship Type="http://schemas.openxmlformats.org/officeDocument/2006/relationships/slideLayout" Target="/ppt/slideLayouts/slideLayout1.xml" Id="R4fb832f2e5ec4e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b832f2e5ec4e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f554db13343ff" /><Relationship Type="http://schemas.openxmlformats.org/officeDocument/2006/relationships/image" Target="/ppt/media/image.png" Id="R5de3b63e0a104905" /><Relationship Type="http://schemas.openxmlformats.org/officeDocument/2006/relationships/image" Target="/ppt/media/image2.png" Id="R677c54850f444622" /><Relationship Type="http://schemas.openxmlformats.org/officeDocument/2006/relationships/notesSlide" Target="/ppt/notesSlides/notesSlide1.xml" Id="R7dcb35fc36ba46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5deaf1284451e" /><Relationship Type="http://schemas.openxmlformats.org/officeDocument/2006/relationships/notesSlide" Target="/ppt/notesSlides/notesSlide2.xml" Id="R918df0d29bd8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9c53e84f041a5" /><Relationship Type="http://schemas.openxmlformats.org/officeDocument/2006/relationships/notesSlide" Target="/ppt/notesSlides/notesSlide3.xml" Id="R5311ae71ab404e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c918e503349d3" /><Relationship Type="http://schemas.openxmlformats.org/officeDocument/2006/relationships/notesSlide" Target="/ppt/notesSlides/notesSlide4.xml" Id="R72e28518d70741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f34b8ac604f4f" /><Relationship Type="http://schemas.openxmlformats.org/officeDocument/2006/relationships/notesSlide" Target="/ppt/notesSlides/notesSlide5.xml" Id="R5b732de9eb4e41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93f1d17614792" /><Relationship Type="http://schemas.openxmlformats.org/officeDocument/2006/relationships/notesSlide" Target="/ppt/notesSlides/notesSlide6.xml" Id="R0bd78f423582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c378ed0764020" /><Relationship Type="http://schemas.openxmlformats.org/officeDocument/2006/relationships/notesSlide" Target="/ppt/notesSlides/notesSlide7.xml" Id="Re3bf40ae188a43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ce28959aa4e9c" /><Relationship Type="http://schemas.openxmlformats.org/officeDocument/2006/relationships/image" Target="/ppt/media/image3.png" Id="Rdbd8792be3634744" /><Relationship Type="http://schemas.openxmlformats.org/officeDocument/2006/relationships/notesSlide" Target="/ppt/notesSlides/notesSlide8.xml" Id="R2a8eedf9ed0e49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a4faaa77a4b55" /><Relationship Type="http://schemas.openxmlformats.org/officeDocument/2006/relationships/notesSlide" Target="/ppt/notesSlides/notesSlide9.xml" Id="R04ca9fec9d364e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a43f8a5cd463a" /><Relationship Type="http://schemas.openxmlformats.org/officeDocument/2006/relationships/notesSlide" Target="/ppt/notesSlides/notesSlide10.xml" Id="R7e089293037148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127edc069415d" /><Relationship Type="http://schemas.openxmlformats.org/officeDocument/2006/relationships/notesSlide" Target="/ppt/notesSlides/notesSlide11.xml" Id="R71616b4f1e4e44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fd23c3e7848b0" /><Relationship Type="http://schemas.openxmlformats.org/officeDocument/2006/relationships/notesSlide" Target="/ppt/notesSlides/notesSlide12.xml" Id="R8eb90d0bb69843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36b66f323462a" /><Relationship Type="http://schemas.openxmlformats.org/officeDocument/2006/relationships/notesSlide" Target="/ppt/notesSlides/notesSlide13.xml" Id="R9e4f36cccb5a49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c1c43d5704d06" /><Relationship Type="http://schemas.openxmlformats.org/officeDocument/2006/relationships/image" Target="/ppt/media/image4.png" Id="R9829da7a11ca4954" /><Relationship Type="http://schemas.openxmlformats.org/officeDocument/2006/relationships/image" Target="/ppt/media/image5.png" Id="Rea30200113254a31" /><Relationship Type="http://schemas.openxmlformats.org/officeDocument/2006/relationships/notesSlide" Target="/ppt/notesSlides/notesSlide14.xml" Id="R6f92b2e05a124c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3b63e0a1049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8E3CF-08A4-4920-86FE-765D817C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84D50-ADA5-4648-8452-20109241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HASHCASE  /  APPLIED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CEE99-5368-4506-998D-C6378121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8101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AI that gets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work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41B1C-D462-413E-A32C-572CA6A7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D9E3E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9E3EF"/>
                </a:solidFill>
                <a:latin typeface="Segoe UI"/>
                <a:ea typeface="Segoe UI"/>
                <a:cs typeface="Segoe UI"/>
              </a:rPr>
              <a:t>End-to-end workflow automation and private AI systems built around your operations.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c54850f444622"/>
          <a:stretch xmlns:a="http://schemas.openxmlformats.org/drawingml/2006/main"/>
        </p:blipFill>
        <p:spPr>
          <a:xfrm xmlns:a="http://schemas.openxmlformats.org/drawingml/2006/main">
            <a:off x="671236" y="5410200"/>
            <a:ext cx="2619929" cy="542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7CA77-45DA-45F8-8191-4F9E876E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B1BDC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1BDCD"/>
                </a:solidFill>
                <a:latin typeface="Bahnschrift"/>
                <a:ea typeface="Bahnschrift"/>
                <a:cs typeface="Bahnschrift"/>
              </a:rPr>
              <a:t>CLIENT CAPABILITIES  /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25725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FE60B-C543-4FEF-B4BF-F862C7D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2CA63-8F51-4669-930B-578EB57E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7CF6D-DCBA-4A5C-80E0-1B87073B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From scattered inputs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to approved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67E0E-74E8-4DE1-966B-45EC6BA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CEDBE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CEDBEC"/>
                </a:solidFill>
                <a:latin typeface="Segoe UI"/>
                <a:ea typeface="Segoe UI"/>
                <a:cs typeface="Segoe UI"/>
              </a:rPr>
              <a:t>HashCase designs the complete path from source material to a finished, reviewable business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925D-B484-46E7-9912-D6752BC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326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75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8F5D0-E0C3-4CB0-9B9D-0EC61103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READ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F11DA-D338-41E0-B6EA-E4B4DDFC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4D2E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4D2E3"/>
                </a:solidFill>
                <a:latin typeface="Segoe UI"/>
                <a:ea typeface="Segoe UI"/>
                <a:cs typeface="Segoe UI"/>
              </a:rPr>
              <a:t>Documents, audio, images and connected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8289-BBEF-4600-9BD8-67C5615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4375"/>
            <a:ext cx="326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251C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2C2CB-20F4-49E2-9FE6-0B2E5F98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6250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APPLY JUDGMENT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CB778-EDEA-46B9-B17B-AC8BC846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244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4D2E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4D2E3"/>
                </a:solidFill>
                <a:latin typeface="Segoe UI"/>
                <a:ea typeface="Segoe UI"/>
                <a:cs typeface="Segoe UI"/>
              </a:rPr>
              <a:t>Grounded models, rules and staff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EC58-5D99-4D19-8F2E-FEDE5A28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326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BC7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F9F72-BD61-4AAF-A747-60FACD32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FINISH THE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0F07A-1B27-47A1-AB7D-ACCEEB7B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244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4D2E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4D2E3"/>
                </a:solidFill>
                <a:latin typeface="Segoe UI"/>
                <a:ea typeface="Segoe UI"/>
                <a:cs typeface="Segoe UI"/>
              </a:rPr>
              <a:t>Approved outputs, records and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6795E-EBEA-4AAF-87C1-01A00977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617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632F1-C56D-43F1-9F66-8310F87A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ADCD9-3ACD-4D84-B56C-8559209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2070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29DC4D-4C8D-47E5-A7F6-AEF7996D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AN EVERYDAY OPERATIONS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AE002-9614-4733-BE1C-D639B8CB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F79FD-61E4-4B72-A8BD-568B2DC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 routine request becomes five handoffs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D0803-E911-41FA-B1E6-BD434CC4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Illustrative example: a request arrives by email with a scanned form and a voice note.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9D7FD-7D87-43D6-A772-7348399B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53170-D372-4509-8E5C-82D38C5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CEFC6-9B7F-4789-8AA4-E504BF0C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RECEIVE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69F4A-A0E2-47A9-B11A-9D570597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Email, scan and audio arrive in different formats.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2F6AC-F54B-47CB-A911-434FF03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AD4ED-B9A5-42CE-8714-6ABE3D0D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0060A-71E9-454B-9CB0-04AF9FB9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0CEAD-59F2-47C7-BE36-25D59F37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RE-ENTER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7AAE8-D864-40E4-A29D-C4D8EA2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Someone copies details into a case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D8428-8AFA-4439-B80C-22E9F12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52ABF-D8E7-4069-AFD8-5CC90E9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F3DFB-91F8-4893-86A1-91390847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1A77D-FCC4-4E22-AF5F-D104C56C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2A598-8342-40D1-BFD7-87BC9D44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Names, policy and prior records are verified.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F2033-9C92-4E45-9701-13C7DEAD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48D84-6433-4381-8836-4F726CD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37C9E-3BA3-4600-B42B-CBDBD4F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41AFC-3A15-4187-AE30-C031B4A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DRAFT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6DF0B-38B1-46F2-AF2C-7139AF4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 response is written in another tool.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40CD9-17A1-436F-9A1D-B5EA8F6F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8B8E4-F419-4D37-8511-072240E9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049F6-3040-4EFB-BB8F-E94134F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6CAC7-F094-435F-9DCE-EC664234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CLOSE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2AF89-68E4-4BC0-A0C3-D498FC2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 supervisor approves it and staff update the record.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9B337-0BC5-4CF2-A883-681AC717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775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C2F65-629F-47C4-9115-DC0DEE25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816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hard part is locating evidence, checking rules, getting approval and updating the system — all in one controlled run.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EF1F4-67F3-4981-B9DF-76DFD918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00CD3-4058-4C7D-9E7D-B67A044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F68B92-A266-4A55-8F64-56A4EFF0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8677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1B116-4575-4951-BED9-C159775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WHY WORK GETS STUCK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83FF6-ED51-411F-A6E5-4C0CCDC5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7964D-4124-4F29-82F0-CD220820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Four gaps behind one unfinished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C1D76-7B26-43EF-95A8-4CFD2748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6892E-46E7-436B-A7D8-B0442267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B8BD4-8CF0-411B-A43A-2E2D28E7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Fragmented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66A6A-6411-4303-ADC7-3543119E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Files and messages arrive without a reliable, shared case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465C2-FC5E-4E62-B1A9-4A8B73C1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A3F12-7837-462C-AC17-F5C7088D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D314A-7B00-4FF6-BC5C-FCAC3B58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Weak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29E7F-83C5-4E13-B9CF-2F66367C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Teams need to verify names, numbers and source claims manually.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35A20-64D3-4BCC-8D2E-DE54CBD8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D6EC8-5D09-4CB7-AA58-7359E220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67C8D-A44E-42FC-A5FA-742549BB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Disconnected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ED67B-0610-455A-8E32-DCAC2ED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 draft answer still needs staff to move it between systems.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3855F-930F-4420-A42E-DA1431F9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0D42F-6311-4424-B940-9BB621C3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22C0A-C3FB-4327-9BA3-828B75AA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Unclear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202C0-FB7A-41E1-A60D-3E49F781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C8D5E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5E6"/>
                </a:solidFill>
                <a:latin typeface="Segoe UI"/>
                <a:ea typeface="Segoe UI"/>
                <a:cs typeface="Segoe UI"/>
              </a:rPr>
              <a:t>Sensitive material needs explicit rules for access and model 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5853D-57CE-41AC-AF30-14FE7F8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The workflow must carry evidence, approval and action together.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146A3-FB03-430C-952F-132D0488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C1D6A-B81B-47A0-8FCB-4AE4465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4CEC2-E23F-45FC-B564-9E88368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2698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D9602-5E25-4F81-A80F-C344B8C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WHAT HASHCASE BUILDS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A7AB6-4890-4919-91B1-30FBB585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BA3F7-38FA-4D48-8A8B-178E4E95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8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Two capabilities. One operating 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F475E-468C-4E71-85E6-72BC453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172075" cy="3352800"/>
          </a:xfrm>
          <a:prstGeom xmlns:a="http://schemas.openxmlformats.org/drawingml/2006/main" prst="roundRect">
            <a:avLst>
              <a:gd name="adj" fmla="val 1989"/>
            </a:avLst>
          </a:prstGeom>
          <a:solidFill xmlns:a="http://schemas.openxmlformats.org/drawingml/2006/main">
            <a:srgbClr val="182842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A1FCA-4AAB-4B27-ABC8-187109D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5476875" cy="3352800"/>
          </a:xfrm>
          <a:prstGeom xmlns:a="http://schemas.openxmlformats.org/drawingml/2006/main" prst="roundRect">
            <a:avLst>
              <a:gd name="adj" fmla="val 1989"/>
            </a:avLst>
          </a:prstGeom>
          <a:solidFill xmlns:a="http://schemas.openxmlformats.org/drawingml/2006/main">
            <a:srgbClr val="182842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AF4D9-7F88-4907-B399-686BEE75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172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A8379-2DE1-4BD8-ACF2-6E73E857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547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0EFB1-FCE4-4069-8B2E-25EBB02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2C4BF-D6DE-4B89-89FB-425CCBBD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445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Applied AI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workflow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6CDDE-0581-493A-9159-4DD2775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CBD8E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BD8E8"/>
                </a:solidFill>
                <a:latin typeface="Segoe UI"/>
                <a:ea typeface="Segoe UI"/>
                <a:cs typeface="Segoe UI"/>
              </a:rPr>
              <a:t>Intake → evidence → model and rules → review → approved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F3FEC-10C0-42D3-8F91-51CB6BCA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989F2-3F95-4069-B819-55DE35D4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Private model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deployment and 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276E0-7E5C-4579-BC22-EFA34273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CBD8E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BD8E8"/>
                </a:solidFill>
                <a:latin typeface="Segoe UI"/>
                <a:ea typeface="Segoe UI"/>
                <a:cs typeface="Segoe UI"/>
              </a:rPr>
              <a:t>Inference, retrieval, data, logs and lifecycle inside a client-controlled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34A62-07C4-41B9-A6EB-0980F71E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72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Built as products your team can run, inspect and improve.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ED8E4-D7C0-45AF-966E-82E645B2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617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4FDB0-39C2-4B16-90FF-0DA32A6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DEA73-1467-45A7-B7BA-D8B3A65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4211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885410-A0F0-4306-B141-3FBCEAB7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  APPLIED AI WORKFLOW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4FB04-490C-4961-8B1F-20E2317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E5EFB-D306-4BEB-B370-DAA76B1D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An automation that carries work to completion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39F3D-3ECC-4161-903B-323519F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478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Every stage has an input, an output, a failure path and an owner.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4D8CE-EB3B-4EA1-AA07-21292025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E9651-7C82-4C1C-8C8B-F772E26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8BDDE-7BC3-47ED-BF58-DC2F9C86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A8262-AC6D-4F0C-BD9C-FDE4EF13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F2044-7193-4CCC-8351-777F8BA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PDFs, audio, forms, APIs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DF2B7-DBC0-4D36-82AE-E32CC09C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DF619-F5AA-416F-B598-053E17E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E9E24-722D-40C2-87D5-C6B409E1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4221A-27A8-472D-A2EB-A339E1B1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707BD-D1D1-49C7-9D3E-9FE5D70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EXTRACT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0E3B2-76BE-418B-B569-5797111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Text, fields and entities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8D207-CF46-405D-9CDC-1E4D3FCC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BB7A0-954C-4D4C-9307-880C5B5E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91060-0DD1-405D-92BC-F909A6F7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36C3E-CEC1-4A9B-A84B-067E86A6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AFE81-66D9-4DCC-8E6B-DFD9A994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395DF-BADA-4A6F-813E-0F30CD78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Approved sources and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9E236-895E-47A3-B3C2-766B6A1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CC312-1D89-42EF-AE5C-472E2131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EB45F-D636-4E1E-A835-C20DC347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E3417-15BC-4D05-B485-9836ABE7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FEA53-3E43-42A7-BF19-131B4929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DECIDE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66DC2A-E335-4227-9686-C6B70062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Models plus deterministic rules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D77F3C-93BF-4779-BC0F-B730EC21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8C1FA-3E21-413B-900F-F793FCDF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725D4-4ED0-41DE-9458-7303583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BC53F4-16FD-4CB5-AD1B-FEC5C3B0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A0EA5-C7CB-4217-8DD3-9D504AA4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D12A17-C6AE-443A-B063-627ED75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Staff resolve exceptions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2EF9E-B528-4FDA-B480-008E427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4B18CA-008E-4A60-9165-BBC9CAF5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2DDD2-0BDA-44FF-926E-CF0EB12F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E1BBEC-2BA4-40FD-B298-8EDE8D2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F61A87-DE90-4382-9E29-4693FC04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DELIVER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F26DEF-F20C-4DF0-91F9-67606791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Records, reports or actions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4E1B9C-5F21-4B2D-A86C-3A2DBB65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055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0B06AB-6FEE-4769-AB67-18F5280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14925"/>
            <a:ext cx="1007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Built to handle retries, invalid inputs and partial failure — with state your team can see.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5F0A08-0646-40FA-89E7-F549004E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CAF963-69D5-4528-B79F-40EBDB7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633A70-A44B-4CD1-914F-2F7D8B75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5331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9BD677-2157-4503-80A9-F85E2567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WORKFLOWS WE CAN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46EBB-A59C-4805-8065-D935DC38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10C3C-5474-4232-8D83-F9B8D94C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Built around your documents, decisions and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AFBF-A4B0-43B8-9AD8-3F716A22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B2379-693D-4E7C-A30F-D87461C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B60E5-E444-4A41-B778-A4BEB476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DOCUMENT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62E11-2B45-4AF8-BD5D-DA578F6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431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PDFs, scans, forms and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B3FB5-E078-4127-BA29-B09F86DD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71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CF0FF-2E32-4916-9F32-B99CBC89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240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Validated fields, review-ready records and exception queues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01E25-CE89-4EF6-9E43-E01C483E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756D4-E31A-49A6-ACA9-8F2641D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58DD6-FD19-4AC5-9D03-EFEB9148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KNOWLEDGE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F14D8-CD5D-4555-A547-C405C76C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337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Approved internal policies and reference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44754-6FEC-427A-9BCA-ECCFDFA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623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B0B6F-5B36-4B1C-83C8-84911BAD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146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Sourced answers, reports and reusable institutional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DE87B-F3F4-4BBE-A1F2-ACEB47A8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2CD2F-E40C-421E-BF77-FF53B96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6B7A1-F128-4D4F-88E5-6C833EB0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MULTI-SYSTEM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1BB92-0C78-4422-B43D-15AD314D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243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Requests, business APIs and approval chains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C40AF-53DF-4DDB-BA5B-59313B8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1529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4938F-FD24-4CD6-83A5-B1152D3B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052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Tracked actions, recovery from partial failure and clear ownership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893F8-7850-4B3F-B886-E582616F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785FB-08CF-4124-9B3B-85AACAA2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8D96C-5F7D-441F-9696-FE4FACC5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MULTIMODAL PRODUCTION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C9E78-B5C0-43B5-9507-1F88C7E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149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Audio, notes, images and source documents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A3328-D88A-4D25-9298-8CAD233E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143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CD713-8157-4F07-AAA5-8D57ABDB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958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Multilingual text and approved visual or video 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A95A3-4B22-4DFA-9D29-9EEA93E6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01E99F-69F2-4B72-963A-280BD961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140BF-A226-4E11-9DA6-6668E9B6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932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8792be3634744"/>
          <a:srcRect xmlns:a="http://schemas.openxmlformats.org/drawingml/2006/main" l="21000" t="0" r="21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0"/>
            <a:ext cx="7067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5A3BB-41E6-43C2-ADF1-26EE7BC0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73F30-9482-41AC-BA63-2512996C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02  PRIVATE AI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1E25C-580E-4667-9B58-E675B16A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063B0-6B81-4D4B-9E31-77D469DB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524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Your AI stays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inside your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19BED-ABFB-4D79-9673-8598FC6F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10000"/>
            <a:ext cx="4238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D0DDE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0DDEB"/>
                </a:solidFill>
                <a:latin typeface="Segoe UI"/>
                <a:ea typeface="Segoe UI"/>
                <a:cs typeface="Segoe UI"/>
              </a:rPr>
              <a:t>We deploy inference, retrieval and approved model adaptation in infrastructure you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7E017-6201-48E6-B2D5-DAE9F62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86350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FC0D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FC0D3"/>
                </a:solidFill>
                <a:latin typeface="Segoe UI"/>
                <a:ea typeface="Segoe UI"/>
                <a:cs typeface="Segoe UI"/>
              </a:rPr>
              <a:t>Data paths, identity, network egress and logs are specified and tested for the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85E8B-AE6A-4EF2-8D78-3609FBB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484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PRIVATE DEPLOYMENT  /  CLIENT-SPECIFIC DESIGN</a:t>
            </a:r>
          </a:p>
        </p:txBody>
      </p:sp>
    </p:spTree>
    <p:extLst>
      <p:ext uri="{BB962C8B-B14F-4D97-AF65-F5344CB8AC3E}">
        <p14:creationId xmlns:p14="http://schemas.microsoft.com/office/powerpoint/2010/main" val="1906426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1089FA-E228-46A5-9928-D8DEC0C4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PRIVATE DEPLOYMENT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0205F-9BD8-429C-9389-0A92C12A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7782A-F52D-4F5B-950D-D69818C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 data boundary you can inspect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17F93-A2E2-494B-9950-35912FA4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907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The exact boundary is mapped to your infrastructure, access model and approved integrations.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57AB2-3CEC-49EF-B63B-F90CFC2A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381250" cy="2943225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E4C72-BCA2-4078-B3FE-1AEEA599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CLIENT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A2D2C-4BFD-4EA0-AE74-40A23789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05150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FDACC-344A-4FB8-BA71-0ED704CB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Documents and 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3A391-A431-434E-BD3D-3E10FF95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71875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4B7C4-C085-4EE8-B80F-9DCA49F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29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Internal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31AAD-9013-4A37-A9FE-091A417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38600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72933-6F74-4EE1-BDA9-9FC439E6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Approved training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341FF-7A41-48A5-A9BD-0D0978D9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05325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34532-BDB9-41F7-B06D-F5E849D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62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Policies and 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C1DA5-F74B-4505-83E3-A33EE79A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67125"/>
            <a:ext cx="485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24037-5FE8-4867-9CAA-F53AECFC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28875"/>
            <a:ext cx="5286375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4B4B2-D26F-4081-9951-D54026DC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CLIENT-CONTROLLED 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D27B7-1891-496F-817A-38D5E2A7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527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E7688-3C98-46DD-AEEA-2F04FF1B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766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MODEL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C42CC-690F-4131-A59C-01BE8AB3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623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Selected open-weight 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0851F-D487-42FD-842B-C845681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527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F9025-1A71-40C3-BCC1-0761A5F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766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PRIVATE 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B0801-314E-45A3-873E-BAEEEBC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623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Indexes and grounding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94FC9-AC9A-4AFE-AD78-E8636D88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052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1FCE7-1AE0-4B1E-ACD9-20D34F62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291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ADAPTATION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88224-F5C9-49B7-93A4-84A9D1A8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514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Approved examples and versions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70AA7-E441-47EA-AF69-5FD919A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61173-AE8A-4791-9DDC-6B907F9C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291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CONTROL PLANE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3A47F0-834E-47F7-8695-B44BF450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14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Identity, logging and rollback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0B88F-CE7D-481F-845E-F49D6F78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67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581A9-D6E8-4603-8B91-D243EE2C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28875"/>
            <a:ext cx="1952625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C13396-516D-4379-9A11-01C57A14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574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APPROVED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OUTPUTS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AA626A-F5BE-4FFC-A8CC-15E2A21B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67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Reviewed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C9E91-BF46-454B-BFE9-2F9B2DDB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671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System actions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9A22C5-7016-408B-947D-5B019EC3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672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Exportable records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EDED1-7768-410B-940B-EDAACE5C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672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Audit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62A698-888A-4697-A424-468A3E3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A2D50C-FF1C-46D9-AF9E-2E6A24E6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7054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Unapproved external model calls are blocked by policy when the agreed private boundary requires it.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A9A063-9C36-470C-A260-9A20E001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3A2F75-F893-432C-BA81-AD03079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83C2DA-7B92-4629-86E1-5E6C7E2C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13088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78AEB-F541-41B1-BB0D-9785FED4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EVALUATION AND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D7CFE-8A2E-4B4E-AE55-04759519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EA251-9E10-426C-A62C-48BED247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Quality is tested at every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4C886-BF29-409F-ABE7-B8725DD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D2534-E9B2-440B-BB2A-C0B0C423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92CC2-9CC9-4EA2-A29C-2054B858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1050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PROGRAMMATIC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2C6E0-7730-4BBB-91AF-F1CBCF17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859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Schemas, identifiers, numbers and safe state transitions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1D863-AB9D-42BC-B4FD-3A28C7E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18EC3-619D-46AA-BD22-385A5C6A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1F85B-DC1F-4FC6-804E-BC10CCE7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8607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FFBC2-C3D4-4881-BB7D-279C5541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6702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Source coverage, claim support, language rubrics and terminology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4FA40-4867-4580-9F63-C284369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4EBFF-404C-4A52-BDD3-D7DB094D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E9D3D-6B59-4C91-81CD-A1516812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671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TRAJECTORY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73BED-60A4-4F28-BD2F-4C99FDDA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480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Tool choices, arguments, loops and final system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E07F4-CCD3-4C59-B1CE-10E17684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F18D3-864A-4FD0-8951-BFBABA6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17D1E-62FF-4059-8723-02C035DD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4817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FAILURE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B8391-9F25-4409-ABED-5F025B3F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2912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Conflicts, malformed inputs, timeouts and 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92D24-B5EB-4DED-8A4C-34E51544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EF4E6-73E1-446F-ADC7-75BF6C14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2922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5B08F-EB75-427D-80B9-D8E79116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292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6C88B-A2BC-4839-8D2E-8493F3FE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01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Latency, throughput, task cost and regression after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1ED5D-1CE1-48FA-A1D1-E2B8223B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F58AC-EEA3-4420-A8FA-C599DA1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721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client sees acceptance evidence, release criteria and the rollback path.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01BEF-5475-460B-9468-3B6D8E57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83678-F1DA-402C-BD06-9A263CE7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A9FDA-8F4C-45A7-B5E9-B3521597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2627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087D6-3A39-476B-B405-84D5C268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HUMAN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AD428-BB9F-43C7-A8AE-17C22F87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39DD7-A3F1-4A55-A22E-AC7E1DE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Keep consequential decisions with your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E5D49-4C1A-4F0E-A645-5F5F1F2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811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We place approval gates where a wrong fact or outward action would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EF1C0-8E5D-4374-A8A1-817B173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4194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6FCDC-E328-4EF9-AC30-7F8CEBBA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B9227-98A4-43A6-9B5E-5968352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CORRECT THE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6BABF-9CEC-4817-85AD-EE97D8B3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289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Staff inspect extracted text, names and fields before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75065-89D7-455F-BF01-E5CF5191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09850"/>
            <a:ext cx="34194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1D094-9F82-408A-B27B-2CC4BE97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19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69DA7-6491-4932-8C4C-5F26F5A8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909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REVIEW THE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4F0C6-8400-472D-BECC-58322FEE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90975"/>
            <a:ext cx="289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The draft carries evidence, exceptions and editable output.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08BA9-C0F1-4C4C-A779-AFF71908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34194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BB9C9-0F2F-4334-A056-82F5C13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CFE6A-7DEA-4281-AB9F-B6AC4544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APPROVE THE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8EF38-A464-45FD-963A-F09382A2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90975"/>
            <a:ext cx="289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Publication or system changes follow the client’s authority rules.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85922-D5CB-469B-9C20-D310A1DB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The approval design can differ by task: staff may review every output, only exceptions, or only outward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0A0C7-1399-4F97-9C1F-F0A169C9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3ABBE-5640-48F6-A30B-341198C1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6FAF8-B6E4-4E69-8A45-5BA30AD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27683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DADC7-3B51-47AF-AB94-2AB7F73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PROOF FROM A DEMANDING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B7F17-0C9B-44DD-A177-E356E20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3C871-55F3-4B33-B738-A10FBE22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Official inputs to reviewed public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E4C8B-77B6-46DB-A39A-3E2CBF6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907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For Maharashtra Government DGIPR, HashCase built a Marathi-first platform in production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4C2A2-D3A2-4D9E-855D-724CC949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27717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022BA-A54F-4C7D-ACD7-93C0D226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SOURCE MATERIAL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2B1AE-0BDB-44D5-941B-F999DB9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956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Official notes and resolutions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8EFF2-C0EF-45E7-9AFD-9EE9621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004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Audio and scanned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92BC8-B710-4B93-9AB8-4B7A0A0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052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Video source material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778F8-BCEE-4B87-BA99-60C185FB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718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C8C92-4D70-454E-A842-C6919BDF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9825"/>
            <a:ext cx="40576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88C16-6D8B-43A9-B165-A9E3DF81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09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HASHCASE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8DC51-FC86-43AC-A1A7-7AB31A0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670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INTAKE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171CD-7D07-4799-B1D3-28BD046D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48000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E5"/>
                </a:solidFill>
                <a:latin typeface="Segoe UI"/>
                <a:ea typeface="Segoe UI"/>
                <a:cs typeface="Segoe UI"/>
              </a:rPr>
              <a:t>Extraction and entity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BDA64-FEE8-41F5-9EA8-CB61D7E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909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GROUNDING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1D715-2A6F-462E-B875-D54235F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71875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E5"/>
                </a:solidFill>
                <a:latin typeface="Segoe UI"/>
                <a:ea typeface="Segoe UI"/>
                <a:cs typeface="Segoe UI"/>
              </a:rPr>
              <a:t>Official facts, separate style references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60EF3-9727-4B1B-A792-84AAABE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148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5EA41-3DCD-4536-8A90-62527CD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95750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E5"/>
                </a:solidFill>
                <a:latin typeface="Segoe UI"/>
                <a:ea typeface="Segoe UI"/>
                <a:cs typeface="Segoe UI"/>
              </a:rPr>
              <a:t>Generation, validation and officer edits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01970-900B-4C6A-B91A-7708733F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9E4C6-5474-451A-9BBF-CE57D55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9825"/>
            <a:ext cx="2819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445F1-CE2E-402B-A3F8-56D0052B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098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REVIEWED OUTPUTS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89559B-0E0E-495F-9C49-D79B1D7D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19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Marathi articles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E752E-F1EB-49DC-8222-C7A1FED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19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Translations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FDE9A-F139-4C10-823C-613E2A1A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95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Branded creatives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A8AF8-A87C-4183-BA9E-AA5F7CE3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19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Explainer videos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1CAE5-512E-412A-B009-EFADBC42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858500" cy="676275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D9317-859E-4E84-B119-28CBA65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10448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Safeguards include tracked jobs, verified names and terminology, source checks, schema rules and officer approval.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EC5C1-7541-4B1E-9455-FCD2CFCE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15025"/>
            <a:ext cx="1072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Current DGIPR workflows use approved external AI services for several tasks. Private deployment is a separate offering.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99304-C05E-49DE-A9E8-A7EBF20C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3E9CF4-B19D-4FED-974C-721834D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42237-E592-41E5-87F6-8BCFBA2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17073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667ED-5AEF-428C-A1CF-30E6BB41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A PRACTICAL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C9401-E7D2-4860-A7DB-B6559E28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E8996-DAAE-4CEE-998C-3D9DF48D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Start with one high-value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6CB03-6B23-40F8-8772-5656DB44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We agree on the work to automate, the data boundary and the evidence required before expansion.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4E911-EF71-4941-AF50-CBB15B58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E66EF-0160-45F4-B664-52D9065C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3BF08-DBB8-4A24-97D7-E3A30A50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016D8-91B4-4F47-8CF8-E930E355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Source systems, decisions, handoffs and cost of errors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AF2E7-0FA0-4DEB-B7FC-CE982281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4C261-78A1-400E-B0C9-0277F4E4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Workflow map + acceptance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DD09F-16A9-4ED1-A182-66980DFE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C35E3-3B2C-4594-A756-D780FB39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C6D6C-842C-42FB-98C2-3CACD02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5714D-324E-4592-B3C7-48DA1E81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Intake, model, rules, review and integration in a working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DED76-84B1-4296-8236-9FED2116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4FC72-9F02-4933-B4C6-F51661BA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Usable interface + connected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75310-1FEB-4553-A4F0-C573E737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288B7-F4CF-47C3-AAA5-677F24BE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A7B13-147D-4591-B39F-89047897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AC338-63BD-40FC-8565-9B4B642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Representative and edge cases against the current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A6DE2-A77A-4721-82A7-5E967A03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F70F9-02C9-440F-A236-242E4D98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Evaluation record + failure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350BD-60CE-4DA9-A6C7-C6C122C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4FF14-AEF0-4D49-9B0B-6907A194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792E0-3A04-4C07-B539-4EE61F82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OPERATE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A3AE-71CC-458C-A244-C896415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Logging, versioning, rollback and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A6FD1-47C2-4B99-B1B3-C00BE1C9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29A69-4BD4-40CD-A120-AF3F5245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Release plan + handover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E67F8-5379-45E3-8C44-3A71AAC2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2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The outcome is a working process and a documented decision on how to scale 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539D6B-03AF-4EC1-99A6-2607331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4F071-67A9-43A4-9A8A-5AE718B4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A33C9-B685-43EF-9298-0DC8ED5F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85211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9da7a11ca4954"/>
          <a:srcRect xmlns:a="http://schemas.openxmlformats.org/drawingml/2006/main" l="24400" t="0" r="24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0"/>
            <a:ext cx="6238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07BCD-3529-4B70-A6AB-C287686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4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D6D1E-7383-40FD-A04B-53E71CB1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WHAT WE CAN BUILD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6E5AD-F9E1-497A-BC30-A4A7B619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504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Bring us one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workflow worth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fixing.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E42AD-426E-4436-8D0A-DB34B72A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D0DCE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0DCEB"/>
                </a:solidFill>
                <a:latin typeface="Segoe UI"/>
                <a:ea typeface="Segoe UI"/>
                <a:cs typeface="Segoe UI"/>
              </a:rPr>
              <a:t>We will map it, build a working pilot and prove it against your real cases.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0200113254a31"/>
          <a:stretch xmlns:a="http://schemas.openxmlformats.org/drawingml/2006/main"/>
        </p:blipFill>
        <p:spPr>
          <a:xfrm xmlns:a="http://schemas.openxmlformats.org/drawingml/2006/main">
            <a:off x="672288" y="5257800"/>
            <a:ext cx="2941674" cy="60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06CD4-9F03-486F-840D-6A60572A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taaha@hashcase.tech   ·   www.hashcase.tech</a:t>
            </a:r>
          </a:p>
        </p:txBody>
      </p:sp>
    </p:spTree>
    <p:extLst>
      <p:ext uri="{BB962C8B-B14F-4D97-AF65-F5344CB8AC3E}">
        <p14:creationId xmlns:p14="http://schemas.microsoft.com/office/powerpoint/2010/main" val="886418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2026-09-17T19:22:18.0680000Z</dcterms:created>
  <dcterms:modified xsi:type="dcterms:W3CDTF">2026-09-17T19:22:18.0680000Z</dcterms:modified>
</coreProperties>
</file>