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Open flat, no warm-up. 'We are going to talk about one visitor, one Sunday, and what the state currently does to them. Then what we would build.'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0:30–1:10. Read the quote out loud — it is theirs, not ours. Then: 'We are not here to propose a direction. You have set one. We are here with what it takes to deliver it.' Pause on the three phrases; they map exactly onto what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Fast. These are their own numbers, quoted back. The point is the dark box: scale is already there, experience is not. Do not linger — the next slide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1:35–2:30. THIS IS THE SLIDE. Tell it as a story, slowly, in the first person if you can — 'I have watched this happen.' Land hard on step 4 and then stop talking for two seconds. Everyone in that room has either had this day or heard about it. Do not defend the fare figures if challenged — say the structure is the point and we are confirming amounts with SGNP and 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2:30–3:05. Don't read all four. Say 1 and 2 quickly, spend your time on 4 — the department has no instrument that registers a failed visit. If an officer pushes back on any of 1–3, concede fast and return to 4; it is the unarguable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3:05–3:30. Purpose of this slide is scale — Kanheri was not a one-off anecdote. Move through it briskly, one line per quadrant. Land the closing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3:30–3:40. Transition. Say the sentence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3:40–4:00. Four words: plans, pays, promotes, answers. Say them and let the slide do the rest. Flag the last line — you will return to it on the 'why not a chatbot'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4:00–4:40. Two columns: what it asks, what it gives. The fifth item on the right — warnings — is the one that matters to the department politically. Close by tying back to Kanheri.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4:40–5:20. Before/after is the whole slide. The two notes at the bottom are for the officer who is thinking about money and about Lonavala — pre-issued tickets are how you cap a site. The ASI/ONDC footnote answers 'can you even integrate with ASI'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5:20–6:00. Do not call these 'discounts' in the room — call them demand management. Lever 2 is the one that matters to them: the whole policy problem is that everyone goes to six places. The dark bar answers the marketing budget question — they currently cannot prove a campaign worked. Close on the last line before anyone worries we are setting government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6:00–6:40. Read two of the four aloud, not all four. This slide is the answer to the question every officer is silently asking — 'why not just use ChatGPT'. Do not say that phrase yourself yet; the next slide names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6:40–7:20. This is the engineering credibility slide — it shows we have thought past the demo. If asked about handhelds at gates, say the pass verifies on any Android phone and we would confirm device availability site by site. Close on the Kanheri callback.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7:20–8:05. Name the objection out loud here: 'Someone will ask why this isn't just ChatGPT.' Then walk the right column only. The closing line is the single most important sentence in the deck —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8:05–8:40. Read top to bottom. The third layer is the point — we are not building a new database, we are reading the ones they have. The dark bar is the governance answer; say it as one breath and do not elaborate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8:40–9:10. Handle honestly. Say: 'Two Goan dailies reported this in July. We have not seen the document and we do not know where it stands today — but the direction is on the record.' If an officer knows more about Goa than we do, that is fine; the footnote has already conceded the limit of our knowledge. Do not oversell. The comparison of the two FTV numbers is the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9:10–10:00. Four things, then the Kanheri line, then stop. Do not ask for anything — no budget request, no pilot request, no list of what we need from them. End on the sentence and let them speak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Turn to these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offline ticketing can possibly be secure. The last line is deliberate — concede the limit before they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is under the hood. Never quote a fixed GPU count — say the node count follows benchmarking.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we actually need to plug into. Be candid that ASI and Forest Department consent is the long pole.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Remove or hide before the deck leaves the building. This is our own honesty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Officers check sources, and having them on a slide is worth more than having them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320040"/>
          </a:xfrm>
          <a:prstGeom prst="rect">
            <a:avLst/>
          </a:prstGeom>
          <a:noFill/>
          <a:ln/>
        </p:spPr>
        <p:txBody>
          <a:bodyPr wrap="square" lIns="0" tIns="0" rIns="0" bIns="0" rtlCol="0" anchor="ctr"/>
          <a:lstStyle/>
          <a:p>
            <a:pPr indent="0" marL="0">
              <a:buNone/>
            </a:pPr>
            <a:r>
              <a:rPr lang="en-US" sz="1400" b="1" spc="200" kern="0" dirty="0">
                <a:solidFill>
                  <a:srgbClr val="C1502E"/>
                </a:solidFill>
                <a:latin typeface="Calibri" pitchFamily="34" charset="0"/>
                <a:ea typeface="Calibri" pitchFamily="34" charset="-122"/>
                <a:cs typeface="Calibri" pitchFamily="34" charset="-120"/>
              </a:rPr>
              <a:t>INCEPTHINK LLP  ·  FOR THE DIRECTORATE OF TOURISM, GOVERNMENT OF MAHARASHTRA</a:t>
            </a:r>
            <a:endParaRPr lang="en-US" sz="1400" dirty="0"/>
          </a:p>
        </p:txBody>
      </p:sp>
      <p:sp>
        <p:nvSpPr>
          <p:cNvPr id="3" name="Text 1"/>
          <p:cNvSpPr txBox="1"/>
          <p:nvPr/>
        </p:nvSpPr>
        <p:spPr>
          <a:xfrm>
            <a:off x="822960" y="1828800"/>
            <a:ext cx="10241280" cy="182880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One app for the</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Maharashtra visitor</a:t>
            </a:r>
            <a:endParaRPr lang="en-US" sz="4400" dirty="0"/>
          </a:p>
        </p:txBody>
      </p:sp>
      <p:sp>
        <p:nvSpPr>
          <p:cNvPr id="4" name="Text 2"/>
          <p:cNvSpPr txBox="1"/>
          <p:nvPr/>
        </p:nvSpPr>
        <p:spPr>
          <a:xfrm>
            <a:off x="822960" y="3794760"/>
            <a:ext cx="9601200" cy="822960"/>
          </a:xfrm>
          <a:prstGeom prst="rect">
            <a:avLst/>
          </a:prstGeom>
          <a:noFill/>
          <a:ln/>
        </p:spPr>
        <p:txBody>
          <a:bodyPr wrap="square" lIns="0" tIns="0" rIns="0" bIns="0" rtlCol="0" anchor="ctr"/>
          <a:lstStyle/>
          <a:p>
            <a:pPr indent="0" marL="0">
              <a:lnSpc>
                <a:spcPts val="2600"/>
              </a:lnSpc>
              <a:buNone/>
            </a:pPr>
            <a:r>
              <a:rPr lang="en-US" sz="1700" dirty="0">
                <a:solidFill>
                  <a:srgbClr val="E8EDF2"/>
                </a:solidFill>
                <a:latin typeface="Calibri" pitchFamily="34" charset="0"/>
                <a:ea typeface="Calibri" pitchFamily="34" charset="-122"/>
                <a:cs typeface="Calibri" pitchFamily="34" charset="-120"/>
              </a:rPr>
              <a:t>Plan the trip. Pay for every ticket once. Ask anything, and get today's answer —</a:t>
            </a:r>
            <a:endParaRPr lang="en-US" sz="1700" dirty="0"/>
          </a:p>
          <a:p>
            <a:pPr indent="0" marL="0">
              <a:lnSpc>
                <a:spcPts val="2600"/>
              </a:lnSpc>
              <a:buNone/>
            </a:pPr>
            <a:r>
              <a:rPr lang="en-US" sz="1700" dirty="0">
                <a:solidFill>
                  <a:srgbClr val="E8EDF2"/>
                </a:solidFill>
                <a:latin typeface="Calibri" pitchFamily="34" charset="0"/>
                <a:ea typeface="Calibri" pitchFamily="34" charset="-122"/>
                <a:cs typeface="Calibri" pitchFamily="34" charset="-120"/>
              </a:rPr>
              <a:t>even where there is no network.</a:t>
            </a:r>
            <a:endParaRPr lang="en-US" sz="1700" dirty="0"/>
          </a:p>
        </p:txBody>
      </p:sp>
      <p:sp>
        <p:nvSpPr>
          <p:cNvPr id="5" name="Text 3"/>
          <p:cNvSpPr txBox="1"/>
          <p:nvPr/>
        </p:nvSpPr>
        <p:spPr>
          <a:xfrm>
            <a:off x="822960" y="5943600"/>
            <a:ext cx="10515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The department has already named the direction</a:t>
            </a:r>
            <a:endParaRPr lang="en-US" sz="3200" dirty="0"/>
          </a:p>
        </p:txBody>
      </p:sp>
      <p:sp>
        <p:nvSpPr>
          <p:cNvPr id="3" name="Shape 1"/>
          <p:cNvSpPr/>
          <p:nvPr/>
        </p:nvSpPr>
        <p:spPr>
          <a:xfrm>
            <a:off x="640080" y="1417320"/>
            <a:ext cx="10972800" cy="2148840"/>
          </a:xfrm>
          <a:prstGeom prst="roundRect">
            <a:avLst>
              <a:gd name="adj" fmla="val 3404"/>
            </a:avLst>
          </a:prstGeom>
          <a:solidFill>
            <a:srgbClr val="F2F4F6"/>
          </a:solidFill>
          <a:ln w="9525">
            <a:solidFill>
              <a:srgbClr val="D8DEE4"/>
            </a:solidFill>
            <a:prstDash val="solid"/>
          </a:ln>
        </p:spPr>
      </p:sp>
      <p:sp>
        <p:nvSpPr>
          <p:cNvPr id="4" name="Text 2"/>
          <p:cNvSpPr txBox="1"/>
          <p:nvPr/>
        </p:nvSpPr>
        <p:spPr>
          <a:xfrm>
            <a:off x="1051560" y="1691640"/>
            <a:ext cx="10149840" cy="1371600"/>
          </a:xfrm>
          <a:prstGeom prst="rect">
            <a:avLst/>
          </a:prstGeom>
          <a:noFill/>
          <a:ln/>
        </p:spPr>
        <p:txBody>
          <a:bodyPr wrap="square" lIns="0" tIns="0" rIns="0" bIns="0" rtlCol="0" anchor="ctr"/>
          <a:lstStyle/>
          <a:p>
            <a:pPr indent="0" marL="0">
              <a:lnSpc>
                <a:spcPts val="3200"/>
              </a:lnSpc>
              <a:buNone/>
            </a:pPr>
            <a:r>
              <a:rPr lang="en-US" sz="2100" i="1" dirty="0">
                <a:solidFill>
                  <a:srgbClr val="1B2A41"/>
                </a:solidFill>
                <a:latin typeface="Cambria" pitchFamily="34" charset="0"/>
                <a:ea typeface="Cambria" pitchFamily="34" charset="-122"/>
                <a:cs typeface="Cambria" pitchFamily="34" charset="-120"/>
              </a:rPr>
              <a:t>"Technology and AI are helping us bring these experiences closer to travellers through personalised travel planning, seamless digital access, and immersive storytelling."</a:t>
            </a:r>
            <a:endParaRPr lang="en-US" sz="2100" dirty="0"/>
          </a:p>
        </p:txBody>
      </p:sp>
      <p:sp>
        <p:nvSpPr>
          <p:cNvPr id="5" name="Text 3"/>
          <p:cNvSpPr txBox="1"/>
          <p:nvPr/>
        </p:nvSpPr>
        <p:spPr>
          <a:xfrm>
            <a:off x="1051560" y="3035808"/>
            <a:ext cx="10149840" cy="5029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Chandrashekhar Jaiswal, General Manager, Department of Tourism, Government of Maharashtra</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ImagiNxt 2026, Jio World Convention Centre, Mumbai — 22 May 2026</a:t>
            </a:r>
            <a:endParaRPr lang="en-US" sz="1200" dirty="0"/>
          </a:p>
        </p:txBody>
      </p:sp>
      <p:sp>
        <p:nvSpPr>
          <p:cNvPr id="6" name="Shape 4"/>
          <p:cNvSpPr/>
          <p:nvPr/>
        </p:nvSpPr>
        <p:spPr>
          <a:xfrm>
            <a:off x="640080" y="3977640"/>
            <a:ext cx="457200" cy="457200"/>
          </a:xfrm>
          <a:prstGeom prst="ellipse">
            <a:avLst/>
          </a:prstGeom>
          <a:solidFill>
            <a:srgbClr val="C1502E"/>
          </a:solidFill>
          <a:ln/>
        </p:spPr>
      </p:sp>
      <p:sp>
        <p:nvSpPr>
          <p:cNvPr id="7" name="Text 5"/>
          <p:cNvSpPr txBox="1"/>
          <p:nvPr/>
        </p:nvSpPr>
        <p:spPr>
          <a:xfrm>
            <a:off x="640080" y="3977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261872" y="4005072"/>
            <a:ext cx="2926080" cy="411480"/>
          </a:xfrm>
          <a:prstGeom prst="rect">
            <a:avLst/>
          </a:prstGeom>
          <a:noFill/>
          <a:ln/>
        </p:spPr>
        <p:txBody>
          <a:bodyPr wrap="square" lIns="0" tIns="0" rIns="0" bIns="0" rtlCol="0" anchor="ctr"/>
          <a:lstStyle/>
          <a:p>
            <a:pPr indent="0" marL="0">
              <a:buNone/>
            </a:pPr>
            <a:r>
              <a:rPr lang="en-US" sz="1450" b="1" dirty="0">
                <a:solidFill>
                  <a:srgbClr val="1B2A41"/>
                </a:solidFill>
                <a:latin typeface="Calibri" pitchFamily="34" charset="0"/>
                <a:ea typeface="Calibri" pitchFamily="34" charset="-122"/>
                <a:cs typeface="Calibri" pitchFamily="34" charset="-120"/>
              </a:rPr>
              <a:t>Personalised travel planning</a:t>
            </a:r>
            <a:endParaRPr lang="en-US" sz="1450" dirty="0"/>
          </a:p>
        </p:txBody>
      </p:sp>
      <p:sp>
        <p:nvSpPr>
          <p:cNvPr id="9" name="Text 7"/>
          <p:cNvSpPr txBox="1"/>
          <p:nvPr/>
        </p:nvSpPr>
        <p:spPr>
          <a:xfrm>
            <a:off x="640080" y="4462272"/>
            <a:ext cx="3429000" cy="91440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An itinerary built around who the visitor actually is</a:t>
            </a:r>
            <a:endParaRPr lang="en-US" sz="1300" dirty="0"/>
          </a:p>
        </p:txBody>
      </p:sp>
      <p:sp>
        <p:nvSpPr>
          <p:cNvPr id="10" name="Shape 8"/>
          <p:cNvSpPr/>
          <p:nvPr/>
        </p:nvSpPr>
        <p:spPr>
          <a:xfrm>
            <a:off x="4361688" y="3977640"/>
            <a:ext cx="457200" cy="457200"/>
          </a:xfrm>
          <a:prstGeom prst="ellipse">
            <a:avLst/>
          </a:prstGeom>
          <a:solidFill>
            <a:srgbClr val="C1502E"/>
          </a:solidFill>
          <a:ln/>
        </p:spPr>
      </p:sp>
      <p:sp>
        <p:nvSpPr>
          <p:cNvPr id="11" name="Text 9"/>
          <p:cNvSpPr txBox="1"/>
          <p:nvPr/>
        </p:nvSpPr>
        <p:spPr>
          <a:xfrm>
            <a:off x="4361688" y="3977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4983480" y="4005072"/>
            <a:ext cx="2926080" cy="411480"/>
          </a:xfrm>
          <a:prstGeom prst="rect">
            <a:avLst/>
          </a:prstGeom>
          <a:noFill/>
          <a:ln/>
        </p:spPr>
        <p:txBody>
          <a:bodyPr wrap="square" lIns="0" tIns="0" rIns="0" bIns="0" rtlCol="0" anchor="ctr"/>
          <a:lstStyle/>
          <a:p>
            <a:pPr indent="0" marL="0">
              <a:buNone/>
            </a:pPr>
            <a:r>
              <a:rPr lang="en-US" sz="1450" b="1" dirty="0">
                <a:solidFill>
                  <a:srgbClr val="1B2A41"/>
                </a:solidFill>
                <a:latin typeface="Calibri" pitchFamily="34" charset="0"/>
                <a:ea typeface="Calibri" pitchFamily="34" charset="-122"/>
                <a:cs typeface="Calibri" pitchFamily="34" charset="-120"/>
              </a:rPr>
              <a:t>Seamless digital access</a:t>
            </a:r>
            <a:endParaRPr lang="en-US" sz="1450" dirty="0"/>
          </a:p>
        </p:txBody>
      </p:sp>
      <p:sp>
        <p:nvSpPr>
          <p:cNvPr id="13" name="Text 11"/>
          <p:cNvSpPr txBox="1"/>
          <p:nvPr/>
        </p:nvSpPr>
        <p:spPr>
          <a:xfrm>
            <a:off x="4361688" y="4462272"/>
            <a:ext cx="3429000" cy="91440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One payment for a trip that today needs three counters</a:t>
            </a:r>
            <a:endParaRPr lang="en-US" sz="1300" dirty="0"/>
          </a:p>
        </p:txBody>
      </p:sp>
      <p:sp>
        <p:nvSpPr>
          <p:cNvPr id="14" name="Shape 12"/>
          <p:cNvSpPr/>
          <p:nvPr/>
        </p:nvSpPr>
        <p:spPr>
          <a:xfrm>
            <a:off x="8083296" y="3977640"/>
            <a:ext cx="457200" cy="457200"/>
          </a:xfrm>
          <a:prstGeom prst="ellipse">
            <a:avLst/>
          </a:prstGeom>
          <a:solidFill>
            <a:srgbClr val="C1502E"/>
          </a:solidFill>
          <a:ln/>
        </p:spPr>
      </p:sp>
      <p:sp>
        <p:nvSpPr>
          <p:cNvPr id="15" name="Text 13"/>
          <p:cNvSpPr txBox="1"/>
          <p:nvPr/>
        </p:nvSpPr>
        <p:spPr>
          <a:xfrm>
            <a:off x="8083296" y="3977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705088" y="4005072"/>
            <a:ext cx="2926080" cy="411480"/>
          </a:xfrm>
          <a:prstGeom prst="rect">
            <a:avLst/>
          </a:prstGeom>
          <a:noFill/>
          <a:ln/>
        </p:spPr>
        <p:txBody>
          <a:bodyPr wrap="square" lIns="0" tIns="0" rIns="0" bIns="0" rtlCol="0" anchor="ctr"/>
          <a:lstStyle/>
          <a:p>
            <a:pPr indent="0" marL="0">
              <a:buNone/>
            </a:pPr>
            <a:r>
              <a:rPr lang="en-US" sz="1450" b="1" dirty="0">
                <a:solidFill>
                  <a:srgbClr val="1B2A41"/>
                </a:solidFill>
                <a:latin typeface="Calibri" pitchFamily="34" charset="0"/>
                <a:ea typeface="Calibri" pitchFamily="34" charset="-122"/>
                <a:cs typeface="Calibri" pitchFamily="34" charset="-120"/>
              </a:rPr>
              <a:t>Immersive storytelling</a:t>
            </a:r>
            <a:endParaRPr lang="en-US" sz="1450" dirty="0"/>
          </a:p>
        </p:txBody>
      </p:sp>
      <p:sp>
        <p:nvSpPr>
          <p:cNvPr id="17" name="Text 15"/>
          <p:cNvSpPr txBox="1"/>
          <p:nvPr/>
        </p:nvSpPr>
        <p:spPr>
          <a:xfrm>
            <a:off x="8083296" y="4462272"/>
            <a:ext cx="3429000" cy="91440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Every site explained, in the visitor's own language</a:t>
            </a:r>
            <a:endParaRPr lang="en-US" sz="1300" dirty="0"/>
          </a:p>
        </p:txBody>
      </p:sp>
      <p:sp>
        <p:nvSpPr>
          <p:cNvPr id="18" name="Text 16"/>
          <p:cNvSpPr txBox="1"/>
          <p:nvPr/>
        </p:nvSpPr>
        <p:spPr>
          <a:xfrm>
            <a:off x="640080" y="5669280"/>
            <a:ext cx="10972800" cy="365760"/>
          </a:xfrm>
          <a:prstGeom prst="rect">
            <a:avLst/>
          </a:prstGeom>
          <a:noFill/>
          <a:ln/>
        </p:spPr>
        <p:txBody>
          <a:bodyPr wrap="square" lIns="0" tIns="0" rIns="0" bIns="0" rtlCol="0" anchor="ctr"/>
          <a:lstStyle/>
          <a:p>
            <a:pPr indent="0" marL="0">
              <a:buNone/>
            </a:pPr>
            <a:r>
              <a:rPr lang="en-US" sz="1400" b="1" dirty="0">
                <a:solidFill>
                  <a:srgbClr val="C1502E"/>
                </a:solidFill>
                <a:latin typeface="Calibri" pitchFamily="34" charset="0"/>
                <a:ea typeface="Calibri" pitchFamily="34" charset="-122"/>
                <a:cs typeface="Calibri" pitchFamily="34" charset="-120"/>
              </a:rPr>
              <a:t>This deck is the third phrase made real — and the first two made possible.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Maharashtra has the most to gain — and the most to lose</a:t>
            </a:r>
            <a:endParaRPr lang="en-US" sz="3200" dirty="0"/>
          </a:p>
        </p:txBody>
      </p:sp>
      <p:sp>
        <p:nvSpPr>
          <p:cNvPr id="3" name="Shape 1"/>
          <p:cNvSpPr/>
          <p:nvPr/>
        </p:nvSpPr>
        <p:spPr>
          <a:xfrm>
            <a:off x="640080" y="1600200"/>
            <a:ext cx="2606040" cy="2011680"/>
          </a:xfrm>
          <a:prstGeom prst="roundRect">
            <a:avLst>
              <a:gd name="adj" fmla="val 3636"/>
            </a:avLst>
          </a:prstGeom>
          <a:solidFill>
            <a:srgbClr val="F2F4F6"/>
          </a:solidFill>
          <a:ln w="9525">
            <a:solidFill>
              <a:srgbClr val="D8DEE4"/>
            </a:solidFill>
            <a:prstDash val="solid"/>
          </a:ln>
        </p:spPr>
      </p:sp>
      <p:sp>
        <p:nvSpPr>
          <p:cNvPr id="4" name="Text 2"/>
          <p:cNvSpPr txBox="1"/>
          <p:nvPr/>
        </p:nvSpPr>
        <p:spPr>
          <a:xfrm>
            <a:off x="896112" y="1828800"/>
            <a:ext cx="2148840" cy="777240"/>
          </a:xfrm>
          <a:prstGeom prst="rect">
            <a:avLst/>
          </a:prstGeom>
          <a:noFill/>
          <a:ln/>
        </p:spPr>
        <p:txBody>
          <a:bodyPr wrap="square" lIns="0" tIns="0" rIns="0" bIns="0" rtlCol="0" anchor="ctr"/>
          <a:lstStyle/>
          <a:p>
            <a:pPr indent="0" marL="0">
              <a:buNone/>
            </a:pPr>
            <a:r>
              <a:rPr lang="en-US" sz="3800" b="1" dirty="0">
                <a:solidFill>
                  <a:srgbClr val="C1502E"/>
                </a:solidFill>
                <a:latin typeface="Cambria" pitchFamily="34" charset="0"/>
                <a:ea typeface="Cambria" pitchFamily="34" charset="-122"/>
                <a:cs typeface="Cambria" pitchFamily="34" charset="-120"/>
              </a:rPr>
              <a:t>3.71 M</a:t>
            </a:r>
            <a:endParaRPr lang="en-US" sz="3800" dirty="0"/>
          </a:p>
        </p:txBody>
      </p:sp>
      <p:sp>
        <p:nvSpPr>
          <p:cNvPr id="5" name="Text 3"/>
          <p:cNvSpPr txBox="1"/>
          <p:nvPr/>
        </p:nvSpPr>
        <p:spPr>
          <a:xfrm>
            <a:off x="896112" y="2606040"/>
            <a:ext cx="2148840" cy="685800"/>
          </a:xfrm>
          <a:prstGeom prst="rect">
            <a:avLst/>
          </a:prstGeom>
          <a:noFill/>
          <a:ln/>
        </p:spPr>
        <p:txBody>
          <a:bodyPr wrap="square" lIns="0" tIns="0" rIns="0" bIns="0" rtlCol="0" anchor="ctr"/>
          <a:lstStyle/>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Foreign tourist visits, 2024 —</a:t>
            </a:r>
            <a:endParaRPr lang="en-US" sz="1300" dirty="0"/>
          </a:p>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rank 1 in India, ~17.7% of all FTVs</a:t>
            </a:r>
            <a:endParaRPr lang="en-US" sz="1300" dirty="0"/>
          </a:p>
        </p:txBody>
      </p:sp>
      <p:sp>
        <p:nvSpPr>
          <p:cNvPr id="6" name="Shape 4"/>
          <p:cNvSpPr/>
          <p:nvPr/>
        </p:nvSpPr>
        <p:spPr>
          <a:xfrm>
            <a:off x="3474720" y="1600200"/>
            <a:ext cx="2606040" cy="2011680"/>
          </a:xfrm>
          <a:prstGeom prst="roundRect">
            <a:avLst>
              <a:gd name="adj" fmla="val 3636"/>
            </a:avLst>
          </a:prstGeom>
          <a:solidFill>
            <a:srgbClr val="F2F4F6"/>
          </a:solidFill>
          <a:ln w="9525">
            <a:solidFill>
              <a:srgbClr val="D8DEE4"/>
            </a:solidFill>
            <a:prstDash val="solid"/>
          </a:ln>
        </p:spPr>
      </p:sp>
      <p:sp>
        <p:nvSpPr>
          <p:cNvPr id="7" name="Text 5"/>
          <p:cNvSpPr txBox="1"/>
          <p:nvPr/>
        </p:nvSpPr>
        <p:spPr>
          <a:xfrm>
            <a:off x="3730752" y="1828800"/>
            <a:ext cx="2148840" cy="777240"/>
          </a:xfrm>
          <a:prstGeom prst="rect">
            <a:avLst/>
          </a:prstGeom>
          <a:noFill/>
          <a:ln/>
        </p:spPr>
        <p:txBody>
          <a:bodyPr wrap="square" lIns="0" tIns="0" rIns="0" bIns="0" rtlCol="0" anchor="ctr"/>
          <a:lstStyle/>
          <a:p>
            <a:pPr indent="0" marL="0">
              <a:buNone/>
            </a:pPr>
            <a:r>
              <a:rPr lang="en-US" sz="2800" b="1" dirty="0">
                <a:solidFill>
                  <a:srgbClr val="2E7D74"/>
                </a:solidFill>
                <a:latin typeface="Cambria" pitchFamily="34" charset="0"/>
                <a:ea typeface="Cambria" pitchFamily="34" charset="-122"/>
                <a:cs typeface="Cambria" pitchFamily="34" charset="-120"/>
              </a:rPr>
              <a:t>₹1 lakh cr</a:t>
            </a:r>
            <a:endParaRPr lang="en-US" sz="2800" dirty="0"/>
          </a:p>
        </p:txBody>
      </p:sp>
      <p:sp>
        <p:nvSpPr>
          <p:cNvPr id="8" name="Text 6"/>
          <p:cNvSpPr txBox="1"/>
          <p:nvPr/>
        </p:nvSpPr>
        <p:spPr>
          <a:xfrm>
            <a:off x="3730752" y="2606040"/>
            <a:ext cx="2148840" cy="685800"/>
          </a:xfrm>
          <a:prstGeom prst="rect">
            <a:avLst/>
          </a:prstGeom>
          <a:noFill/>
          <a:ln/>
        </p:spPr>
        <p:txBody>
          <a:bodyPr wrap="square" lIns="0" tIns="0" rIns="0" bIns="0" rtlCol="0" anchor="ctr"/>
          <a:lstStyle/>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Private investment targeted</a:t>
            </a:r>
            <a:endParaRPr lang="en-US" sz="1300" dirty="0"/>
          </a:p>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under Tourism Policy 2024</a:t>
            </a:r>
            <a:endParaRPr lang="en-US" sz="1300" dirty="0"/>
          </a:p>
        </p:txBody>
      </p:sp>
      <p:sp>
        <p:nvSpPr>
          <p:cNvPr id="9" name="Shape 7"/>
          <p:cNvSpPr/>
          <p:nvPr/>
        </p:nvSpPr>
        <p:spPr>
          <a:xfrm>
            <a:off x="6309360" y="1600200"/>
            <a:ext cx="2606040" cy="2011680"/>
          </a:xfrm>
          <a:prstGeom prst="roundRect">
            <a:avLst>
              <a:gd name="adj" fmla="val 3636"/>
            </a:avLst>
          </a:prstGeom>
          <a:solidFill>
            <a:srgbClr val="F2F4F6"/>
          </a:solidFill>
          <a:ln w="9525">
            <a:solidFill>
              <a:srgbClr val="D8DEE4"/>
            </a:solidFill>
            <a:prstDash val="solid"/>
          </a:ln>
        </p:spPr>
      </p:sp>
      <p:sp>
        <p:nvSpPr>
          <p:cNvPr id="10" name="Text 8"/>
          <p:cNvSpPr txBox="1"/>
          <p:nvPr/>
        </p:nvSpPr>
        <p:spPr>
          <a:xfrm>
            <a:off x="6565392" y="1828800"/>
            <a:ext cx="2148840" cy="777240"/>
          </a:xfrm>
          <a:prstGeom prst="rect">
            <a:avLst/>
          </a:prstGeom>
          <a:noFill/>
          <a:ln/>
        </p:spPr>
        <p:txBody>
          <a:bodyPr wrap="square" lIns="0" tIns="0" rIns="0" bIns="0" rtlCol="0" anchor="ctr"/>
          <a:lstStyle/>
          <a:p>
            <a:pPr indent="0" marL="0">
              <a:buNone/>
            </a:pPr>
            <a:r>
              <a:rPr lang="en-US" sz="3800" b="1" dirty="0">
                <a:solidFill>
                  <a:srgbClr val="2E7D74"/>
                </a:solidFill>
                <a:latin typeface="Cambria" pitchFamily="34" charset="0"/>
                <a:ea typeface="Cambria" pitchFamily="34" charset="-122"/>
                <a:cs typeface="Cambria" pitchFamily="34" charset="-120"/>
              </a:rPr>
              <a:t>18 lakh</a:t>
            </a:r>
            <a:endParaRPr lang="en-US" sz="3800" dirty="0"/>
          </a:p>
        </p:txBody>
      </p:sp>
      <p:sp>
        <p:nvSpPr>
          <p:cNvPr id="11" name="Text 9"/>
          <p:cNvSpPr txBox="1"/>
          <p:nvPr/>
        </p:nvSpPr>
        <p:spPr>
          <a:xfrm>
            <a:off x="6565392" y="2606040"/>
            <a:ext cx="2148840" cy="685800"/>
          </a:xfrm>
          <a:prstGeom prst="rect">
            <a:avLst/>
          </a:prstGeom>
          <a:noFill/>
          <a:ln/>
        </p:spPr>
        <p:txBody>
          <a:bodyPr wrap="square" lIns="0" tIns="0" rIns="0" bIns="0" rtlCol="0" anchor="ctr"/>
          <a:lstStyle/>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Direct and indirect jobs</a:t>
            </a:r>
            <a:endParaRPr lang="en-US" sz="1300" dirty="0"/>
          </a:p>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targeted over the decade</a:t>
            </a:r>
            <a:endParaRPr lang="en-US" sz="1300" dirty="0"/>
          </a:p>
        </p:txBody>
      </p:sp>
      <p:sp>
        <p:nvSpPr>
          <p:cNvPr id="12" name="Shape 10"/>
          <p:cNvSpPr/>
          <p:nvPr/>
        </p:nvSpPr>
        <p:spPr>
          <a:xfrm>
            <a:off x="9144000" y="1600200"/>
            <a:ext cx="2606040" cy="2011680"/>
          </a:xfrm>
          <a:prstGeom prst="roundRect">
            <a:avLst>
              <a:gd name="adj" fmla="val 3636"/>
            </a:avLst>
          </a:prstGeom>
          <a:solidFill>
            <a:srgbClr val="F2F4F6"/>
          </a:solidFill>
          <a:ln w="9525">
            <a:solidFill>
              <a:srgbClr val="D8DEE4"/>
            </a:solidFill>
            <a:prstDash val="solid"/>
          </a:ln>
        </p:spPr>
      </p:sp>
      <p:sp>
        <p:nvSpPr>
          <p:cNvPr id="13" name="Text 11"/>
          <p:cNvSpPr txBox="1"/>
          <p:nvPr/>
        </p:nvSpPr>
        <p:spPr>
          <a:xfrm>
            <a:off x="9400032" y="1828800"/>
            <a:ext cx="2148840" cy="777240"/>
          </a:xfrm>
          <a:prstGeom prst="rect">
            <a:avLst/>
          </a:prstGeom>
          <a:noFill/>
          <a:ln/>
        </p:spPr>
        <p:txBody>
          <a:bodyPr wrap="square" lIns="0" tIns="0" rIns="0" bIns="0" rtlCol="0" anchor="ctr"/>
          <a:lstStyle/>
          <a:p>
            <a:pPr indent="0" marL="0">
              <a:buNone/>
            </a:pPr>
            <a:r>
              <a:rPr lang="en-US" sz="3300" b="1" dirty="0">
                <a:solidFill>
                  <a:srgbClr val="C1502E"/>
                </a:solidFill>
                <a:latin typeface="Cambria" pitchFamily="34" charset="0"/>
                <a:ea typeface="Cambria" pitchFamily="34" charset="-122"/>
                <a:cs typeface="Cambria" pitchFamily="34" charset="-120"/>
              </a:rPr>
              <a:t>12 forts</a:t>
            </a:r>
            <a:endParaRPr lang="en-US" sz="3300" dirty="0"/>
          </a:p>
        </p:txBody>
      </p:sp>
      <p:sp>
        <p:nvSpPr>
          <p:cNvPr id="14" name="Text 12"/>
          <p:cNvSpPr txBox="1"/>
          <p:nvPr/>
        </p:nvSpPr>
        <p:spPr>
          <a:xfrm>
            <a:off x="9400032" y="2606040"/>
            <a:ext cx="2148840" cy="685800"/>
          </a:xfrm>
          <a:prstGeom prst="rect">
            <a:avLst/>
          </a:prstGeom>
          <a:noFill/>
          <a:ln/>
        </p:spPr>
        <p:txBody>
          <a:bodyPr wrap="square" lIns="0" tIns="0" rIns="0" bIns="0" rtlCol="0" anchor="ctr"/>
          <a:lstStyle/>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Maratha Military Landscapes,</a:t>
            </a:r>
            <a:endParaRPr lang="en-US" sz="1300" dirty="0"/>
          </a:p>
          <a:p>
            <a:pPr indent="0" marL="0">
              <a:lnSpc>
                <a:spcPts val="1700"/>
              </a:lnSpc>
              <a:buNone/>
            </a:pPr>
            <a:r>
              <a:rPr lang="en-US" sz="1300" dirty="0">
                <a:solidFill>
                  <a:srgbClr val="2E4057"/>
                </a:solidFill>
                <a:latin typeface="Calibri" pitchFamily="34" charset="0"/>
                <a:ea typeface="Calibri" pitchFamily="34" charset="-122"/>
                <a:cs typeface="Calibri" pitchFamily="34" charset="-120"/>
              </a:rPr>
              <a:t>UNESCO World Heritage, July 2025</a:t>
            </a:r>
            <a:endParaRPr lang="en-US" sz="1300" dirty="0"/>
          </a:p>
        </p:txBody>
      </p:sp>
      <p:sp>
        <p:nvSpPr>
          <p:cNvPr id="15" name="Shape 13"/>
          <p:cNvSpPr/>
          <p:nvPr/>
        </p:nvSpPr>
        <p:spPr>
          <a:xfrm>
            <a:off x="640080" y="3977640"/>
            <a:ext cx="10972800" cy="1691640"/>
          </a:xfrm>
          <a:prstGeom prst="roundRect">
            <a:avLst>
              <a:gd name="adj" fmla="val 4324"/>
            </a:avLst>
          </a:prstGeom>
          <a:solidFill>
            <a:srgbClr val="1B2A41"/>
          </a:solidFill>
          <a:ln w="9525">
            <a:solidFill>
              <a:srgbClr val="D8DEE4"/>
            </a:solidFill>
            <a:prstDash val="solid"/>
          </a:ln>
        </p:spPr>
      </p:sp>
      <p:sp>
        <p:nvSpPr>
          <p:cNvPr id="16" name="Text 14"/>
          <p:cNvSpPr txBox="1"/>
          <p:nvPr/>
        </p:nvSpPr>
        <p:spPr>
          <a:xfrm>
            <a:off x="1051560" y="4251960"/>
            <a:ext cx="101498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Every one of those numbers depends on the visitor having a good day.</a:t>
            </a:r>
            <a:endParaRPr lang="en-US" sz="2200" dirty="0"/>
          </a:p>
        </p:txBody>
      </p:sp>
      <p:sp>
        <p:nvSpPr>
          <p:cNvPr id="17" name="Text 15"/>
          <p:cNvSpPr txBox="1"/>
          <p:nvPr/>
        </p:nvSpPr>
        <p:spPr>
          <a:xfrm>
            <a:off x="1051560" y="4800600"/>
            <a:ext cx="10149840" cy="731520"/>
          </a:xfrm>
          <a:prstGeom prst="rect">
            <a:avLst/>
          </a:prstGeom>
          <a:noFill/>
          <a:ln/>
        </p:spPr>
        <p:txBody>
          <a:bodyPr wrap="square" lIns="0" tIns="0" rIns="0" bIns="0" rtlCol="0" anchor="ctr"/>
          <a:lstStyle/>
          <a:p>
            <a:pPr indent="0" marL="0">
              <a:lnSpc>
                <a:spcPts val="2100"/>
              </a:lnSpc>
              <a:buNone/>
            </a:pPr>
            <a:r>
              <a:rPr lang="en-US" sz="1400" dirty="0">
                <a:solidFill>
                  <a:srgbClr val="E8EDF2"/>
                </a:solidFill>
                <a:latin typeface="Calibri" pitchFamily="34" charset="0"/>
                <a:ea typeface="Calibri" pitchFamily="34" charset="-122"/>
                <a:cs typeface="Calibri" pitchFamily="34" charset="-120"/>
              </a:rPr>
              <a:t>A UNESCO inscription brings people who have never been to India before. Today the state has no way to plan their day, no way to take their money at the gate, and no way to answer a question they ask on the spot.</a:t>
            </a:r>
            <a:endParaRPr lang="en-US" sz="1400" dirty="0"/>
          </a:p>
        </p:txBody>
      </p:sp>
      <p:sp>
        <p:nvSpPr>
          <p:cNvPr id="18" name="Text 16"/>
          <p:cNvSpPr txBox="1"/>
          <p:nvPr/>
        </p:nvSpPr>
        <p:spPr>
          <a:xfrm>
            <a:off x="640080" y="6236208"/>
            <a:ext cx="10972800" cy="32004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Sources: Ministry of Tourism, India Tourism Data Compendium 2025 (66th edn) · Maharashtra Tourism Policy 2024 · UNESCO World Heritage List entry 1739.</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One visitor, one Sunday: Kanheri Caves</a:t>
            </a:r>
            <a:endParaRPr lang="en-US" sz="3200" dirty="0"/>
          </a:p>
        </p:txBody>
      </p:sp>
      <p:sp>
        <p:nvSpPr>
          <p:cNvPr id="3" name="Shape 1"/>
          <p:cNvSpPr/>
          <p:nvPr/>
        </p:nvSpPr>
        <p:spPr>
          <a:xfrm>
            <a:off x="640080" y="1280160"/>
            <a:ext cx="10972800" cy="3200400"/>
          </a:xfrm>
          <a:prstGeom prst="roundRect">
            <a:avLst>
              <a:gd name="adj" fmla="val 2286"/>
            </a:avLst>
          </a:prstGeom>
          <a:solidFill>
            <a:srgbClr val="F2F4F6"/>
          </a:solidFill>
          <a:ln w="9525">
            <a:solidFill>
              <a:srgbClr val="D8DEE4"/>
            </a:solidFill>
            <a:prstDash val="solid"/>
          </a:ln>
        </p:spPr>
      </p:sp>
      <p:sp>
        <p:nvSpPr>
          <p:cNvPr id="4" name="Shape 2"/>
          <p:cNvSpPr/>
          <p:nvPr/>
        </p:nvSpPr>
        <p:spPr>
          <a:xfrm>
            <a:off x="868680" y="1600200"/>
            <a:ext cx="502920" cy="502920"/>
          </a:xfrm>
          <a:prstGeom prst="ellipse">
            <a:avLst/>
          </a:prstGeom>
          <a:solidFill>
            <a:srgbClr val="2E4057"/>
          </a:solidFill>
          <a:ln/>
        </p:spPr>
      </p:sp>
      <p:sp>
        <p:nvSpPr>
          <p:cNvPr id="5" name="Text 3"/>
          <p:cNvSpPr txBox="1"/>
          <p:nvPr/>
        </p:nvSpPr>
        <p:spPr>
          <a:xfrm>
            <a:off x="868680" y="1600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868680" y="2240280"/>
            <a:ext cx="237744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Arrives</a:t>
            </a:r>
            <a:endParaRPr lang="en-US" sz="1700" dirty="0"/>
          </a:p>
        </p:txBody>
      </p:sp>
      <p:sp>
        <p:nvSpPr>
          <p:cNvPr id="7" name="Text 5"/>
          <p:cNvSpPr txBox="1"/>
          <p:nvPr/>
        </p:nvSpPr>
        <p:spPr>
          <a:xfrm>
            <a:off x="868680" y="2651760"/>
            <a:ext cx="2395728" cy="1554480"/>
          </a:xfrm>
          <a:prstGeom prst="rect">
            <a:avLst/>
          </a:prstGeom>
          <a:noFill/>
          <a:ln/>
        </p:spPr>
        <p:txBody>
          <a:bodyPr wrap="square" lIns="0" tIns="0" rIns="0" bIns="0" rtlCol="0" anchor="ctr"/>
          <a:lstStyle/>
          <a:p>
            <a:pPr indent="0" marL="0">
              <a:lnSpc>
                <a:spcPts val="1900"/>
              </a:lnSpc>
              <a:buNone/>
            </a:pPr>
            <a:r>
              <a:rPr lang="en-US" sz="1250" dirty="0">
                <a:solidFill>
                  <a:srgbClr val="2E4057"/>
                </a:solidFill>
                <a:latin typeface="Calibri" pitchFamily="34" charset="0"/>
                <a:ea typeface="Calibri" pitchFamily="34" charset="-122"/>
                <a:cs typeface="Calibri" pitchFamily="34" charset="-120"/>
              </a:rPr>
              <a:t>Sanjay Gandhi National Park, Borivali. Buys a park entry ticket at the gate.</a:t>
            </a:r>
            <a:endParaRPr lang="en-US" sz="1250" dirty="0"/>
          </a:p>
        </p:txBody>
      </p:sp>
      <p:sp>
        <p:nvSpPr>
          <p:cNvPr id="8" name="Shape 6"/>
          <p:cNvSpPr/>
          <p:nvPr/>
        </p:nvSpPr>
        <p:spPr>
          <a:xfrm>
            <a:off x="3566160" y="1600200"/>
            <a:ext cx="502920" cy="502920"/>
          </a:xfrm>
          <a:prstGeom prst="ellipse">
            <a:avLst/>
          </a:prstGeom>
          <a:solidFill>
            <a:srgbClr val="2E4057"/>
          </a:solidFill>
          <a:ln/>
        </p:spPr>
      </p:sp>
      <p:sp>
        <p:nvSpPr>
          <p:cNvPr id="9" name="Text 7"/>
          <p:cNvSpPr txBox="1"/>
          <p:nvPr/>
        </p:nvSpPr>
        <p:spPr>
          <a:xfrm>
            <a:off x="3566160" y="1600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3566160" y="2240280"/>
            <a:ext cx="237744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Travels 6 km</a:t>
            </a:r>
            <a:endParaRPr lang="en-US" sz="1700" dirty="0"/>
          </a:p>
        </p:txBody>
      </p:sp>
      <p:sp>
        <p:nvSpPr>
          <p:cNvPr id="11" name="Text 9"/>
          <p:cNvSpPr txBox="1"/>
          <p:nvPr/>
        </p:nvSpPr>
        <p:spPr>
          <a:xfrm>
            <a:off x="3566160" y="2651760"/>
            <a:ext cx="2395728" cy="1554480"/>
          </a:xfrm>
          <a:prstGeom prst="rect">
            <a:avLst/>
          </a:prstGeom>
          <a:noFill/>
          <a:ln/>
        </p:spPr>
        <p:txBody>
          <a:bodyPr wrap="square" lIns="0" tIns="0" rIns="0" bIns="0" rtlCol="0" anchor="ctr"/>
          <a:lstStyle/>
          <a:p>
            <a:pPr indent="0" marL="0">
              <a:lnSpc>
                <a:spcPts val="1900"/>
              </a:lnSpc>
              <a:buNone/>
            </a:pPr>
            <a:r>
              <a:rPr lang="en-US" sz="1250" dirty="0">
                <a:solidFill>
                  <a:srgbClr val="2E4057"/>
                </a:solidFill>
                <a:latin typeface="Calibri" pitchFamily="34" charset="0"/>
                <a:ea typeface="Calibri" pitchFamily="34" charset="-122"/>
                <a:cs typeface="Calibri" pitchFamily="34" charset="-120"/>
              </a:rPr>
              <a:t>The caves are six kilometres inside the park. Pays again — shuttle bus or vehicle entry.</a:t>
            </a:r>
            <a:endParaRPr lang="en-US" sz="1250" dirty="0"/>
          </a:p>
        </p:txBody>
      </p:sp>
      <p:sp>
        <p:nvSpPr>
          <p:cNvPr id="12" name="Shape 10"/>
          <p:cNvSpPr/>
          <p:nvPr/>
        </p:nvSpPr>
        <p:spPr>
          <a:xfrm>
            <a:off x="6263640" y="1600200"/>
            <a:ext cx="502920" cy="502920"/>
          </a:xfrm>
          <a:prstGeom prst="ellipse">
            <a:avLst/>
          </a:prstGeom>
          <a:solidFill>
            <a:srgbClr val="2E4057"/>
          </a:solidFill>
          <a:ln/>
        </p:spPr>
      </p:sp>
      <p:sp>
        <p:nvSpPr>
          <p:cNvPr id="13" name="Text 11"/>
          <p:cNvSpPr txBox="1"/>
          <p:nvPr/>
        </p:nvSpPr>
        <p:spPr>
          <a:xfrm>
            <a:off x="6263640" y="1600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6263640" y="2240280"/>
            <a:ext cx="237744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Climbs</a:t>
            </a:r>
            <a:endParaRPr lang="en-US" sz="1700" dirty="0"/>
          </a:p>
        </p:txBody>
      </p:sp>
      <p:sp>
        <p:nvSpPr>
          <p:cNvPr id="15" name="Text 13"/>
          <p:cNvSpPr txBox="1"/>
          <p:nvPr/>
        </p:nvSpPr>
        <p:spPr>
          <a:xfrm>
            <a:off x="6263640" y="2651760"/>
            <a:ext cx="2395728" cy="1554480"/>
          </a:xfrm>
          <a:prstGeom prst="rect">
            <a:avLst/>
          </a:prstGeom>
          <a:noFill/>
          <a:ln/>
        </p:spPr>
        <p:txBody>
          <a:bodyPr wrap="square" lIns="0" tIns="0" rIns="0" bIns="0" rtlCol="0" anchor="ctr"/>
          <a:lstStyle/>
          <a:p>
            <a:pPr indent="0" marL="0">
              <a:lnSpc>
                <a:spcPts val="1900"/>
              </a:lnSpc>
              <a:buNone/>
            </a:pPr>
            <a:r>
              <a:rPr lang="en-US" sz="1250" dirty="0">
                <a:solidFill>
                  <a:srgbClr val="2E4057"/>
                </a:solidFill>
                <a:latin typeface="Calibri" pitchFamily="34" charset="0"/>
                <a:ea typeface="Calibri" pitchFamily="34" charset="-122"/>
                <a:cs typeface="Calibri" pitchFamily="34" charset="-120"/>
              </a:rPr>
              <a:t>Reaches the Kanheri ticket counter at the top. A third ticket is required, to a different department.</a:t>
            </a:r>
            <a:endParaRPr lang="en-US" sz="1250" dirty="0"/>
          </a:p>
        </p:txBody>
      </p:sp>
      <p:sp>
        <p:nvSpPr>
          <p:cNvPr id="16" name="Shape 14"/>
          <p:cNvSpPr/>
          <p:nvPr/>
        </p:nvSpPr>
        <p:spPr>
          <a:xfrm>
            <a:off x="8961120" y="1600200"/>
            <a:ext cx="502920" cy="502920"/>
          </a:xfrm>
          <a:prstGeom prst="ellipse">
            <a:avLst/>
          </a:prstGeom>
          <a:solidFill>
            <a:srgbClr val="C1502E"/>
          </a:solidFill>
          <a:ln/>
        </p:spPr>
      </p:sp>
      <p:sp>
        <p:nvSpPr>
          <p:cNvPr id="17" name="Text 15"/>
          <p:cNvSpPr txBox="1"/>
          <p:nvPr/>
        </p:nvSpPr>
        <p:spPr>
          <a:xfrm>
            <a:off x="8961120" y="1600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8961120" y="2240280"/>
            <a:ext cx="2377440" cy="36576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Turns back</a:t>
            </a:r>
            <a:endParaRPr lang="en-US" sz="1700" dirty="0"/>
          </a:p>
        </p:txBody>
      </p:sp>
      <p:sp>
        <p:nvSpPr>
          <p:cNvPr id="19" name="Text 17"/>
          <p:cNvSpPr txBox="1"/>
          <p:nvPr/>
        </p:nvSpPr>
        <p:spPr>
          <a:xfrm>
            <a:off x="8961120" y="2651760"/>
            <a:ext cx="2395728" cy="1554480"/>
          </a:xfrm>
          <a:prstGeom prst="rect">
            <a:avLst/>
          </a:prstGeom>
          <a:noFill/>
          <a:ln/>
        </p:spPr>
        <p:txBody>
          <a:bodyPr wrap="square" lIns="0" tIns="0" rIns="0" bIns="0" rtlCol="0" anchor="ctr"/>
          <a:lstStyle/>
          <a:p>
            <a:pPr indent="0" marL="0">
              <a:lnSpc>
                <a:spcPts val="1900"/>
              </a:lnSpc>
              <a:buNone/>
            </a:pPr>
            <a:r>
              <a:rPr lang="en-US" sz="1250" dirty="0">
                <a:solidFill>
                  <a:srgbClr val="2E4057"/>
                </a:solidFill>
                <a:latin typeface="Calibri" pitchFamily="34" charset="0"/>
                <a:ea typeface="Calibri" pitchFamily="34" charset="-122"/>
                <a:cs typeface="Calibri" pitchFamily="34" charset="-120"/>
              </a:rPr>
              <a:t>No mobile network at the counter. Card and UPI fail. No cash on hand. The visit ends here.</a:t>
            </a:r>
            <a:endParaRPr lang="en-US" sz="1250" dirty="0"/>
          </a:p>
        </p:txBody>
      </p:sp>
      <p:sp>
        <p:nvSpPr>
          <p:cNvPr id="20" name="Text 18"/>
          <p:cNvSpPr txBox="1"/>
          <p:nvPr/>
        </p:nvSpPr>
        <p:spPr>
          <a:xfrm>
            <a:off x="640080" y="4709160"/>
            <a:ext cx="10972800" cy="777240"/>
          </a:xfrm>
          <a:prstGeom prst="rect">
            <a:avLst/>
          </a:prstGeom>
          <a:noFill/>
          <a:ln/>
        </p:spPr>
        <p:txBody>
          <a:bodyPr wrap="square" lIns="0" tIns="0" rIns="0" bIns="0" rtlCol="0" anchor="ctr"/>
          <a:lstStyle/>
          <a:p>
            <a:pPr indent="0" marL="0">
              <a:lnSpc>
                <a:spcPts val="2300"/>
              </a:lnSpc>
              <a:buNone/>
            </a:pPr>
            <a:r>
              <a:rPr lang="en-US" sz="1550" dirty="0">
                <a:solidFill>
                  <a:srgbClr val="1B2A41"/>
                </a:solidFill>
                <a:latin typeface="Calibri" pitchFamily="34" charset="0"/>
                <a:ea typeface="Calibri" pitchFamily="34" charset="-122"/>
                <a:cs typeface="Calibri" pitchFamily="34" charset="-120"/>
              </a:rPr>
              <a:t>Three separate tickets, sold at three separate points, by three separate authorities — Forest Department, park operations, and the Archaeological Survey of India. The last one stands in a place with no signal.</a:t>
            </a:r>
            <a:endParaRPr lang="en-US" sz="1550" dirty="0"/>
          </a:p>
        </p:txBody>
      </p:sp>
      <p:sp>
        <p:nvSpPr>
          <p:cNvPr id="21" name="Text 19"/>
          <p:cNvSpPr txBox="1"/>
          <p:nvPr/>
        </p:nvSpPr>
        <p:spPr>
          <a:xfrm>
            <a:off x="640080" y="5577840"/>
            <a:ext cx="10972800" cy="41148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The visitor did nothing wrong. The system had no way to tell them.</a:t>
            </a:r>
            <a:endParaRPr lang="en-US" sz="1900" dirty="0"/>
          </a:p>
        </p:txBody>
      </p:sp>
      <p:sp>
        <p:nvSpPr>
          <p:cNvPr id="22" name="Text 20"/>
          <p:cNvSpPr txBox="1"/>
          <p:nvPr/>
        </p:nvSpPr>
        <p:spPr>
          <a:xfrm>
            <a:off x="640080" y="6236208"/>
            <a:ext cx="10972800" cy="32004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Kanheri Caves sits ~6 km inside SGNP; the cave ticket is an ASI centrally-protected-monument ticket, separate from park entry. Connectivity at the counter observed on site; fare amounts vary across published accounts and are being confirmed.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What that morning actually shows</a:t>
            </a:r>
            <a:endParaRPr lang="en-US" sz="3200" dirty="0"/>
          </a:p>
        </p:txBody>
      </p:sp>
      <p:sp>
        <p:nvSpPr>
          <p:cNvPr id="3" name="Shape 1"/>
          <p:cNvSpPr/>
          <p:nvPr/>
        </p:nvSpPr>
        <p:spPr>
          <a:xfrm>
            <a:off x="640080" y="1600200"/>
            <a:ext cx="10972800" cy="987552"/>
          </a:xfrm>
          <a:prstGeom prst="roundRect">
            <a:avLst>
              <a:gd name="adj" fmla="val 7407"/>
            </a:avLst>
          </a:prstGeom>
          <a:solidFill>
            <a:srgbClr val="F2F4F6"/>
          </a:solidFill>
          <a:ln w="9525">
            <a:solidFill>
              <a:srgbClr val="D8DEE4"/>
            </a:solidFill>
            <a:prstDash val="solid"/>
          </a:ln>
        </p:spPr>
      </p:sp>
      <p:sp>
        <p:nvSpPr>
          <p:cNvPr id="4" name="Shape 2"/>
          <p:cNvSpPr/>
          <p:nvPr/>
        </p:nvSpPr>
        <p:spPr>
          <a:xfrm>
            <a:off x="896112" y="1847088"/>
            <a:ext cx="502920" cy="502920"/>
          </a:xfrm>
          <a:prstGeom prst="ellipse">
            <a:avLst/>
          </a:prstGeom>
          <a:solidFill>
            <a:srgbClr val="C1502E"/>
          </a:solidFill>
          <a:ln/>
        </p:spPr>
      </p:sp>
      <p:sp>
        <p:nvSpPr>
          <p:cNvPr id="5" name="Text 3"/>
          <p:cNvSpPr txBox="1"/>
          <p:nvPr/>
        </p:nvSpPr>
        <p:spPr>
          <a:xfrm>
            <a:off x="896112" y="18470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600200" y="1746504"/>
            <a:ext cx="274320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No one told them</a:t>
            </a:r>
            <a:endParaRPr lang="en-US" sz="1700" dirty="0"/>
          </a:p>
        </p:txBody>
      </p:sp>
      <p:sp>
        <p:nvSpPr>
          <p:cNvPr id="7" name="Text 5"/>
          <p:cNvSpPr txBox="1"/>
          <p:nvPr/>
        </p:nvSpPr>
        <p:spPr>
          <a:xfrm>
            <a:off x="1600200" y="2112264"/>
            <a:ext cx="9692640" cy="411480"/>
          </a:xfrm>
          <a:prstGeom prst="rect">
            <a:avLst/>
          </a:prstGeom>
          <a:noFill/>
          <a:ln/>
        </p:spPr>
        <p:txBody>
          <a:bodyPr wrap="square" lIns="0" tIns="0" rIns="0" bIns="0" rtlCol="0" anchor="ctr"/>
          <a:lstStyle/>
          <a:p>
            <a:pPr indent="0" marL="0">
              <a:buNone/>
            </a:pPr>
            <a:r>
              <a:rPr lang="en-US" sz="1300" dirty="0">
                <a:solidFill>
                  <a:srgbClr val="2E4057"/>
                </a:solidFill>
                <a:latin typeface="Calibri" pitchFamily="34" charset="0"/>
                <a:ea typeface="Calibri" pitchFamily="34" charset="-122"/>
                <a:cs typeface="Calibri" pitchFamily="34" charset="-120"/>
              </a:rPr>
              <a:t>Nothing in any state channel warns a visitor that Kanheri needs a second ticket, or what it costs, before they leave home.</a:t>
            </a:r>
            <a:endParaRPr lang="en-US" sz="1300" dirty="0"/>
          </a:p>
        </p:txBody>
      </p:sp>
      <p:sp>
        <p:nvSpPr>
          <p:cNvPr id="8" name="Shape 6"/>
          <p:cNvSpPr/>
          <p:nvPr/>
        </p:nvSpPr>
        <p:spPr>
          <a:xfrm>
            <a:off x="640080" y="2752344"/>
            <a:ext cx="10972800" cy="987552"/>
          </a:xfrm>
          <a:prstGeom prst="roundRect">
            <a:avLst>
              <a:gd name="adj" fmla="val 7407"/>
            </a:avLst>
          </a:prstGeom>
          <a:solidFill>
            <a:srgbClr val="F2F4F6"/>
          </a:solidFill>
          <a:ln w="9525">
            <a:solidFill>
              <a:srgbClr val="D8DEE4"/>
            </a:solidFill>
            <a:prstDash val="solid"/>
          </a:ln>
        </p:spPr>
      </p:sp>
      <p:sp>
        <p:nvSpPr>
          <p:cNvPr id="9" name="Shape 7"/>
          <p:cNvSpPr/>
          <p:nvPr/>
        </p:nvSpPr>
        <p:spPr>
          <a:xfrm>
            <a:off x="896112" y="2999232"/>
            <a:ext cx="502920" cy="502920"/>
          </a:xfrm>
          <a:prstGeom prst="ellipse">
            <a:avLst/>
          </a:prstGeom>
          <a:solidFill>
            <a:srgbClr val="C1502E"/>
          </a:solidFill>
          <a:ln/>
        </p:spPr>
      </p:sp>
      <p:sp>
        <p:nvSpPr>
          <p:cNvPr id="10" name="Text 8"/>
          <p:cNvSpPr txBox="1"/>
          <p:nvPr/>
        </p:nvSpPr>
        <p:spPr>
          <a:xfrm>
            <a:off x="896112" y="29992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600200" y="2898648"/>
            <a:ext cx="274320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No single payment</a:t>
            </a:r>
            <a:endParaRPr lang="en-US" sz="1700" dirty="0"/>
          </a:p>
        </p:txBody>
      </p:sp>
      <p:sp>
        <p:nvSpPr>
          <p:cNvPr id="12" name="Text 10"/>
          <p:cNvSpPr txBox="1"/>
          <p:nvPr/>
        </p:nvSpPr>
        <p:spPr>
          <a:xfrm>
            <a:off x="1600200" y="3264408"/>
            <a:ext cx="9692640" cy="411480"/>
          </a:xfrm>
          <a:prstGeom prst="rect">
            <a:avLst/>
          </a:prstGeom>
          <a:noFill/>
          <a:ln/>
        </p:spPr>
        <p:txBody>
          <a:bodyPr wrap="square" lIns="0" tIns="0" rIns="0" bIns="0" rtlCol="0" anchor="ctr"/>
          <a:lstStyle/>
          <a:p>
            <a:pPr indent="0" marL="0">
              <a:buNone/>
            </a:pPr>
            <a:r>
              <a:rPr lang="en-US" sz="1300" dirty="0">
                <a:solidFill>
                  <a:srgbClr val="2E4057"/>
                </a:solidFill>
                <a:latin typeface="Calibri" pitchFamily="34" charset="0"/>
                <a:ea typeface="Calibri" pitchFamily="34" charset="-122"/>
                <a:cs typeface="Calibri" pitchFamily="34" charset="-120"/>
              </a:rPr>
              <a:t>Three authorities, three tills. The state cannot sell a visit to its own monument in one transaction.</a:t>
            </a:r>
            <a:endParaRPr lang="en-US" sz="1300" dirty="0"/>
          </a:p>
        </p:txBody>
      </p:sp>
      <p:sp>
        <p:nvSpPr>
          <p:cNvPr id="13" name="Shape 11"/>
          <p:cNvSpPr/>
          <p:nvPr/>
        </p:nvSpPr>
        <p:spPr>
          <a:xfrm>
            <a:off x="640080" y="3904488"/>
            <a:ext cx="10972800" cy="987552"/>
          </a:xfrm>
          <a:prstGeom prst="roundRect">
            <a:avLst>
              <a:gd name="adj" fmla="val 7407"/>
            </a:avLst>
          </a:prstGeom>
          <a:solidFill>
            <a:srgbClr val="F2F4F6"/>
          </a:solidFill>
          <a:ln w="9525">
            <a:solidFill>
              <a:srgbClr val="D8DEE4"/>
            </a:solidFill>
            <a:prstDash val="solid"/>
          </a:ln>
        </p:spPr>
      </p:sp>
      <p:sp>
        <p:nvSpPr>
          <p:cNvPr id="14" name="Shape 12"/>
          <p:cNvSpPr/>
          <p:nvPr/>
        </p:nvSpPr>
        <p:spPr>
          <a:xfrm>
            <a:off x="896112" y="4151376"/>
            <a:ext cx="502920" cy="502920"/>
          </a:xfrm>
          <a:prstGeom prst="ellipse">
            <a:avLst/>
          </a:prstGeom>
          <a:solidFill>
            <a:srgbClr val="C1502E"/>
          </a:solidFill>
          <a:ln/>
        </p:spPr>
      </p:sp>
      <p:sp>
        <p:nvSpPr>
          <p:cNvPr id="15" name="Text 13"/>
          <p:cNvSpPr txBox="1"/>
          <p:nvPr/>
        </p:nvSpPr>
        <p:spPr>
          <a:xfrm>
            <a:off x="896112" y="415137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600200" y="4050792"/>
            <a:ext cx="274320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No offline path</a:t>
            </a:r>
            <a:endParaRPr lang="en-US" sz="1700" dirty="0"/>
          </a:p>
        </p:txBody>
      </p:sp>
      <p:sp>
        <p:nvSpPr>
          <p:cNvPr id="17" name="Text 15"/>
          <p:cNvSpPr txBox="1"/>
          <p:nvPr/>
        </p:nvSpPr>
        <p:spPr>
          <a:xfrm>
            <a:off x="1600200" y="4416552"/>
            <a:ext cx="9692640" cy="411480"/>
          </a:xfrm>
          <a:prstGeom prst="rect">
            <a:avLst/>
          </a:prstGeom>
          <a:noFill/>
          <a:ln/>
        </p:spPr>
        <p:txBody>
          <a:bodyPr wrap="square" lIns="0" tIns="0" rIns="0" bIns="0" rtlCol="0" anchor="ctr"/>
          <a:lstStyle/>
          <a:p>
            <a:pPr indent="0" marL="0">
              <a:buNone/>
            </a:pPr>
            <a:r>
              <a:rPr lang="en-US" sz="1300" dirty="0">
                <a:solidFill>
                  <a:srgbClr val="2E4057"/>
                </a:solidFill>
                <a:latin typeface="Calibri" pitchFamily="34" charset="0"/>
                <a:ea typeface="Calibri" pitchFamily="34" charset="-122"/>
                <a:cs typeface="Calibri" pitchFamily="34" charset="-120"/>
              </a:rPr>
              <a:t>Digital payment is assumed to work everywhere. At the places worth visiting, it often doesn't.</a:t>
            </a:r>
            <a:endParaRPr lang="en-US" sz="1300" dirty="0"/>
          </a:p>
        </p:txBody>
      </p:sp>
      <p:sp>
        <p:nvSpPr>
          <p:cNvPr id="18" name="Shape 16"/>
          <p:cNvSpPr/>
          <p:nvPr/>
        </p:nvSpPr>
        <p:spPr>
          <a:xfrm>
            <a:off x="640080" y="5056632"/>
            <a:ext cx="10972800" cy="987552"/>
          </a:xfrm>
          <a:prstGeom prst="roundRect">
            <a:avLst>
              <a:gd name="adj" fmla="val 7407"/>
            </a:avLst>
          </a:prstGeom>
          <a:solidFill>
            <a:srgbClr val="F2F4F6"/>
          </a:solidFill>
          <a:ln w="9525">
            <a:solidFill>
              <a:srgbClr val="D8DEE4"/>
            </a:solidFill>
            <a:prstDash val="solid"/>
          </a:ln>
        </p:spPr>
      </p:sp>
      <p:sp>
        <p:nvSpPr>
          <p:cNvPr id="19" name="Shape 17"/>
          <p:cNvSpPr/>
          <p:nvPr/>
        </p:nvSpPr>
        <p:spPr>
          <a:xfrm>
            <a:off x="896112" y="5303520"/>
            <a:ext cx="502920" cy="502920"/>
          </a:xfrm>
          <a:prstGeom prst="ellipse">
            <a:avLst/>
          </a:prstGeom>
          <a:solidFill>
            <a:srgbClr val="C1502E"/>
          </a:solidFill>
          <a:ln/>
        </p:spPr>
      </p:sp>
      <p:sp>
        <p:nvSpPr>
          <p:cNvPr id="20" name="Text 18"/>
          <p:cNvSpPr txBox="1"/>
          <p:nvPr/>
        </p:nvSpPr>
        <p:spPr>
          <a:xfrm>
            <a:off x="896112" y="5303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1600200" y="5202936"/>
            <a:ext cx="2743200" cy="36576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No one finds out</a:t>
            </a:r>
            <a:endParaRPr lang="en-US" sz="1700" dirty="0"/>
          </a:p>
        </p:txBody>
      </p:sp>
      <p:sp>
        <p:nvSpPr>
          <p:cNvPr id="22" name="Text 20"/>
          <p:cNvSpPr txBox="1"/>
          <p:nvPr/>
        </p:nvSpPr>
        <p:spPr>
          <a:xfrm>
            <a:off x="1600200" y="5568696"/>
            <a:ext cx="9692640" cy="411480"/>
          </a:xfrm>
          <a:prstGeom prst="rect">
            <a:avLst/>
          </a:prstGeom>
          <a:noFill/>
          <a:ln/>
        </p:spPr>
        <p:txBody>
          <a:bodyPr wrap="square" lIns="0" tIns="0" rIns="0" bIns="0" rtlCol="0" anchor="ctr"/>
          <a:lstStyle/>
          <a:p>
            <a:pPr indent="0" marL="0">
              <a:buNone/>
            </a:pPr>
            <a:r>
              <a:rPr lang="en-US" sz="1300" dirty="0">
                <a:solidFill>
                  <a:srgbClr val="2E4057"/>
                </a:solidFill>
                <a:latin typeface="Calibri" pitchFamily="34" charset="0"/>
                <a:ea typeface="Calibri" pitchFamily="34" charset="-122"/>
                <a:cs typeface="Calibri" pitchFamily="34" charset="-120"/>
              </a:rPr>
              <a:t>The visitor turns around and the department never learns it happened. There is no record of a lost visit.</a:t>
            </a:r>
            <a:endParaRPr lang="en-US" sz="1300" dirty="0"/>
          </a:p>
        </p:txBody>
      </p:sp>
      <p:sp>
        <p:nvSpPr>
          <p:cNvPr id="23" name="Text 21"/>
          <p:cNvSpPr txBox="1"/>
          <p:nvPr/>
        </p:nvSpPr>
        <p:spPr>
          <a:xfrm>
            <a:off x="640080" y="6309360"/>
            <a:ext cx="10972800" cy="365760"/>
          </a:xfrm>
          <a:prstGeom prst="rect">
            <a:avLst/>
          </a:prstGeom>
          <a:noFill/>
          <a:ln/>
        </p:spPr>
        <p:txBody>
          <a:bodyPr wrap="square" lIns="0" tIns="0" rIns="0" bIns="0" rtlCol="0" anchor="ctr"/>
          <a:lstStyle/>
          <a:p>
            <a:pPr indent="0" marL="0">
              <a:buNone/>
            </a:pPr>
            <a:r>
              <a:rPr lang="en-US" sz="1350" i="1" dirty="0">
                <a:solidFill>
                  <a:srgbClr val="6B7785"/>
                </a:solidFill>
                <a:latin typeface="Calibri" pitchFamily="34" charset="0"/>
                <a:ea typeface="Calibri" pitchFamily="34" charset="-122"/>
                <a:cs typeface="Calibri" pitchFamily="34" charset="-120"/>
              </a:rPr>
              <a:t>The fourth is the one that compounds. Everything else can be fixed once you can see it.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Kanheri is not the exception. It is the pattern.</a:t>
            </a:r>
            <a:endParaRPr lang="en-US" sz="3200" dirty="0"/>
          </a:p>
        </p:txBody>
      </p:sp>
      <p:sp>
        <p:nvSpPr>
          <p:cNvPr id="3" name="Shape 1"/>
          <p:cNvSpPr/>
          <p:nvPr/>
        </p:nvSpPr>
        <p:spPr>
          <a:xfrm>
            <a:off x="640080" y="1600200"/>
            <a:ext cx="5349240" cy="1874520"/>
          </a:xfrm>
          <a:prstGeom prst="roundRect">
            <a:avLst>
              <a:gd name="adj" fmla="val 3902"/>
            </a:avLst>
          </a:prstGeom>
          <a:solidFill>
            <a:srgbClr val="F2F4F6"/>
          </a:solidFill>
          <a:ln w="9525">
            <a:solidFill>
              <a:srgbClr val="D8DEE4"/>
            </a:solidFill>
            <a:prstDash val="solid"/>
          </a:ln>
        </p:spPr>
      </p:sp>
      <p:sp>
        <p:nvSpPr>
          <p:cNvPr id="4" name="Text 2"/>
          <p:cNvSpPr txBox="1"/>
          <p:nvPr/>
        </p:nvSpPr>
        <p:spPr>
          <a:xfrm>
            <a:off x="960120" y="1856232"/>
            <a:ext cx="4709160" cy="41148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Forts</a:t>
            </a:r>
            <a:endParaRPr lang="en-US" sz="1900" dirty="0"/>
          </a:p>
        </p:txBody>
      </p:sp>
      <p:sp>
        <p:nvSpPr>
          <p:cNvPr id="5" name="Text 3"/>
          <p:cNvSpPr txBox="1"/>
          <p:nvPr/>
        </p:nvSpPr>
        <p:spPr>
          <a:xfrm>
            <a:off x="960120" y="2350008"/>
            <a:ext cx="4709160" cy="96012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27 forts listed by the department, 12 now UNESCO-inscribed. Hilltop sites, thin signal, seasonal restrictions issued locally and never reaching the visitor.</a:t>
            </a:r>
            <a:endParaRPr lang="en-US" sz="1300" dirty="0"/>
          </a:p>
        </p:txBody>
      </p:sp>
      <p:sp>
        <p:nvSpPr>
          <p:cNvPr id="6" name="Shape 4"/>
          <p:cNvSpPr/>
          <p:nvPr/>
        </p:nvSpPr>
        <p:spPr>
          <a:xfrm>
            <a:off x="6263640" y="1600200"/>
            <a:ext cx="5349240" cy="1874520"/>
          </a:xfrm>
          <a:prstGeom prst="roundRect">
            <a:avLst>
              <a:gd name="adj" fmla="val 3902"/>
            </a:avLst>
          </a:prstGeom>
          <a:solidFill>
            <a:srgbClr val="F2F4F6"/>
          </a:solidFill>
          <a:ln w="9525">
            <a:solidFill>
              <a:srgbClr val="D8DEE4"/>
            </a:solidFill>
            <a:prstDash val="solid"/>
          </a:ln>
        </p:spPr>
      </p:sp>
      <p:sp>
        <p:nvSpPr>
          <p:cNvPr id="7" name="Text 5"/>
          <p:cNvSpPr txBox="1"/>
          <p:nvPr/>
        </p:nvSpPr>
        <p:spPr>
          <a:xfrm>
            <a:off x="6583680" y="1856232"/>
            <a:ext cx="4709160" cy="41148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Waterfalls and monsoon sites</a:t>
            </a:r>
            <a:endParaRPr lang="en-US" sz="1900" dirty="0"/>
          </a:p>
        </p:txBody>
      </p:sp>
      <p:sp>
        <p:nvSpPr>
          <p:cNvPr id="8" name="Text 6"/>
          <p:cNvSpPr txBox="1"/>
          <p:nvPr/>
        </p:nvSpPr>
        <p:spPr>
          <a:xfrm>
            <a:off x="6583680" y="2350008"/>
            <a:ext cx="4709160" cy="96012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Access restrictions ordered district by district after the 2024 Lonavala deaths. A visitor planning from Mumbai has no way to know today's order.</a:t>
            </a:r>
            <a:endParaRPr lang="en-US" sz="1300" dirty="0"/>
          </a:p>
        </p:txBody>
      </p:sp>
      <p:sp>
        <p:nvSpPr>
          <p:cNvPr id="9" name="Shape 7"/>
          <p:cNvSpPr/>
          <p:nvPr/>
        </p:nvSpPr>
        <p:spPr>
          <a:xfrm>
            <a:off x="640080" y="3657600"/>
            <a:ext cx="5349240" cy="1874520"/>
          </a:xfrm>
          <a:prstGeom prst="roundRect">
            <a:avLst>
              <a:gd name="adj" fmla="val 3902"/>
            </a:avLst>
          </a:prstGeom>
          <a:solidFill>
            <a:srgbClr val="F2F4F6"/>
          </a:solidFill>
          <a:ln w="9525">
            <a:solidFill>
              <a:srgbClr val="D8DEE4"/>
            </a:solidFill>
            <a:prstDash val="solid"/>
          </a:ln>
        </p:spPr>
      </p:sp>
      <p:sp>
        <p:nvSpPr>
          <p:cNvPr id="10" name="Text 8"/>
          <p:cNvSpPr txBox="1"/>
          <p:nvPr/>
        </p:nvSpPr>
        <p:spPr>
          <a:xfrm>
            <a:off x="960120" y="3913632"/>
            <a:ext cx="4709160" cy="41148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Caves and monuments</a:t>
            </a:r>
            <a:endParaRPr lang="en-US" sz="1900" dirty="0"/>
          </a:p>
        </p:txBody>
      </p:sp>
      <p:sp>
        <p:nvSpPr>
          <p:cNvPr id="11" name="Text 9"/>
          <p:cNvSpPr txBox="1"/>
          <p:nvPr/>
        </p:nvSpPr>
        <p:spPr>
          <a:xfrm>
            <a:off x="960120" y="4407408"/>
            <a:ext cx="4709160" cy="96012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8 cave sites. ASI ticketing sits on a separate national system from anything the state runs.</a:t>
            </a:r>
            <a:endParaRPr lang="en-US" sz="1300" dirty="0"/>
          </a:p>
        </p:txBody>
      </p:sp>
      <p:sp>
        <p:nvSpPr>
          <p:cNvPr id="12" name="Shape 10"/>
          <p:cNvSpPr/>
          <p:nvPr/>
        </p:nvSpPr>
        <p:spPr>
          <a:xfrm>
            <a:off x="6263640" y="3657600"/>
            <a:ext cx="5349240" cy="1874520"/>
          </a:xfrm>
          <a:prstGeom prst="roundRect">
            <a:avLst>
              <a:gd name="adj" fmla="val 3902"/>
            </a:avLst>
          </a:prstGeom>
          <a:solidFill>
            <a:srgbClr val="F2F4F6"/>
          </a:solidFill>
          <a:ln w="9525">
            <a:solidFill>
              <a:srgbClr val="D8DEE4"/>
            </a:solidFill>
            <a:prstDash val="solid"/>
          </a:ln>
        </p:spPr>
      </p:sp>
      <p:sp>
        <p:nvSpPr>
          <p:cNvPr id="13" name="Text 11"/>
          <p:cNvSpPr txBox="1"/>
          <p:nvPr/>
        </p:nvSpPr>
        <p:spPr>
          <a:xfrm>
            <a:off x="6583680" y="3913632"/>
            <a:ext cx="4709160" cy="41148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Beaches, temples, agro-tourism</a:t>
            </a:r>
            <a:endParaRPr lang="en-US" sz="1900" dirty="0"/>
          </a:p>
        </p:txBody>
      </p:sp>
      <p:sp>
        <p:nvSpPr>
          <p:cNvPr id="14" name="Text 12"/>
          <p:cNvSpPr txBox="1"/>
          <p:nvPr/>
        </p:nvSpPr>
        <p:spPr>
          <a:xfrm>
            <a:off x="6583680" y="4407408"/>
            <a:ext cx="4709160" cy="96012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18 beaches, 43 temples, and a registered agro-tourism network — each with its own gate, its own till, its own rules.</a:t>
            </a:r>
            <a:endParaRPr lang="en-US" sz="1300" dirty="0"/>
          </a:p>
        </p:txBody>
      </p:sp>
      <p:sp>
        <p:nvSpPr>
          <p:cNvPr id="15" name="Text 13"/>
          <p:cNvSpPr txBox="1"/>
          <p:nvPr/>
        </p:nvSpPr>
        <p:spPr>
          <a:xfrm>
            <a:off x="640080" y="5806440"/>
            <a:ext cx="10972800" cy="457200"/>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36 districts. Hundreds of gates. Not one of them shares a queue, a till, or a sentence of advice with another.</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1920240" y="2240280"/>
            <a:ext cx="932688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we propose</a:t>
            </a:r>
            <a:endParaRPr lang="en-US" sz="3600" dirty="0"/>
          </a:p>
        </p:txBody>
      </p:sp>
      <p:sp>
        <p:nvSpPr>
          <p:cNvPr id="3" name="Text 1"/>
          <p:cNvSpPr txBox="1"/>
          <p:nvPr/>
        </p:nvSpPr>
        <p:spPr>
          <a:xfrm>
            <a:off x="1920240" y="3246120"/>
            <a:ext cx="8961120" cy="731520"/>
          </a:xfrm>
          <a:prstGeom prst="rect">
            <a:avLst/>
          </a:prstGeom>
          <a:noFill/>
          <a:ln/>
        </p:spPr>
        <p:txBody>
          <a:bodyPr wrap="square" lIns="0" tIns="0" rIns="0" bIns="0" rtlCol="0" anchor="ctr"/>
          <a:lstStyle/>
          <a:p>
            <a:pPr indent="0" marL="0">
              <a:lnSpc>
                <a:spcPts val="2400"/>
              </a:lnSpc>
              <a:buNone/>
            </a:pPr>
            <a:r>
              <a:rPr lang="en-US" sz="1600" dirty="0">
                <a:solidFill>
                  <a:srgbClr val="E8EDF2"/>
                </a:solidFill>
                <a:latin typeface="Calibri" pitchFamily="34" charset="0"/>
                <a:ea typeface="Calibri" pitchFamily="34" charset="-122"/>
                <a:cs typeface="Calibri" pitchFamily="34" charset="-120"/>
              </a:rPr>
              <a:t>One website and one mobile app for the Maharashtra visitor — carrying four capabilities that only the state can offer.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One app. Four things it does.</a:t>
            </a:r>
            <a:endParaRPr lang="en-US" sz="3200" dirty="0"/>
          </a:p>
        </p:txBody>
      </p:sp>
      <p:sp>
        <p:nvSpPr>
          <p:cNvPr id="3" name="Shape 1"/>
          <p:cNvSpPr/>
          <p:nvPr/>
        </p:nvSpPr>
        <p:spPr>
          <a:xfrm>
            <a:off x="640080" y="1645920"/>
            <a:ext cx="2606040" cy="3200400"/>
          </a:xfrm>
          <a:prstGeom prst="roundRect">
            <a:avLst>
              <a:gd name="adj" fmla="val 2807"/>
            </a:avLst>
          </a:prstGeom>
          <a:solidFill>
            <a:srgbClr val="F2F4F6"/>
          </a:solidFill>
          <a:ln w="9525">
            <a:solidFill>
              <a:srgbClr val="D8DEE4"/>
            </a:solidFill>
            <a:prstDash val="solid"/>
          </a:ln>
        </p:spPr>
      </p:sp>
      <p:sp>
        <p:nvSpPr>
          <p:cNvPr id="4" name="Shape 2"/>
          <p:cNvSpPr/>
          <p:nvPr/>
        </p:nvSpPr>
        <p:spPr>
          <a:xfrm>
            <a:off x="914400" y="1938528"/>
            <a:ext cx="530352" cy="530352"/>
          </a:xfrm>
          <a:prstGeom prst="ellipse">
            <a:avLst/>
          </a:prstGeom>
          <a:solidFill>
            <a:srgbClr val="2E4057"/>
          </a:solidFill>
          <a:ln/>
        </p:spPr>
      </p:sp>
      <p:sp>
        <p:nvSpPr>
          <p:cNvPr id="5" name="Text 3"/>
          <p:cNvSpPr txBox="1"/>
          <p:nvPr/>
        </p:nvSpPr>
        <p:spPr>
          <a:xfrm>
            <a:off x="914400" y="193852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914400" y="2606040"/>
            <a:ext cx="2103120" cy="457200"/>
          </a:xfrm>
          <a:prstGeom prst="rect">
            <a:avLst/>
          </a:prstGeom>
          <a:noFill/>
          <a:ln/>
        </p:spPr>
        <p:txBody>
          <a:bodyPr wrap="square" lIns="0" tIns="0" rIns="0" bIns="0" rtlCol="0" anchor="ctr"/>
          <a:lstStyle/>
          <a:p>
            <a:pPr indent="0" marL="0">
              <a:buNone/>
            </a:pPr>
            <a:r>
              <a:rPr lang="en-US" sz="2300" b="1" dirty="0">
                <a:solidFill>
                  <a:srgbClr val="1B2A41"/>
                </a:solidFill>
                <a:latin typeface="Cambria" pitchFamily="34" charset="0"/>
                <a:ea typeface="Cambria" pitchFamily="34" charset="-122"/>
                <a:cs typeface="Cambria" pitchFamily="34" charset="-120"/>
              </a:rPr>
              <a:t>Plans</a:t>
            </a:r>
            <a:endParaRPr lang="en-US" sz="2300" dirty="0"/>
          </a:p>
        </p:txBody>
      </p:sp>
      <p:sp>
        <p:nvSpPr>
          <p:cNvPr id="7" name="Text 5"/>
          <p:cNvSpPr txBox="1"/>
          <p:nvPr/>
        </p:nvSpPr>
        <p:spPr>
          <a:xfrm>
            <a:off x="914400" y="3127248"/>
            <a:ext cx="2103120" cy="1554480"/>
          </a:xfrm>
          <a:prstGeom prst="rect">
            <a:avLst/>
          </a:prstGeom>
          <a:noFill/>
          <a:ln/>
        </p:spPr>
        <p:txBody>
          <a:bodyPr wrap="square" lIns="0" tIns="0" rIns="0" bIns="0" rtlCol="0" anchor="ctr"/>
          <a:lstStyle/>
          <a:p>
            <a:pPr indent="0" marL="0">
              <a:lnSpc>
                <a:spcPts val="1800"/>
              </a:lnSpc>
              <a:buNone/>
            </a:pPr>
            <a:r>
              <a:rPr lang="en-US" sz="1200" dirty="0">
                <a:solidFill>
                  <a:srgbClr val="2E4057"/>
                </a:solidFill>
                <a:latin typeface="Calibri" pitchFamily="34" charset="0"/>
                <a:ea typeface="Calibri" pitchFamily="34" charset="-122"/>
                <a:cs typeface="Calibri" pitchFamily="34" charset="-120"/>
              </a:rPr>
              <a:t>The visitor tells it who they are — days, budget, who's travelling, what they can walk. It returns a real itinerary across the state's own sites.</a:t>
            </a:r>
            <a:endParaRPr lang="en-US" sz="1200" dirty="0"/>
          </a:p>
        </p:txBody>
      </p:sp>
      <p:sp>
        <p:nvSpPr>
          <p:cNvPr id="8" name="Shape 6"/>
          <p:cNvSpPr/>
          <p:nvPr/>
        </p:nvSpPr>
        <p:spPr>
          <a:xfrm>
            <a:off x="3474720" y="1645920"/>
            <a:ext cx="2606040" cy="3200400"/>
          </a:xfrm>
          <a:prstGeom prst="roundRect">
            <a:avLst>
              <a:gd name="adj" fmla="val 2807"/>
            </a:avLst>
          </a:prstGeom>
          <a:solidFill>
            <a:srgbClr val="1B2A41"/>
          </a:solidFill>
          <a:ln w="9525">
            <a:solidFill>
              <a:srgbClr val="D8DEE4"/>
            </a:solidFill>
            <a:prstDash val="solid"/>
          </a:ln>
        </p:spPr>
      </p:sp>
      <p:sp>
        <p:nvSpPr>
          <p:cNvPr id="9" name="Shape 7"/>
          <p:cNvSpPr/>
          <p:nvPr/>
        </p:nvSpPr>
        <p:spPr>
          <a:xfrm>
            <a:off x="3749040" y="1938528"/>
            <a:ext cx="530352" cy="530352"/>
          </a:xfrm>
          <a:prstGeom prst="ellipse">
            <a:avLst/>
          </a:prstGeom>
          <a:solidFill>
            <a:srgbClr val="C1502E"/>
          </a:solidFill>
          <a:ln/>
        </p:spPr>
      </p:sp>
      <p:sp>
        <p:nvSpPr>
          <p:cNvPr id="10" name="Text 8"/>
          <p:cNvSpPr txBox="1"/>
          <p:nvPr/>
        </p:nvSpPr>
        <p:spPr>
          <a:xfrm>
            <a:off x="3749040" y="193852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3749040" y="2606040"/>
            <a:ext cx="2103120" cy="45720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Pays</a:t>
            </a:r>
            <a:endParaRPr lang="en-US" sz="2300" dirty="0"/>
          </a:p>
        </p:txBody>
      </p:sp>
      <p:sp>
        <p:nvSpPr>
          <p:cNvPr id="12" name="Text 10"/>
          <p:cNvSpPr txBox="1"/>
          <p:nvPr/>
        </p:nvSpPr>
        <p:spPr>
          <a:xfrm>
            <a:off x="3749040" y="3127248"/>
            <a:ext cx="2103120" cy="1554480"/>
          </a:xfrm>
          <a:prstGeom prst="rect">
            <a:avLst/>
          </a:prstGeom>
          <a:noFill/>
          <a:ln/>
        </p:spPr>
        <p:txBody>
          <a:bodyPr wrap="square" lIns="0" tIns="0" rIns="0" bIns="0" rtlCol="0" anchor="ctr"/>
          <a:lstStyle/>
          <a:p>
            <a:pPr indent="0" marL="0">
              <a:lnSpc>
                <a:spcPts val="1800"/>
              </a:lnSpc>
              <a:buNone/>
            </a:pPr>
            <a:r>
              <a:rPr lang="en-US" sz="1200" dirty="0">
                <a:solidFill>
                  <a:srgbClr val="E8EDF2"/>
                </a:solidFill>
                <a:latin typeface="Calibri" pitchFamily="34" charset="0"/>
                <a:ea typeface="Calibri" pitchFamily="34" charset="-122"/>
                <a:cs typeface="Calibri" pitchFamily="34" charset="-120"/>
              </a:rPr>
              <a:t>Every ticket on that itinerary, bought once, in one transaction — and it works when the network doesn't.</a:t>
            </a:r>
            <a:endParaRPr lang="en-US" sz="1200" dirty="0"/>
          </a:p>
        </p:txBody>
      </p:sp>
      <p:sp>
        <p:nvSpPr>
          <p:cNvPr id="13" name="Shape 11"/>
          <p:cNvSpPr/>
          <p:nvPr/>
        </p:nvSpPr>
        <p:spPr>
          <a:xfrm>
            <a:off x="6309360" y="1645920"/>
            <a:ext cx="2606040" cy="3200400"/>
          </a:xfrm>
          <a:prstGeom prst="roundRect">
            <a:avLst>
              <a:gd name="adj" fmla="val 2807"/>
            </a:avLst>
          </a:prstGeom>
          <a:solidFill>
            <a:srgbClr val="F2F4F6"/>
          </a:solidFill>
          <a:ln w="9525">
            <a:solidFill>
              <a:srgbClr val="D8DEE4"/>
            </a:solidFill>
            <a:prstDash val="solid"/>
          </a:ln>
        </p:spPr>
      </p:sp>
      <p:sp>
        <p:nvSpPr>
          <p:cNvPr id="14" name="Shape 12"/>
          <p:cNvSpPr/>
          <p:nvPr/>
        </p:nvSpPr>
        <p:spPr>
          <a:xfrm>
            <a:off x="6583680" y="1938528"/>
            <a:ext cx="530352" cy="530352"/>
          </a:xfrm>
          <a:prstGeom prst="ellipse">
            <a:avLst/>
          </a:prstGeom>
          <a:solidFill>
            <a:srgbClr val="2E4057"/>
          </a:solidFill>
          <a:ln/>
        </p:spPr>
      </p:sp>
      <p:sp>
        <p:nvSpPr>
          <p:cNvPr id="15" name="Text 13"/>
          <p:cNvSpPr txBox="1"/>
          <p:nvPr/>
        </p:nvSpPr>
        <p:spPr>
          <a:xfrm>
            <a:off x="6583680" y="193852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6583680" y="2606040"/>
            <a:ext cx="2103120" cy="457200"/>
          </a:xfrm>
          <a:prstGeom prst="rect">
            <a:avLst/>
          </a:prstGeom>
          <a:noFill/>
          <a:ln/>
        </p:spPr>
        <p:txBody>
          <a:bodyPr wrap="square" lIns="0" tIns="0" rIns="0" bIns="0" rtlCol="0" anchor="ctr"/>
          <a:lstStyle/>
          <a:p>
            <a:pPr indent="0" marL="0">
              <a:buNone/>
            </a:pPr>
            <a:r>
              <a:rPr lang="en-US" sz="2300" b="1" dirty="0">
                <a:solidFill>
                  <a:srgbClr val="1B2A41"/>
                </a:solidFill>
                <a:latin typeface="Cambria" pitchFamily="34" charset="0"/>
                <a:ea typeface="Cambria" pitchFamily="34" charset="-122"/>
                <a:cs typeface="Cambria" pitchFamily="34" charset="-120"/>
              </a:rPr>
              <a:t>Promotes</a:t>
            </a:r>
            <a:endParaRPr lang="en-US" sz="2300" dirty="0"/>
          </a:p>
        </p:txBody>
      </p:sp>
      <p:sp>
        <p:nvSpPr>
          <p:cNvPr id="17" name="Text 15"/>
          <p:cNvSpPr txBox="1"/>
          <p:nvPr/>
        </p:nvSpPr>
        <p:spPr>
          <a:xfrm>
            <a:off x="6583680" y="3127248"/>
            <a:ext cx="2103120" cy="1554480"/>
          </a:xfrm>
          <a:prstGeom prst="rect">
            <a:avLst/>
          </a:prstGeom>
          <a:noFill/>
          <a:ln/>
        </p:spPr>
        <p:txBody>
          <a:bodyPr wrap="square" lIns="0" tIns="0" rIns="0" bIns="0" rtlCol="0" anchor="ctr"/>
          <a:lstStyle/>
          <a:p>
            <a:pPr indent="0" marL="0">
              <a:lnSpc>
                <a:spcPts val="1800"/>
              </a:lnSpc>
              <a:buNone/>
            </a:pPr>
            <a:r>
              <a:rPr lang="en-US" sz="1200" dirty="0">
                <a:solidFill>
                  <a:srgbClr val="2E4057"/>
                </a:solidFill>
                <a:latin typeface="Calibri" pitchFamily="34" charset="0"/>
                <a:ea typeface="Calibri" pitchFamily="34" charset="-122"/>
                <a:cs typeface="Calibri" pitchFamily="34" charset="-120"/>
              </a:rPr>
              <a:t>The department steers demand with price: quiet days, quiet districts, the behaviour it wants to reward.</a:t>
            </a:r>
            <a:endParaRPr lang="en-US" sz="1200" dirty="0"/>
          </a:p>
        </p:txBody>
      </p:sp>
      <p:sp>
        <p:nvSpPr>
          <p:cNvPr id="18" name="Shape 16"/>
          <p:cNvSpPr/>
          <p:nvPr/>
        </p:nvSpPr>
        <p:spPr>
          <a:xfrm>
            <a:off x="9144000" y="1645920"/>
            <a:ext cx="2606040" cy="3200400"/>
          </a:xfrm>
          <a:prstGeom prst="roundRect">
            <a:avLst>
              <a:gd name="adj" fmla="val 2807"/>
            </a:avLst>
          </a:prstGeom>
          <a:solidFill>
            <a:srgbClr val="F2F4F6"/>
          </a:solidFill>
          <a:ln w="9525">
            <a:solidFill>
              <a:srgbClr val="D8DEE4"/>
            </a:solidFill>
            <a:prstDash val="solid"/>
          </a:ln>
        </p:spPr>
      </p:sp>
      <p:sp>
        <p:nvSpPr>
          <p:cNvPr id="19" name="Shape 17"/>
          <p:cNvSpPr/>
          <p:nvPr/>
        </p:nvSpPr>
        <p:spPr>
          <a:xfrm>
            <a:off x="9418320" y="1938528"/>
            <a:ext cx="530352" cy="530352"/>
          </a:xfrm>
          <a:prstGeom prst="ellipse">
            <a:avLst/>
          </a:prstGeom>
          <a:solidFill>
            <a:srgbClr val="2E4057"/>
          </a:solidFill>
          <a:ln/>
        </p:spPr>
      </p:sp>
      <p:sp>
        <p:nvSpPr>
          <p:cNvPr id="20" name="Text 18"/>
          <p:cNvSpPr txBox="1"/>
          <p:nvPr/>
        </p:nvSpPr>
        <p:spPr>
          <a:xfrm>
            <a:off x="9418320" y="193852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418320" y="2606040"/>
            <a:ext cx="2103120" cy="457200"/>
          </a:xfrm>
          <a:prstGeom prst="rect">
            <a:avLst/>
          </a:prstGeom>
          <a:noFill/>
          <a:ln/>
        </p:spPr>
        <p:txBody>
          <a:bodyPr wrap="square" lIns="0" tIns="0" rIns="0" bIns="0" rtlCol="0" anchor="ctr"/>
          <a:lstStyle/>
          <a:p>
            <a:pPr indent="0" marL="0">
              <a:buNone/>
            </a:pPr>
            <a:r>
              <a:rPr lang="en-US" sz="2300" b="1" dirty="0">
                <a:solidFill>
                  <a:srgbClr val="1B2A41"/>
                </a:solidFill>
                <a:latin typeface="Cambria" pitchFamily="34" charset="0"/>
                <a:ea typeface="Cambria" pitchFamily="34" charset="-122"/>
                <a:cs typeface="Cambria" pitchFamily="34" charset="-120"/>
              </a:rPr>
              <a:t>Answers</a:t>
            </a:r>
            <a:endParaRPr lang="en-US" sz="2300" dirty="0"/>
          </a:p>
        </p:txBody>
      </p:sp>
      <p:sp>
        <p:nvSpPr>
          <p:cNvPr id="22" name="Text 20"/>
          <p:cNvSpPr txBox="1"/>
          <p:nvPr/>
        </p:nvSpPr>
        <p:spPr>
          <a:xfrm>
            <a:off x="9418320" y="3127248"/>
            <a:ext cx="2103120" cy="1554480"/>
          </a:xfrm>
          <a:prstGeom prst="rect">
            <a:avLst/>
          </a:prstGeom>
          <a:noFill/>
          <a:ln/>
        </p:spPr>
        <p:txBody>
          <a:bodyPr wrap="square" lIns="0" tIns="0" rIns="0" bIns="0" rtlCol="0" anchor="ctr"/>
          <a:lstStyle/>
          <a:p>
            <a:pPr indent="0" marL="0">
              <a:lnSpc>
                <a:spcPts val="1800"/>
              </a:lnSpc>
              <a:buNone/>
            </a:pPr>
            <a:r>
              <a:rPr lang="en-US" sz="1200" dirty="0">
                <a:solidFill>
                  <a:srgbClr val="2E4057"/>
                </a:solidFill>
                <a:latin typeface="Calibri" pitchFamily="34" charset="0"/>
                <a:ea typeface="Calibri" pitchFamily="34" charset="-122"/>
                <a:cs typeface="Calibri" pitchFamily="34" charset="-120"/>
              </a:rPr>
              <a:t>An assistant that knows today: what's open, what's crowded, what's restricted, what a ticket costs, in the visitor's language.</a:t>
            </a:r>
            <a:endParaRPr lang="en-US" sz="1200" dirty="0"/>
          </a:p>
        </p:txBody>
      </p:sp>
      <p:sp>
        <p:nvSpPr>
          <p:cNvPr id="23" name="Text 21"/>
          <p:cNvSpPr txBox="1"/>
          <p:nvPr/>
        </p:nvSpPr>
        <p:spPr>
          <a:xfrm>
            <a:off x="640080" y="5120640"/>
            <a:ext cx="10972800" cy="457200"/>
          </a:xfrm>
          <a:prstGeom prst="rect">
            <a:avLst/>
          </a:prstGeom>
          <a:noFill/>
          <a:ln/>
        </p:spPr>
        <p:txBody>
          <a:bodyPr wrap="square" lIns="0" tIns="0" rIns="0" bIns="0" rtlCol="0" anchor="ctr"/>
          <a:lstStyle/>
          <a:p>
            <a:pPr indent="0" marL="0">
              <a:lnSpc>
                <a:spcPts val="2200"/>
              </a:lnSpc>
              <a:buNone/>
            </a:pPr>
            <a:r>
              <a:rPr lang="en-US" sz="1500" dirty="0">
                <a:solidFill>
                  <a:srgbClr val="1B2A41"/>
                </a:solidFill>
                <a:latin typeface="Calibri" pitchFamily="34" charset="0"/>
                <a:ea typeface="Calibri" pitchFamily="34" charset="-122"/>
                <a:cs typeface="Calibri" pitchFamily="34" charset="-120"/>
              </a:rPr>
              <a:t>Built on the department's own content, its own registered operators, and its own ticketing — not scraped from the internet.</a:t>
            </a:r>
            <a:endParaRPr lang="en-US" sz="1500" dirty="0"/>
          </a:p>
        </p:txBody>
      </p:sp>
      <p:sp>
        <p:nvSpPr>
          <p:cNvPr id="24" name="Text 22"/>
          <p:cNvSpPr txBox="1"/>
          <p:nvPr/>
        </p:nvSpPr>
        <p:spPr>
          <a:xfrm>
            <a:off x="640080" y="5669280"/>
            <a:ext cx="10972800" cy="41148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That last line is what makes it the state's product and nobody else's.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Plans — around the visitor, not around a brochure</a:t>
            </a:r>
            <a:endParaRPr lang="en-US" sz="3200" dirty="0"/>
          </a:p>
        </p:txBody>
      </p:sp>
      <p:sp>
        <p:nvSpPr>
          <p:cNvPr id="3" name="Shape 1"/>
          <p:cNvSpPr/>
          <p:nvPr/>
        </p:nvSpPr>
        <p:spPr>
          <a:xfrm>
            <a:off x="640080" y="1371600"/>
            <a:ext cx="5120640" cy="3749040"/>
          </a:xfrm>
          <a:prstGeom prst="roundRect">
            <a:avLst>
              <a:gd name="adj" fmla="val 1951"/>
            </a:avLst>
          </a:prstGeom>
          <a:solidFill>
            <a:srgbClr val="F2F4F6"/>
          </a:solidFill>
          <a:ln w="9525">
            <a:solidFill>
              <a:srgbClr val="D8DEE4"/>
            </a:solidFill>
            <a:prstDash val="solid"/>
          </a:ln>
        </p:spPr>
      </p:sp>
      <p:sp>
        <p:nvSpPr>
          <p:cNvPr id="4" name="Text 2"/>
          <p:cNvSpPr txBox="1"/>
          <p:nvPr/>
        </p:nvSpPr>
        <p:spPr>
          <a:xfrm>
            <a:off x="960120" y="1645920"/>
            <a:ext cx="4480560" cy="36576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What it asks</a:t>
            </a:r>
            <a:endParaRPr lang="en-US" sz="1900" dirty="0"/>
          </a:p>
        </p:txBody>
      </p:sp>
      <p:sp>
        <p:nvSpPr>
          <p:cNvPr id="5" name="Text 3"/>
          <p:cNvSpPr txBox="1"/>
          <p:nvPr/>
        </p:nvSpPr>
        <p:spPr>
          <a:xfrm>
            <a:off x="960120" y="2103120"/>
            <a:ext cx="4480560" cy="2834640"/>
          </a:xfrm>
          <a:prstGeom prst="rect">
            <a:avLst/>
          </a:prstGeom>
          <a:noFill/>
          <a:ln/>
        </p:spPr>
        <p:txBody>
          <a:bodyPr wrap="square" lIns="0" tIns="0" rIns="0" bIns="0" rtlCol="0" anchor="ctr"/>
          <a:lstStyle/>
          <a:p>
            <a:pPr marL="342900" indent="-342900">
              <a:spcAft>
                <a:spcPts val="1400"/>
              </a:spcAft>
              <a:buSzPct val="100000"/>
              <a:buChar char="•"/>
            </a:pPr>
            <a:r>
              <a:rPr lang="en-US" sz="1400" dirty="0">
                <a:solidFill>
                  <a:srgbClr val="2E4057"/>
                </a:solidFill>
                <a:latin typeface="Calibri" pitchFamily="34" charset="0"/>
                <a:ea typeface="Calibri" pitchFamily="34" charset="-122"/>
                <a:cs typeface="Calibri" pitchFamily="34" charset="-120"/>
              </a:rPr>
              <a:t>How many days, and from where</a:t>
            </a:r>
            <a:endParaRPr lang="en-US" sz="1400" dirty="0"/>
          </a:p>
          <a:p>
            <a:pPr marL="342900" indent="-342900">
              <a:spcAft>
                <a:spcPts val="1400"/>
              </a:spcAft>
              <a:buSzPct val="100000"/>
              <a:buChar char="•"/>
            </a:pPr>
            <a:r>
              <a:rPr lang="en-US" sz="1400" dirty="0">
                <a:solidFill>
                  <a:srgbClr val="2E4057"/>
                </a:solidFill>
                <a:latin typeface="Calibri" pitchFamily="34" charset="0"/>
                <a:ea typeface="Calibri" pitchFamily="34" charset="-122"/>
                <a:cs typeface="Calibri" pitchFamily="34" charset="-120"/>
              </a:rPr>
              <a:t>Who is travelling — children, elders, mobility needs</a:t>
            </a:r>
            <a:endParaRPr lang="en-US" sz="1400" dirty="0"/>
          </a:p>
          <a:p>
            <a:pPr marL="342900" indent="-342900">
              <a:spcAft>
                <a:spcPts val="1400"/>
              </a:spcAft>
              <a:buSzPct val="100000"/>
              <a:buChar char="•"/>
            </a:pPr>
            <a:r>
              <a:rPr lang="en-US" sz="1400" dirty="0">
                <a:solidFill>
                  <a:srgbClr val="2E4057"/>
                </a:solidFill>
                <a:latin typeface="Calibri" pitchFamily="34" charset="0"/>
                <a:ea typeface="Calibri" pitchFamily="34" charset="-122"/>
                <a:cs typeface="Calibri" pitchFamily="34" charset="-120"/>
              </a:rPr>
              <a:t>Budget, and appetite for walking or climbing</a:t>
            </a:r>
            <a:endParaRPr lang="en-US" sz="1400" dirty="0"/>
          </a:p>
          <a:p>
            <a:pPr marL="342900" indent="-342900">
              <a:spcAft>
                <a:spcPts val="1400"/>
              </a:spcAft>
              <a:buSzPct val="100000"/>
              <a:buChar char="•"/>
            </a:pPr>
            <a:r>
              <a:rPr lang="en-US" sz="1400" dirty="0">
                <a:solidFill>
                  <a:srgbClr val="2E4057"/>
                </a:solidFill>
                <a:latin typeface="Calibri" pitchFamily="34" charset="0"/>
                <a:ea typeface="Calibri" pitchFamily="34" charset="-122"/>
                <a:cs typeface="Calibri" pitchFamily="34" charset="-120"/>
              </a:rPr>
              <a:t>Interests — forts, coast, wildlife, temples, food</a:t>
            </a:r>
            <a:endParaRPr lang="en-US" sz="1400" dirty="0"/>
          </a:p>
          <a:p>
            <a:pPr marL="342900" indent="-342900">
              <a:spcAft>
                <a:spcPts val="1400"/>
              </a:spcAft>
              <a:buSzPct val="100000"/>
              <a:buChar char="•"/>
            </a:pPr>
            <a:r>
              <a:rPr lang="en-US" sz="1400" dirty="0">
                <a:solidFill>
                  <a:srgbClr val="2E4057"/>
                </a:solidFill>
                <a:latin typeface="Calibri" pitchFamily="34" charset="0"/>
                <a:ea typeface="Calibri" pitchFamily="34" charset="-122"/>
                <a:cs typeface="Calibri" pitchFamily="34" charset="-120"/>
              </a:rPr>
              <a:t>Language they want to be spoken to in</a:t>
            </a:r>
            <a:endParaRPr lang="en-US" sz="1400" dirty="0"/>
          </a:p>
        </p:txBody>
      </p:sp>
      <p:sp>
        <p:nvSpPr>
          <p:cNvPr id="6" name="Shape 4"/>
          <p:cNvSpPr/>
          <p:nvPr/>
        </p:nvSpPr>
        <p:spPr>
          <a:xfrm>
            <a:off x="6217920" y="1371600"/>
            <a:ext cx="5394960" cy="3749040"/>
          </a:xfrm>
          <a:prstGeom prst="roundRect">
            <a:avLst>
              <a:gd name="adj" fmla="val 1951"/>
            </a:avLst>
          </a:prstGeom>
          <a:solidFill>
            <a:srgbClr val="1B2A41"/>
          </a:solidFill>
          <a:ln w="9525">
            <a:solidFill>
              <a:srgbClr val="D8DEE4"/>
            </a:solidFill>
            <a:prstDash val="solid"/>
          </a:ln>
        </p:spPr>
      </p:sp>
      <p:sp>
        <p:nvSpPr>
          <p:cNvPr id="7" name="Text 5"/>
          <p:cNvSpPr txBox="1"/>
          <p:nvPr/>
        </p:nvSpPr>
        <p:spPr>
          <a:xfrm>
            <a:off x="6537960" y="1645920"/>
            <a:ext cx="47548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it returns</a:t>
            </a:r>
            <a:endParaRPr lang="en-US" sz="1900" dirty="0"/>
          </a:p>
        </p:txBody>
      </p:sp>
      <p:sp>
        <p:nvSpPr>
          <p:cNvPr id="8" name="Text 6"/>
          <p:cNvSpPr txBox="1"/>
          <p:nvPr/>
        </p:nvSpPr>
        <p:spPr>
          <a:xfrm>
            <a:off x="6537960" y="2103120"/>
            <a:ext cx="4754880" cy="2834640"/>
          </a:xfrm>
          <a:prstGeom prst="rect">
            <a:avLst/>
          </a:prstGeom>
          <a:noFill/>
          <a:ln/>
        </p:spPr>
        <p:txBody>
          <a:bodyPr wrap="square" lIns="0" tIns="0" rIns="0" bIns="0" rtlCol="0" anchor="ctr"/>
          <a:lstStyle/>
          <a:p>
            <a:pPr marL="342900" indent="-342900">
              <a:spcAft>
                <a:spcPts val="1400"/>
              </a:spcAft>
              <a:buSzPct val="100000"/>
              <a:buChar char="•"/>
            </a:pPr>
            <a:r>
              <a:rPr lang="en-US" sz="1400" dirty="0">
                <a:solidFill>
                  <a:srgbClr val="E8EDF2"/>
                </a:solidFill>
                <a:latin typeface="Calibri" pitchFamily="34" charset="0"/>
                <a:ea typeface="Calibri" pitchFamily="34" charset="-122"/>
                <a:cs typeface="Calibri" pitchFamily="34" charset="-120"/>
              </a:rPr>
              <a:t>A day-by-day plan across the department's own sites</a:t>
            </a:r>
            <a:endParaRPr lang="en-US" sz="1400" dirty="0"/>
          </a:p>
          <a:p>
            <a:pPr marL="342900" indent="-342900">
              <a:spcAft>
                <a:spcPts val="1400"/>
              </a:spcAft>
              <a:buSzPct val="100000"/>
              <a:buChar char="•"/>
            </a:pPr>
            <a:r>
              <a:rPr lang="en-US" sz="1400" dirty="0">
                <a:solidFill>
                  <a:srgbClr val="E8EDF2"/>
                </a:solidFill>
                <a:latin typeface="Calibri" pitchFamily="34" charset="0"/>
                <a:ea typeface="Calibri" pitchFamily="34" charset="-122"/>
                <a:cs typeface="Calibri" pitchFamily="34" charset="-120"/>
              </a:rPr>
              <a:t>Every ticket the trip needs, priced and listed up front</a:t>
            </a:r>
            <a:endParaRPr lang="en-US" sz="1400" dirty="0"/>
          </a:p>
          <a:p>
            <a:pPr marL="342900" indent="-342900">
              <a:spcAft>
                <a:spcPts val="1400"/>
              </a:spcAft>
              <a:buSzPct val="100000"/>
              <a:buChar char="•"/>
            </a:pPr>
            <a:r>
              <a:rPr lang="en-US" sz="1400" dirty="0">
                <a:solidFill>
                  <a:srgbClr val="E8EDF2"/>
                </a:solidFill>
                <a:latin typeface="Calibri" pitchFamily="34" charset="0"/>
                <a:ea typeface="Calibri" pitchFamily="34" charset="-122"/>
                <a:cs typeface="Calibri" pitchFamily="34" charset="-120"/>
              </a:rPr>
              <a:t>Travel time and the last entry hour for each gate</a:t>
            </a:r>
            <a:endParaRPr lang="en-US" sz="1400" dirty="0"/>
          </a:p>
          <a:p>
            <a:pPr marL="342900" indent="-342900">
              <a:spcAft>
                <a:spcPts val="1400"/>
              </a:spcAft>
              <a:buSzPct val="100000"/>
              <a:buChar char="•"/>
            </a:pPr>
            <a:r>
              <a:rPr lang="en-US" sz="1400" dirty="0">
                <a:solidFill>
                  <a:srgbClr val="E8EDF2"/>
                </a:solidFill>
                <a:latin typeface="Calibri" pitchFamily="34" charset="0"/>
                <a:ea typeface="Calibri" pitchFamily="34" charset="-122"/>
                <a:cs typeface="Calibri" pitchFamily="34" charset="-120"/>
              </a:rPr>
              <a:t>Stays and guides drawn only from registered operators</a:t>
            </a:r>
            <a:endParaRPr lang="en-US" sz="1400" dirty="0"/>
          </a:p>
          <a:p>
            <a:pPr marL="342900" indent="-342900">
              <a:spcAft>
                <a:spcPts val="1400"/>
              </a:spcAft>
              <a:buSzPct val="100000"/>
              <a:buChar char="•"/>
            </a:pPr>
            <a:r>
              <a:rPr lang="en-US" sz="1400" dirty="0">
                <a:solidFill>
                  <a:srgbClr val="E8EDF2"/>
                </a:solidFill>
                <a:latin typeface="Calibri" pitchFamily="34" charset="0"/>
                <a:ea typeface="Calibri" pitchFamily="34" charset="-122"/>
                <a:cs typeface="Calibri" pitchFamily="34" charset="-120"/>
              </a:rPr>
              <a:t>Warnings — restrictions, closures, monsoon orders</a:t>
            </a:r>
            <a:endParaRPr lang="en-US" sz="1400" dirty="0"/>
          </a:p>
        </p:txBody>
      </p:sp>
      <p:sp>
        <p:nvSpPr>
          <p:cNvPr id="9" name="Text 7"/>
          <p:cNvSpPr txBox="1"/>
          <p:nvPr/>
        </p:nvSpPr>
        <p:spPr>
          <a:xfrm>
            <a:off x="640080" y="5715000"/>
            <a:ext cx="10972800" cy="45720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A visitor who knows Kanheri needs a second ticket, before they leave Borivali, does not turn back.</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Pays — one transaction for a trip with many gates</a:t>
            </a:r>
            <a:endParaRPr lang="en-US" sz="3200" dirty="0"/>
          </a:p>
        </p:txBody>
      </p:sp>
      <p:sp>
        <p:nvSpPr>
          <p:cNvPr id="3" name="Shape 1"/>
          <p:cNvSpPr/>
          <p:nvPr/>
        </p:nvSpPr>
        <p:spPr>
          <a:xfrm>
            <a:off x="640080" y="1371600"/>
            <a:ext cx="10972800" cy="1417320"/>
          </a:xfrm>
          <a:prstGeom prst="roundRect">
            <a:avLst>
              <a:gd name="adj" fmla="val 5161"/>
            </a:avLst>
          </a:prstGeom>
          <a:solidFill>
            <a:srgbClr val="F2F4F6"/>
          </a:solidFill>
          <a:ln w="9525">
            <a:solidFill>
              <a:srgbClr val="D8DEE4"/>
            </a:solidFill>
            <a:prstDash val="solid"/>
          </a:ln>
        </p:spPr>
      </p:sp>
      <p:sp>
        <p:nvSpPr>
          <p:cNvPr id="4" name="Text 2"/>
          <p:cNvSpPr txBox="1"/>
          <p:nvPr/>
        </p:nvSpPr>
        <p:spPr>
          <a:xfrm>
            <a:off x="960120" y="1572768"/>
            <a:ext cx="1371600" cy="320040"/>
          </a:xfrm>
          <a:prstGeom prst="rect">
            <a:avLst/>
          </a:prstGeom>
          <a:noFill/>
          <a:ln/>
        </p:spPr>
        <p:txBody>
          <a:bodyPr wrap="square" lIns="0" tIns="0" rIns="0" bIns="0" rtlCol="0" anchor="ctr"/>
          <a:lstStyle/>
          <a:p>
            <a:pPr indent="0" marL="0">
              <a:buNone/>
            </a:pPr>
            <a:r>
              <a:rPr lang="en-US" sz="1200" b="1" spc="150" kern="0" dirty="0">
                <a:solidFill>
                  <a:srgbClr val="6B7785"/>
                </a:solidFill>
                <a:latin typeface="Calibri" pitchFamily="34" charset="0"/>
                <a:ea typeface="Calibri" pitchFamily="34" charset="-122"/>
                <a:cs typeface="Calibri" pitchFamily="34" charset="-120"/>
              </a:rPr>
              <a:t>Today</a:t>
            </a:r>
            <a:endParaRPr lang="en-US" sz="1200" dirty="0"/>
          </a:p>
        </p:txBody>
      </p:sp>
      <p:sp>
        <p:nvSpPr>
          <p:cNvPr id="5" name="Text 3"/>
          <p:cNvSpPr txBox="1"/>
          <p:nvPr/>
        </p:nvSpPr>
        <p:spPr>
          <a:xfrm>
            <a:off x="960120" y="1920240"/>
            <a:ext cx="10332720" cy="457200"/>
          </a:xfrm>
          <a:prstGeom prst="rect">
            <a:avLst/>
          </a:prstGeom>
          <a:noFill/>
          <a:ln/>
        </p:spPr>
        <p:txBody>
          <a:bodyPr wrap="square" lIns="0" tIns="0" rIns="0" bIns="0" rtlCol="0" anchor="ctr"/>
          <a:lstStyle/>
          <a:p>
            <a:pPr indent="0" marL="0">
              <a:buNone/>
            </a:pPr>
            <a:r>
              <a:rPr lang="en-US" sz="2000" dirty="0">
                <a:solidFill>
                  <a:srgbClr val="2E4057"/>
                </a:solidFill>
                <a:latin typeface="Cambria" pitchFamily="34" charset="0"/>
                <a:ea typeface="Cambria" pitchFamily="34" charset="-122"/>
                <a:cs typeface="Cambria" pitchFamily="34" charset="-120"/>
              </a:rPr>
              <a:t>Park gate  →  shuttle counter  →  monument counter  →  guide  →  parking</a:t>
            </a:r>
            <a:endParaRPr lang="en-US" sz="2000" dirty="0"/>
          </a:p>
        </p:txBody>
      </p:sp>
      <p:sp>
        <p:nvSpPr>
          <p:cNvPr id="6" name="Text 4"/>
          <p:cNvSpPr txBox="1"/>
          <p:nvPr/>
        </p:nvSpPr>
        <p:spPr>
          <a:xfrm>
            <a:off x="960120" y="2377440"/>
            <a:ext cx="10332720" cy="320040"/>
          </a:xfrm>
          <a:prstGeom prst="rect">
            <a:avLst/>
          </a:prstGeom>
          <a:noFill/>
          <a:ln/>
        </p:spPr>
        <p:txBody>
          <a:bodyPr wrap="square" lIns="0" tIns="0" rIns="0" bIns="0" rtlCol="0" anchor="ctr"/>
          <a:lstStyle/>
          <a:p>
            <a:pPr indent="0" marL="0">
              <a:buNone/>
            </a:pPr>
            <a:r>
              <a:rPr lang="en-US" sz="1250" dirty="0">
                <a:solidFill>
                  <a:srgbClr val="6B7785"/>
                </a:solidFill>
                <a:latin typeface="Calibri" pitchFamily="34" charset="0"/>
                <a:ea typeface="Calibri" pitchFamily="34" charset="-122"/>
                <a:cs typeface="Calibri" pitchFamily="34" charset="-120"/>
              </a:rPr>
              <a:t>Five payments, five queues, five authorities, cash at the ones that matter most.</a:t>
            </a:r>
            <a:endParaRPr lang="en-US" sz="1250" dirty="0"/>
          </a:p>
        </p:txBody>
      </p:sp>
      <p:sp>
        <p:nvSpPr>
          <p:cNvPr id="7" name="Shape 5"/>
          <p:cNvSpPr/>
          <p:nvPr/>
        </p:nvSpPr>
        <p:spPr>
          <a:xfrm>
            <a:off x="640080" y="2971800"/>
            <a:ext cx="10972800" cy="1600200"/>
          </a:xfrm>
          <a:prstGeom prst="roundRect">
            <a:avLst>
              <a:gd name="adj" fmla="val 4571"/>
            </a:avLst>
          </a:prstGeom>
          <a:solidFill>
            <a:srgbClr val="1B2A41"/>
          </a:solidFill>
          <a:ln w="9525">
            <a:solidFill>
              <a:srgbClr val="D8DEE4"/>
            </a:solidFill>
            <a:prstDash val="solid"/>
          </a:ln>
        </p:spPr>
      </p:sp>
      <p:sp>
        <p:nvSpPr>
          <p:cNvPr id="8" name="Text 6"/>
          <p:cNvSpPr txBox="1"/>
          <p:nvPr/>
        </p:nvSpPr>
        <p:spPr>
          <a:xfrm>
            <a:off x="960120" y="3182112"/>
            <a:ext cx="2286000" cy="320040"/>
          </a:xfrm>
          <a:prstGeom prst="rect">
            <a:avLst/>
          </a:prstGeom>
          <a:noFill/>
          <a:ln/>
        </p:spPr>
        <p:txBody>
          <a:bodyPr wrap="square" lIns="0" tIns="0" rIns="0" bIns="0" rtlCol="0" anchor="ctr"/>
          <a:lstStyle/>
          <a:p>
            <a:pPr indent="0" marL="0">
              <a:buNone/>
            </a:pPr>
            <a:r>
              <a:rPr lang="en-US" sz="1200" b="1" spc="150" kern="0" dirty="0">
                <a:solidFill>
                  <a:srgbClr val="C1502E"/>
                </a:solidFill>
                <a:latin typeface="Calibri" pitchFamily="34" charset="0"/>
                <a:ea typeface="Calibri" pitchFamily="34" charset="-122"/>
                <a:cs typeface="Calibri" pitchFamily="34" charset="-120"/>
              </a:rPr>
              <a:t>With the app</a:t>
            </a:r>
            <a:endParaRPr lang="en-US" sz="1200" dirty="0"/>
          </a:p>
        </p:txBody>
      </p:sp>
      <p:sp>
        <p:nvSpPr>
          <p:cNvPr id="9" name="Text 7"/>
          <p:cNvSpPr txBox="1"/>
          <p:nvPr/>
        </p:nvSpPr>
        <p:spPr>
          <a:xfrm>
            <a:off x="960120" y="3547872"/>
            <a:ext cx="103327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One payment  →  one QR pass  →  every gate on the itinerary</a:t>
            </a:r>
            <a:endParaRPr lang="en-US" sz="2200" dirty="0"/>
          </a:p>
        </p:txBody>
      </p:sp>
      <p:sp>
        <p:nvSpPr>
          <p:cNvPr id="10" name="Text 8"/>
          <p:cNvSpPr txBox="1"/>
          <p:nvPr/>
        </p:nvSpPr>
        <p:spPr>
          <a:xfrm>
            <a:off x="960120" y="4023360"/>
            <a:ext cx="10332720" cy="457200"/>
          </a:xfrm>
          <a:prstGeom prst="rect">
            <a:avLst/>
          </a:prstGeom>
          <a:noFill/>
          <a:ln/>
        </p:spPr>
        <p:txBody>
          <a:bodyPr wrap="square" lIns="0" tIns="0" rIns="0" bIns="0" rtlCol="0" anchor="ctr"/>
          <a:lstStyle/>
          <a:p>
            <a:pPr indent="0" marL="0">
              <a:buNone/>
            </a:pPr>
            <a:r>
              <a:rPr lang="en-US" sz="1300" dirty="0">
                <a:solidFill>
                  <a:srgbClr val="E8EDF2"/>
                </a:solidFill>
                <a:latin typeface="Calibri" pitchFamily="34" charset="0"/>
                <a:ea typeface="Calibri" pitchFamily="34" charset="-122"/>
                <a:cs typeface="Calibri" pitchFamily="34" charset="-120"/>
              </a:rPr>
              <a:t>Settlement is split behind the scenes and routed to each authority — Forest Department, ASI, MTDC, the registered operator. The visitor never sees the seam.</a:t>
            </a:r>
            <a:endParaRPr lang="en-US" sz="1300" dirty="0"/>
          </a:p>
        </p:txBody>
      </p:sp>
      <p:sp>
        <p:nvSpPr>
          <p:cNvPr id="11" name="Text 9"/>
          <p:cNvSpPr txBox="1"/>
          <p:nvPr/>
        </p:nvSpPr>
        <p:spPr>
          <a:xfrm>
            <a:off x="640080" y="4846320"/>
            <a:ext cx="5303520" cy="365760"/>
          </a:xfrm>
          <a:prstGeom prst="rect">
            <a:avLst/>
          </a:prstGeom>
          <a:noFill/>
          <a:ln/>
        </p:spPr>
        <p:txBody>
          <a:bodyPr wrap="square" lIns="0" tIns="0" rIns="0" bIns="0" rtlCol="0" anchor="ctr"/>
          <a:lstStyle/>
          <a:p>
            <a:pPr indent="0" marL="0">
              <a:buNone/>
            </a:pPr>
            <a:r>
              <a:rPr lang="en-US" sz="1600" b="1" dirty="0">
                <a:solidFill>
                  <a:srgbClr val="C1502E"/>
                </a:solidFill>
                <a:latin typeface="Cambria" pitchFamily="34" charset="0"/>
                <a:ea typeface="Cambria" pitchFamily="34" charset="-122"/>
                <a:cs typeface="Cambria" pitchFamily="34" charset="-120"/>
              </a:rPr>
              <a:t>Revenue the state can see</a:t>
            </a:r>
            <a:endParaRPr lang="en-US" sz="1600" dirty="0"/>
          </a:p>
        </p:txBody>
      </p:sp>
      <p:sp>
        <p:nvSpPr>
          <p:cNvPr id="12" name="Text 10"/>
          <p:cNvSpPr txBox="1"/>
          <p:nvPr/>
        </p:nvSpPr>
        <p:spPr>
          <a:xfrm>
            <a:off x="640080" y="5257800"/>
            <a:ext cx="5303520" cy="82296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Every ticket sold through the app is a recorded, reconciled transaction — not a paper stub in a cash box.</a:t>
            </a:r>
            <a:endParaRPr lang="en-US" sz="1300" dirty="0"/>
          </a:p>
        </p:txBody>
      </p:sp>
      <p:sp>
        <p:nvSpPr>
          <p:cNvPr id="13" name="Text 11"/>
          <p:cNvSpPr txBox="1"/>
          <p:nvPr/>
        </p:nvSpPr>
        <p:spPr>
          <a:xfrm>
            <a:off x="6263640" y="4846320"/>
            <a:ext cx="5303520" cy="365760"/>
          </a:xfrm>
          <a:prstGeom prst="rect">
            <a:avLst/>
          </a:prstGeom>
          <a:noFill/>
          <a:ln/>
        </p:spPr>
        <p:txBody>
          <a:bodyPr wrap="square" lIns="0" tIns="0" rIns="0" bIns="0" rtlCol="0" anchor="ctr"/>
          <a:lstStyle/>
          <a:p>
            <a:pPr indent="0" marL="0">
              <a:buNone/>
            </a:pPr>
            <a:r>
              <a:rPr lang="en-US" sz="1600" b="1" dirty="0">
                <a:solidFill>
                  <a:srgbClr val="C1502E"/>
                </a:solidFill>
                <a:latin typeface="Cambria" pitchFamily="34" charset="0"/>
                <a:ea typeface="Cambria" pitchFamily="34" charset="-122"/>
                <a:cs typeface="Cambria" pitchFamily="34" charset="-120"/>
              </a:rPr>
              <a:t>Capacity becomes controllable</a:t>
            </a:r>
            <a:endParaRPr lang="en-US" sz="1600" dirty="0"/>
          </a:p>
        </p:txBody>
      </p:sp>
      <p:sp>
        <p:nvSpPr>
          <p:cNvPr id="14" name="Text 12"/>
          <p:cNvSpPr txBox="1"/>
          <p:nvPr/>
        </p:nvSpPr>
        <p:spPr>
          <a:xfrm>
            <a:off x="6263640" y="5257800"/>
            <a:ext cx="5303520" cy="822960"/>
          </a:xfrm>
          <a:prstGeom prst="rect">
            <a:avLst/>
          </a:prstGeom>
          <a:noFill/>
          <a:ln/>
        </p:spPr>
        <p:txBody>
          <a:bodyPr wrap="square" lIns="0" tIns="0" rIns="0" bIns="0" rtlCol="0" anchor="ctr"/>
          <a:lstStyle/>
          <a:p>
            <a:pPr indent="0" marL="0">
              <a:lnSpc>
                <a:spcPts val="1900"/>
              </a:lnSpc>
              <a:buNone/>
            </a:pPr>
            <a:r>
              <a:rPr lang="en-US" sz="1300" dirty="0">
                <a:solidFill>
                  <a:srgbClr val="2E4057"/>
                </a:solidFill>
                <a:latin typeface="Calibri" pitchFamily="34" charset="0"/>
                <a:ea typeface="Calibri" pitchFamily="34" charset="-122"/>
                <a:cs typeface="Calibri" pitchFamily="34" charset="-120"/>
              </a:rPr>
              <a:t>Once tickets are issued in advance, a site can be capped, timed, or priced by slot. That is the whole of crowd management.</a:t>
            </a:r>
            <a:endParaRPr lang="en-US" sz="1300" dirty="0"/>
          </a:p>
        </p:txBody>
      </p:sp>
      <p:sp>
        <p:nvSpPr>
          <p:cNvPr id="15" name="Text 13"/>
          <p:cNvSpPr txBox="1"/>
          <p:nvPr/>
        </p:nvSpPr>
        <p:spPr>
          <a:xfrm>
            <a:off x="640080" y="6236208"/>
            <a:ext cx="10972800" cy="32004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ASI has offered online ticketing for 170+ centrally-protected monuments, and opened it on the ONDC network in January 2026 — an integration path already exists.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Promotes — price becomes an instrument, not just a rate</a:t>
            </a:r>
            <a:endParaRPr lang="en-US" sz="3200" dirty="0"/>
          </a:p>
        </p:txBody>
      </p:sp>
      <p:sp>
        <p:nvSpPr>
          <p:cNvPr id="3" name="Text 1"/>
          <p:cNvSpPr txBox="1"/>
          <p:nvPr/>
        </p:nvSpPr>
        <p:spPr>
          <a:xfrm>
            <a:off x="640080" y="1170432"/>
            <a:ext cx="10972800" cy="411480"/>
          </a:xfrm>
          <a:prstGeom prst="rect">
            <a:avLst/>
          </a:prstGeom>
          <a:noFill/>
          <a:ln/>
        </p:spPr>
        <p:txBody>
          <a:bodyPr wrap="square" lIns="0" tIns="0" rIns="0" bIns="0" rtlCol="0" anchor="ctr"/>
          <a:lstStyle/>
          <a:p>
            <a:pPr indent="0" marL="0">
              <a:buNone/>
            </a:pPr>
            <a:r>
              <a:rPr lang="en-US" sz="1500" i="1" dirty="0">
                <a:solidFill>
                  <a:srgbClr val="6B7785"/>
                </a:solidFill>
                <a:latin typeface="Calibri" pitchFamily="34" charset="0"/>
                <a:ea typeface="Calibri" pitchFamily="34" charset="-122"/>
                <a:cs typeface="Calibri" pitchFamily="34" charset="-120"/>
              </a:rPr>
              <a:t>Once the state issues the ticket, the state sets the offer. That is a policy lever the department has never had.</a:t>
            </a:r>
            <a:endParaRPr lang="en-US" sz="1500" dirty="0"/>
          </a:p>
        </p:txBody>
      </p:sp>
      <p:sp>
        <p:nvSpPr>
          <p:cNvPr id="4" name="Shape 2"/>
          <p:cNvSpPr/>
          <p:nvPr/>
        </p:nvSpPr>
        <p:spPr>
          <a:xfrm>
            <a:off x="640080" y="1691640"/>
            <a:ext cx="3520440" cy="2286000"/>
          </a:xfrm>
          <a:prstGeom prst="roundRect">
            <a:avLst>
              <a:gd name="adj" fmla="val 3200"/>
            </a:avLst>
          </a:prstGeom>
          <a:solidFill>
            <a:srgbClr val="F2F4F6"/>
          </a:solidFill>
          <a:ln w="9525">
            <a:solidFill>
              <a:srgbClr val="D8DEE4"/>
            </a:solidFill>
            <a:prstDash val="solid"/>
          </a:ln>
        </p:spPr>
      </p:sp>
      <p:sp>
        <p:nvSpPr>
          <p:cNvPr id="5" name="Shape 3"/>
          <p:cNvSpPr/>
          <p:nvPr/>
        </p:nvSpPr>
        <p:spPr>
          <a:xfrm>
            <a:off x="960120" y="1965960"/>
            <a:ext cx="457200" cy="457200"/>
          </a:xfrm>
          <a:prstGeom prst="ellipse">
            <a:avLst/>
          </a:prstGeom>
          <a:solidFill>
            <a:srgbClr val="C1502E"/>
          </a:solidFill>
          <a:ln/>
        </p:spPr>
      </p:sp>
      <p:sp>
        <p:nvSpPr>
          <p:cNvPr id="6" name="Text 4"/>
          <p:cNvSpPr txBox="1"/>
          <p:nvPr/>
        </p:nvSpPr>
        <p:spPr>
          <a:xfrm>
            <a:off x="960120"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960120" y="2560320"/>
            <a:ext cx="2926080" cy="384048"/>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Fill the empty days</a:t>
            </a:r>
            <a:endParaRPr lang="en-US" sz="1700" dirty="0"/>
          </a:p>
        </p:txBody>
      </p:sp>
      <p:sp>
        <p:nvSpPr>
          <p:cNvPr id="8" name="Text 6"/>
          <p:cNvSpPr txBox="1"/>
          <p:nvPr/>
        </p:nvSpPr>
        <p:spPr>
          <a:xfrm>
            <a:off x="960120" y="297180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2E4057"/>
                </a:solidFill>
                <a:latin typeface="Calibri" pitchFamily="34" charset="0"/>
                <a:ea typeface="Calibri" pitchFamily="34" charset="-122"/>
                <a:cs typeface="Calibri" pitchFamily="34" charset="-120"/>
              </a:rPr>
              <a:t>Weekday, off-season and monsoon pricing. The same site, the same staff, a quieter day made worth visiting.</a:t>
            </a:r>
            <a:endParaRPr lang="en-US" sz="1250" dirty="0"/>
          </a:p>
        </p:txBody>
      </p:sp>
      <p:sp>
        <p:nvSpPr>
          <p:cNvPr id="9" name="Shape 7"/>
          <p:cNvSpPr/>
          <p:nvPr/>
        </p:nvSpPr>
        <p:spPr>
          <a:xfrm>
            <a:off x="4361688" y="1691640"/>
            <a:ext cx="3520440" cy="2286000"/>
          </a:xfrm>
          <a:prstGeom prst="roundRect">
            <a:avLst>
              <a:gd name="adj" fmla="val 3200"/>
            </a:avLst>
          </a:prstGeom>
          <a:solidFill>
            <a:srgbClr val="F2F4F6"/>
          </a:solidFill>
          <a:ln w="9525">
            <a:solidFill>
              <a:srgbClr val="D8DEE4"/>
            </a:solidFill>
            <a:prstDash val="solid"/>
          </a:ln>
        </p:spPr>
      </p:sp>
      <p:sp>
        <p:nvSpPr>
          <p:cNvPr id="10" name="Shape 8"/>
          <p:cNvSpPr/>
          <p:nvPr/>
        </p:nvSpPr>
        <p:spPr>
          <a:xfrm>
            <a:off x="4681728" y="1965960"/>
            <a:ext cx="457200" cy="457200"/>
          </a:xfrm>
          <a:prstGeom prst="ellipse">
            <a:avLst/>
          </a:prstGeom>
          <a:solidFill>
            <a:srgbClr val="C1502E"/>
          </a:solidFill>
          <a:ln/>
        </p:spPr>
      </p:sp>
      <p:sp>
        <p:nvSpPr>
          <p:cNvPr id="11" name="Text 9"/>
          <p:cNvSpPr txBox="1"/>
          <p:nvPr/>
        </p:nvSpPr>
        <p:spPr>
          <a:xfrm>
            <a:off x="4681728"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4681728" y="2560320"/>
            <a:ext cx="2926080" cy="384048"/>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Spread the map</a:t>
            </a:r>
            <a:endParaRPr lang="en-US" sz="1700" dirty="0"/>
          </a:p>
        </p:txBody>
      </p:sp>
      <p:sp>
        <p:nvSpPr>
          <p:cNvPr id="13" name="Text 11"/>
          <p:cNvSpPr txBox="1"/>
          <p:nvPr/>
        </p:nvSpPr>
        <p:spPr>
          <a:xfrm>
            <a:off x="4681728" y="297180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2E4057"/>
                </a:solidFill>
                <a:latin typeface="Calibri" pitchFamily="34" charset="0"/>
                <a:ea typeface="Calibri" pitchFamily="34" charset="-122"/>
                <a:cs typeface="Calibri" pitchFamily="34" charset="-120"/>
              </a:rPr>
              <a:t>Bundles and lower rates at the districts that see nobody. The itinerary engine promotes them; the price makes them move.</a:t>
            </a:r>
            <a:endParaRPr lang="en-US" sz="1250" dirty="0"/>
          </a:p>
        </p:txBody>
      </p:sp>
      <p:sp>
        <p:nvSpPr>
          <p:cNvPr id="14" name="Shape 12"/>
          <p:cNvSpPr/>
          <p:nvPr/>
        </p:nvSpPr>
        <p:spPr>
          <a:xfrm>
            <a:off x="8083296" y="1691640"/>
            <a:ext cx="3520440" cy="2286000"/>
          </a:xfrm>
          <a:prstGeom prst="roundRect">
            <a:avLst>
              <a:gd name="adj" fmla="val 3200"/>
            </a:avLst>
          </a:prstGeom>
          <a:solidFill>
            <a:srgbClr val="F2F4F6"/>
          </a:solidFill>
          <a:ln w="9525">
            <a:solidFill>
              <a:srgbClr val="D8DEE4"/>
            </a:solidFill>
            <a:prstDash val="solid"/>
          </a:ln>
        </p:spPr>
      </p:sp>
      <p:sp>
        <p:nvSpPr>
          <p:cNvPr id="15" name="Shape 13"/>
          <p:cNvSpPr/>
          <p:nvPr/>
        </p:nvSpPr>
        <p:spPr>
          <a:xfrm>
            <a:off x="8403336" y="1965960"/>
            <a:ext cx="457200" cy="457200"/>
          </a:xfrm>
          <a:prstGeom prst="ellipse">
            <a:avLst/>
          </a:prstGeom>
          <a:solidFill>
            <a:srgbClr val="C1502E"/>
          </a:solidFill>
          <a:ln/>
        </p:spPr>
      </p:sp>
      <p:sp>
        <p:nvSpPr>
          <p:cNvPr id="16" name="Text 14"/>
          <p:cNvSpPr txBox="1"/>
          <p:nvPr/>
        </p:nvSpPr>
        <p:spPr>
          <a:xfrm>
            <a:off x="8403336"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8403336" y="2560320"/>
            <a:ext cx="2926080" cy="384048"/>
          </a:xfrm>
          <a:prstGeom prst="rect">
            <a:avLst/>
          </a:prstGeom>
          <a:noFill/>
          <a:ln/>
        </p:spPr>
        <p:txBody>
          <a:bodyPr wrap="square" lIns="0" tIns="0" rIns="0" bIns="0" rtlCol="0" anchor="ctr"/>
          <a:lstStyle/>
          <a:p>
            <a:pPr indent="0" marL="0">
              <a:buNone/>
            </a:pPr>
            <a:r>
              <a:rPr lang="en-US" sz="1700" b="1" dirty="0">
                <a:solidFill>
                  <a:srgbClr val="1B2A41"/>
                </a:solidFill>
                <a:latin typeface="Cambria" pitchFamily="34" charset="0"/>
                <a:ea typeface="Cambria" pitchFamily="34" charset="-122"/>
                <a:cs typeface="Cambria" pitchFamily="34" charset="-120"/>
              </a:rPr>
              <a:t>Reward the right behaviour</a:t>
            </a:r>
            <a:endParaRPr lang="en-US" sz="1700" dirty="0"/>
          </a:p>
        </p:txBody>
      </p:sp>
      <p:sp>
        <p:nvSpPr>
          <p:cNvPr id="18" name="Text 16"/>
          <p:cNvSpPr txBox="1"/>
          <p:nvPr/>
        </p:nvSpPr>
        <p:spPr>
          <a:xfrm>
            <a:off x="8403336" y="297180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2E4057"/>
                </a:solidFill>
                <a:latin typeface="Calibri" pitchFamily="34" charset="0"/>
                <a:ea typeface="Calibri" pitchFamily="34" charset="-122"/>
                <a:cs typeface="Calibri" pitchFamily="34" charset="-120"/>
              </a:rPr>
              <a:t>Multi-site passes, longer stays, bookings through registered operators only. Youth, student and senior rates the policy already contemplates.</a:t>
            </a:r>
            <a:endParaRPr lang="en-US" sz="1250" dirty="0"/>
          </a:p>
        </p:txBody>
      </p:sp>
      <p:sp>
        <p:nvSpPr>
          <p:cNvPr id="19" name="Shape 17"/>
          <p:cNvSpPr/>
          <p:nvPr/>
        </p:nvSpPr>
        <p:spPr>
          <a:xfrm>
            <a:off x="640080" y="4206240"/>
            <a:ext cx="10972800" cy="1444752"/>
          </a:xfrm>
          <a:prstGeom prst="roundRect">
            <a:avLst>
              <a:gd name="adj" fmla="val 5063"/>
            </a:avLst>
          </a:prstGeom>
          <a:solidFill>
            <a:srgbClr val="1B2A41"/>
          </a:solidFill>
          <a:ln w="9525">
            <a:solidFill>
              <a:srgbClr val="D8DEE4"/>
            </a:solidFill>
            <a:prstDash val="solid"/>
          </a:ln>
        </p:spPr>
      </p:sp>
      <p:sp>
        <p:nvSpPr>
          <p:cNvPr id="20" name="Text 18"/>
          <p:cNvSpPr txBox="1"/>
          <p:nvPr/>
        </p:nvSpPr>
        <p:spPr>
          <a:xfrm>
            <a:off x="960120" y="4407408"/>
            <a:ext cx="103327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And for the first time, a campaign can be proved.</a:t>
            </a:r>
            <a:endParaRPr lang="en-US" sz="2000" dirty="0"/>
          </a:p>
        </p:txBody>
      </p:sp>
      <p:sp>
        <p:nvSpPr>
          <p:cNvPr id="21" name="Text 19"/>
          <p:cNvSpPr txBox="1"/>
          <p:nvPr/>
        </p:nvSpPr>
        <p:spPr>
          <a:xfrm>
            <a:off x="960120" y="4864608"/>
            <a:ext cx="10332720" cy="685800"/>
          </a:xfrm>
          <a:prstGeom prst="rect">
            <a:avLst/>
          </a:prstGeom>
          <a:noFill/>
          <a:ln/>
        </p:spPr>
        <p:txBody>
          <a:bodyPr wrap="square" lIns="0" tIns="0" rIns="0" bIns="0" rtlCol="0" anchor="ctr"/>
          <a:lstStyle/>
          <a:p>
            <a:pPr indent="0" marL="0">
              <a:lnSpc>
                <a:spcPts val="1900"/>
              </a:lnSpc>
              <a:buNone/>
            </a:pPr>
            <a:r>
              <a:rPr lang="en-US" sz="1300" dirty="0">
                <a:solidFill>
                  <a:srgbClr val="E8EDF2"/>
                </a:solidFill>
                <a:latin typeface="Calibri" pitchFamily="34" charset="0"/>
                <a:ea typeface="Calibri" pitchFamily="34" charset="-122"/>
                <a:cs typeface="Calibri" pitchFamily="34" charset="-120"/>
              </a:rPr>
              <a:t>An offer issued in the app is traceable end to end — impressions, itineraries built, tickets sold, revenue collected, districts visited. Today the department buys campaigns on a monthly retainer and measures them on reports. This measures them on visits.</a:t>
            </a:r>
            <a:endParaRPr lang="en-US" sz="1300" dirty="0"/>
          </a:p>
        </p:txBody>
      </p:sp>
      <p:sp>
        <p:nvSpPr>
          <p:cNvPr id="22" name="Text 20"/>
          <p:cNvSpPr txBox="1"/>
          <p:nvPr/>
        </p:nvSpPr>
        <p:spPr>
          <a:xfrm>
            <a:off x="640080" y="5788152"/>
            <a:ext cx="10972800" cy="41148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The department decides every rate and every offer. The platform executes policy — it does not set price.</a:t>
            </a:r>
            <a:endParaRPr lang="en-US" sz="1550" dirty="0"/>
          </a:p>
        </p:txBody>
      </p:sp>
      <p:sp>
        <p:nvSpPr>
          <p:cNvPr id="23" name="Text 21"/>
          <p:cNvSpPr txBox="1"/>
          <p:nvPr/>
        </p:nvSpPr>
        <p:spPr>
          <a:xfrm>
            <a:off x="640080" y="6236208"/>
            <a:ext cx="10972800" cy="32004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Discounting on tickets belonging to other authorities — ASI, Forest Department — requires each authority's own sanction. On departmental and MTDC inventory the decision sits with the department.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Answers — an assistant that knows today</a:t>
            </a:r>
            <a:endParaRPr lang="en-US" sz="3200" dirty="0"/>
          </a:p>
        </p:txBody>
      </p:sp>
      <p:sp>
        <p:nvSpPr>
          <p:cNvPr id="3" name="Text 1"/>
          <p:cNvSpPr txBox="1"/>
          <p:nvPr/>
        </p:nvSpPr>
        <p:spPr>
          <a:xfrm>
            <a:off x="640080" y="1188720"/>
            <a:ext cx="10972800" cy="411480"/>
          </a:xfrm>
          <a:prstGeom prst="rect">
            <a:avLst/>
          </a:prstGeom>
          <a:noFill/>
          <a:ln/>
        </p:spPr>
        <p:txBody>
          <a:bodyPr wrap="square" lIns="0" tIns="0" rIns="0" bIns="0" rtlCol="0" anchor="ctr"/>
          <a:lstStyle/>
          <a:p>
            <a:pPr indent="0" marL="0">
              <a:buNone/>
            </a:pPr>
            <a:r>
              <a:rPr lang="en-US" sz="1500" i="1" dirty="0">
                <a:solidFill>
                  <a:srgbClr val="6B7785"/>
                </a:solidFill>
                <a:latin typeface="Calibri" pitchFamily="34" charset="0"/>
                <a:ea typeface="Calibri" pitchFamily="34" charset="-122"/>
                <a:cs typeface="Calibri" pitchFamily="34" charset="-120"/>
              </a:rPr>
              <a:t>The difference between a travel chatbot and a state system is the word 'today'.</a:t>
            </a:r>
            <a:endParaRPr lang="en-US" sz="1500" dirty="0"/>
          </a:p>
        </p:txBody>
      </p:sp>
      <p:sp>
        <p:nvSpPr>
          <p:cNvPr id="4" name="Shape 2"/>
          <p:cNvSpPr/>
          <p:nvPr/>
        </p:nvSpPr>
        <p:spPr>
          <a:xfrm>
            <a:off x="640080" y="1783080"/>
            <a:ext cx="10972800" cy="896112"/>
          </a:xfrm>
          <a:prstGeom prst="roundRect">
            <a:avLst>
              <a:gd name="adj" fmla="val 8163"/>
            </a:avLst>
          </a:prstGeom>
          <a:solidFill>
            <a:srgbClr val="F2F4F6"/>
          </a:solidFill>
          <a:ln w="9525">
            <a:solidFill>
              <a:srgbClr val="D8DEE4"/>
            </a:solidFill>
            <a:prstDash val="solid"/>
          </a:ln>
        </p:spPr>
      </p:sp>
      <p:sp>
        <p:nvSpPr>
          <p:cNvPr id="5" name="Text 3"/>
          <p:cNvSpPr txBox="1"/>
          <p:nvPr/>
        </p:nvSpPr>
        <p:spPr>
          <a:xfrm>
            <a:off x="960120" y="1901952"/>
            <a:ext cx="10332720" cy="347472"/>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"Is the Kanheri counter taking cards today?"</a:t>
            </a:r>
            <a:endParaRPr lang="en-US" sz="1600" dirty="0"/>
          </a:p>
        </p:txBody>
      </p:sp>
      <p:sp>
        <p:nvSpPr>
          <p:cNvPr id="6" name="Text 4"/>
          <p:cNvSpPr txBox="1"/>
          <p:nvPr/>
        </p:nvSpPr>
        <p:spPr>
          <a:xfrm>
            <a:off x="960120" y="2267712"/>
            <a:ext cx="10332720" cy="320040"/>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Answered from the gate's own status, not from a web page written three years ago.</a:t>
            </a:r>
            <a:endParaRPr lang="en-US" sz="1250" dirty="0"/>
          </a:p>
        </p:txBody>
      </p:sp>
      <p:sp>
        <p:nvSpPr>
          <p:cNvPr id="7" name="Shape 5"/>
          <p:cNvSpPr/>
          <p:nvPr/>
        </p:nvSpPr>
        <p:spPr>
          <a:xfrm>
            <a:off x="640080" y="2816352"/>
            <a:ext cx="10972800" cy="896112"/>
          </a:xfrm>
          <a:prstGeom prst="roundRect">
            <a:avLst>
              <a:gd name="adj" fmla="val 8163"/>
            </a:avLst>
          </a:prstGeom>
          <a:solidFill>
            <a:srgbClr val="F2F4F6"/>
          </a:solidFill>
          <a:ln w="9525">
            <a:solidFill>
              <a:srgbClr val="D8DEE4"/>
            </a:solidFill>
            <a:prstDash val="solid"/>
          </a:ln>
        </p:spPr>
      </p:sp>
      <p:sp>
        <p:nvSpPr>
          <p:cNvPr id="8" name="Text 6"/>
          <p:cNvSpPr txBox="1"/>
          <p:nvPr/>
        </p:nvSpPr>
        <p:spPr>
          <a:xfrm>
            <a:off x="960120" y="2935224"/>
            <a:ext cx="10332720" cy="347472"/>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"Is Bhushi Dam safe this Sunday?"</a:t>
            </a:r>
            <a:endParaRPr lang="en-US" sz="1600" dirty="0"/>
          </a:p>
        </p:txBody>
      </p:sp>
      <p:sp>
        <p:nvSpPr>
          <p:cNvPr id="9" name="Text 7"/>
          <p:cNvSpPr txBox="1"/>
          <p:nvPr/>
        </p:nvSpPr>
        <p:spPr>
          <a:xfrm>
            <a:off x="960120" y="3300984"/>
            <a:ext cx="10332720" cy="320040"/>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Answered from the collector's live order and the site's own booking load.</a:t>
            </a:r>
            <a:endParaRPr lang="en-US" sz="1250" dirty="0"/>
          </a:p>
        </p:txBody>
      </p:sp>
      <p:sp>
        <p:nvSpPr>
          <p:cNvPr id="10" name="Shape 8"/>
          <p:cNvSpPr/>
          <p:nvPr/>
        </p:nvSpPr>
        <p:spPr>
          <a:xfrm>
            <a:off x="640080" y="3849624"/>
            <a:ext cx="10972800" cy="896112"/>
          </a:xfrm>
          <a:prstGeom prst="roundRect">
            <a:avLst>
              <a:gd name="adj" fmla="val 8163"/>
            </a:avLst>
          </a:prstGeom>
          <a:solidFill>
            <a:srgbClr val="F2F4F6"/>
          </a:solidFill>
          <a:ln w="9525">
            <a:solidFill>
              <a:srgbClr val="D8DEE4"/>
            </a:solidFill>
            <a:prstDash val="solid"/>
          </a:ln>
        </p:spPr>
      </p:sp>
      <p:sp>
        <p:nvSpPr>
          <p:cNvPr id="11" name="Text 9"/>
          <p:cNvSpPr txBox="1"/>
          <p:nvPr/>
        </p:nvSpPr>
        <p:spPr>
          <a:xfrm>
            <a:off x="960120" y="3968496"/>
            <a:ext cx="10332720" cy="347472"/>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"Which homestay near Malvan has a valid fire certificate?"</a:t>
            </a:r>
            <a:endParaRPr lang="en-US" sz="1600" dirty="0"/>
          </a:p>
        </p:txBody>
      </p:sp>
      <p:sp>
        <p:nvSpPr>
          <p:cNvPr id="12" name="Text 10"/>
          <p:cNvSpPr txBox="1"/>
          <p:nvPr/>
        </p:nvSpPr>
        <p:spPr>
          <a:xfrm>
            <a:off x="960120" y="4334256"/>
            <a:ext cx="10332720" cy="320040"/>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Answered from the department's registration records — the only place that fact exists.</a:t>
            </a:r>
            <a:endParaRPr lang="en-US" sz="1250" dirty="0"/>
          </a:p>
        </p:txBody>
      </p:sp>
      <p:sp>
        <p:nvSpPr>
          <p:cNvPr id="13" name="Shape 11"/>
          <p:cNvSpPr/>
          <p:nvPr/>
        </p:nvSpPr>
        <p:spPr>
          <a:xfrm>
            <a:off x="640080" y="4882896"/>
            <a:ext cx="10972800" cy="896112"/>
          </a:xfrm>
          <a:prstGeom prst="roundRect">
            <a:avLst>
              <a:gd name="adj" fmla="val 8163"/>
            </a:avLst>
          </a:prstGeom>
          <a:solidFill>
            <a:srgbClr val="F2F4F6"/>
          </a:solidFill>
          <a:ln w="9525">
            <a:solidFill>
              <a:srgbClr val="D8DEE4"/>
            </a:solidFill>
            <a:prstDash val="solid"/>
          </a:ln>
        </p:spPr>
      </p:sp>
      <p:sp>
        <p:nvSpPr>
          <p:cNvPr id="14" name="Text 12"/>
          <p:cNvSpPr txBox="1"/>
          <p:nvPr/>
        </p:nvSpPr>
        <p:spPr>
          <a:xfrm>
            <a:off x="960120" y="5001768"/>
            <a:ext cx="10332720" cy="347472"/>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"Explain this cave to me in French."</a:t>
            </a:r>
            <a:endParaRPr lang="en-US" sz="1600" dirty="0"/>
          </a:p>
        </p:txBody>
      </p:sp>
      <p:sp>
        <p:nvSpPr>
          <p:cNvPr id="15" name="Text 13"/>
          <p:cNvSpPr txBox="1"/>
          <p:nvPr/>
        </p:nvSpPr>
        <p:spPr>
          <a:xfrm>
            <a:off x="960120" y="5367528"/>
            <a:ext cx="10332720" cy="320040"/>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Answered from the department's own approved interpretation, translated, not invented.</a:t>
            </a:r>
            <a:endParaRPr lang="en-US" sz="1250" dirty="0"/>
          </a:p>
        </p:txBody>
      </p:sp>
      <p:sp>
        <p:nvSpPr>
          <p:cNvPr id="16" name="Text 14"/>
          <p:cNvSpPr txBox="1"/>
          <p:nvPr/>
        </p:nvSpPr>
        <p:spPr>
          <a:xfrm>
            <a:off x="640080" y="6035040"/>
            <a:ext cx="10972800" cy="45720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Not one of these four questions can be answered by a general AI assistant. All four can be answered by the department.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It has to work where the network doesn't</a:t>
            </a:r>
            <a:endParaRPr lang="en-US" sz="3200" dirty="0"/>
          </a:p>
        </p:txBody>
      </p:sp>
      <p:sp>
        <p:nvSpPr>
          <p:cNvPr id="3" name="Shape 1"/>
          <p:cNvSpPr/>
          <p:nvPr/>
        </p:nvSpPr>
        <p:spPr>
          <a:xfrm>
            <a:off x="640080" y="1371600"/>
            <a:ext cx="10972800" cy="1188720"/>
          </a:xfrm>
          <a:prstGeom prst="roundRect">
            <a:avLst>
              <a:gd name="adj" fmla="val 6154"/>
            </a:avLst>
          </a:prstGeom>
          <a:solidFill>
            <a:srgbClr val="1B2A41"/>
          </a:solidFill>
          <a:ln w="9525">
            <a:solidFill>
              <a:srgbClr val="D8DEE4"/>
            </a:solidFill>
            <a:prstDash val="solid"/>
          </a:ln>
        </p:spPr>
      </p:sp>
      <p:sp>
        <p:nvSpPr>
          <p:cNvPr id="4" name="Text 2"/>
          <p:cNvSpPr txBox="1"/>
          <p:nvPr/>
        </p:nvSpPr>
        <p:spPr>
          <a:xfrm>
            <a:off x="960120" y="1600200"/>
            <a:ext cx="10332720" cy="777240"/>
          </a:xfrm>
          <a:prstGeom prst="rect">
            <a:avLst/>
          </a:prstGeom>
          <a:noFill/>
          <a:ln/>
        </p:spPr>
        <p:txBody>
          <a:bodyPr wrap="square" lIns="0" tIns="0" rIns="0" bIns="0" rtlCol="0" anchor="ctr"/>
          <a:lstStyle/>
          <a:p>
            <a:pPr indent="0" marL="0">
              <a:lnSpc>
                <a:spcPts val="2700"/>
              </a:lnSpc>
              <a:buNone/>
            </a:pPr>
            <a:r>
              <a:rPr lang="en-US" sz="1900" dirty="0">
                <a:solidFill>
                  <a:srgbClr val="FFFFFF"/>
                </a:solidFill>
                <a:latin typeface="Cambria" pitchFamily="34" charset="0"/>
                <a:ea typeface="Cambria" pitchFamily="34" charset="-122"/>
                <a:cs typeface="Cambria" pitchFamily="34" charset="-120"/>
              </a:rPr>
              <a:t>The places worth visiting are the places with no signal. A system that assumes connectivity fails exactly where tourism happens.</a:t>
            </a:r>
            <a:endParaRPr lang="en-US" sz="1900" dirty="0"/>
          </a:p>
        </p:txBody>
      </p:sp>
      <p:sp>
        <p:nvSpPr>
          <p:cNvPr id="5" name="Shape 3"/>
          <p:cNvSpPr/>
          <p:nvPr/>
        </p:nvSpPr>
        <p:spPr>
          <a:xfrm>
            <a:off x="640080" y="2788920"/>
            <a:ext cx="5349240" cy="1417320"/>
          </a:xfrm>
          <a:prstGeom prst="roundRect">
            <a:avLst>
              <a:gd name="adj" fmla="val 5161"/>
            </a:avLst>
          </a:prstGeom>
          <a:solidFill>
            <a:srgbClr val="F2F4F6"/>
          </a:solidFill>
          <a:ln w="9525">
            <a:solidFill>
              <a:srgbClr val="D8DEE4"/>
            </a:solidFill>
            <a:prstDash val="solid"/>
          </a:ln>
        </p:spPr>
      </p:sp>
      <p:sp>
        <p:nvSpPr>
          <p:cNvPr id="6" name="Shape 4"/>
          <p:cNvSpPr/>
          <p:nvPr/>
        </p:nvSpPr>
        <p:spPr>
          <a:xfrm>
            <a:off x="914400" y="3044952"/>
            <a:ext cx="438912" cy="438912"/>
          </a:xfrm>
          <a:prstGeom prst="ellipse">
            <a:avLst/>
          </a:prstGeom>
          <a:solidFill>
            <a:srgbClr val="C1502E"/>
          </a:solidFill>
          <a:ln/>
        </p:spPr>
      </p:sp>
      <p:sp>
        <p:nvSpPr>
          <p:cNvPr id="7" name="Text 5"/>
          <p:cNvSpPr txBox="1"/>
          <p:nvPr/>
        </p:nvSpPr>
        <p:spPr>
          <a:xfrm>
            <a:off x="914400" y="30449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481328" y="3044952"/>
            <a:ext cx="4206240" cy="384048"/>
          </a:xfrm>
          <a:prstGeom prst="rect">
            <a:avLst/>
          </a:prstGeom>
          <a:noFill/>
          <a:ln/>
        </p:spPr>
        <p:txBody>
          <a:bodyPr wrap="square" lIns="0" tIns="0" rIns="0" bIns="0" rtlCol="0" anchor="ctr"/>
          <a:lstStyle/>
          <a:p>
            <a:pPr indent="0" marL="0">
              <a:buNone/>
            </a:pPr>
            <a:r>
              <a:rPr lang="en-US" sz="1550" b="1" dirty="0">
                <a:solidFill>
                  <a:srgbClr val="1B2A41"/>
                </a:solidFill>
                <a:latin typeface="Cambria" pitchFamily="34" charset="0"/>
                <a:ea typeface="Cambria" pitchFamily="34" charset="-122"/>
                <a:cs typeface="Cambria" pitchFamily="34" charset="-120"/>
              </a:rPr>
              <a:t>Tickets issued before departure</a:t>
            </a:r>
            <a:endParaRPr lang="en-US" sz="1550" dirty="0"/>
          </a:p>
        </p:txBody>
      </p:sp>
      <p:sp>
        <p:nvSpPr>
          <p:cNvPr id="9" name="Text 7"/>
          <p:cNvSpPr txBox="1"/>
          <p:nvPr/>
        </p:nvSpPr>
        <p:spPr>
          <a:xfrm>
            <a:off x="1481328" y="3447288"/>
            <a:ext cx="4206240" cy="658368"/>
          </a:xfrm>
          <a:prstGeom prst="rect">
            <a:avLst/>
          </a:prstGeom>
          <a:noFill/>
          <a:ln/>
        </p:spPr>
        <p:txBody>
          <a:bodyPr wrap="square" lIns="0" tIns="0" rIns="0" bIns="0" rtlCol="0" anchor="ctr"/>
          <a:lstStyle/>
          <a:p>
            <a:pPr indent="0" marL="0">
              <a:lnSpc>
                <a:spcPts val="1700"/>
              </a:lnSpc>
              <a:buNone/>
            </a:pPr>
            <a:r>
              <a:rPr lang="en-US" sz="1200" dirty="0">
                <a:solidFill>
                  <a:srgbClr val="2E4057"/>
                </a:solidFill>
                <a:latin typeface="Calibri" pitchFamily="34" charset="0"/>
                <a:ea typeface="Calibri" pitchFamily="34" charset="-122"/>
                <a:cs typeface="Calibri" pitchFamily="34" charset="-120"/>
              </a:rPr>
              <a:t>The pass is bought and downloaded while the visitor still has signal. Nothing has to be purchased at the gate.</a:t>
            </a:r>
            <a:endParaRPr lang="en-US" sz="1200" dirty="0"/>
          </a:p>
        </p:txBody>
      </p:sp>
      <p:sp>
        <p:nvSpPr>
          <p:cNvPr id="10" name="Shape 8"/>
          <p:cNvSpPr/>
          <p:nvPr/>
        </p:nvSpPr>
        <p:spPr>
          <a:xfrm>
            <a:off x="6263640" y="2788920"/>
            <a:ext cx="5349240" cy="1417320"/>
          </a:xfrm>
          <a:prstGeom prst="roundRect">
            <a:avLst>
              <a:gd name="adj" fmla="val 5161"/>
            </a:avLst>
          </a:prstGeom>
          <a:solidFill>
            <a:srgbClr val="F2F4F6"/>
          </a:solidFill>
          <a:ln w="9525">
            <a:solidFill>
              <a:srgbClr val="D8DEE4"/>
            </a:solidFill>
            <a:prstDash val="solid"/>
          </a:ln>
        </p:spPr>
      </p:sp>
      <p:sp>
        <p:nvSpPr>
          <p:cNvPr id="11" name="Shape 9"/>
          <p:cNvSpPr/>
          <p:nvPr/>
        </p:nvSpPr>
        <p:spPr>
          <a:xfrm>
            <a:off x="6537960" y="3044952"/>
            <a:ext cx="438912" cy="438912"/>
          </a:xfrm>
          <a:prstGeom prst="ellipse">
            <a:avLst/>
          </a:prstGeom>
          <a:solidFill>
            <a:srgbClr val="C1502E"/>
          </a:solidFill>
          <a:ln/>
        </p:spPr>
      </p:sp>
      <p:sp>
        <p:nvSpPr>
          <p:cNvPr id="12" name="Text 10"/>
          <p:cNvSpPr txBox="1"/>
          <p:nvPr/>
        </p:nvSpPr>
        <p:spPr>
          <a:xfrm>
            <a:off x="6537960" y="30449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7104888" y="3044952"/>
            <a:ext cx="4206240" cy="384048"/>
          </a:xfrm>
          <a:prstGeom prst="rect">
            <a:avLst/>
          </a:prstGeom>
          <a:noFill/>
          <a:ln/>
        </p:spPr>
        <p:txBody>
          <a:bodyPr wrap="square" lIns="0" tIns="0" rIns="0" bIns="0" rtlCol="0" anchor="ctr"/>
          <a:lstStyle/>
          <a:p>
            <a:pPr indent="0" marL="0">
              <a:buNone/>
            </a:pPr>
            <a:r>
              <a:rPr lang="en-US" sz="1550" b="1" dirty="0">
                <a:solidFill>
                  <a:srgbClr val="1B2A41"/>
                </a:solidFill>
                <a:latin typeface="Cambria" pitchFamily="34" charset="0"/>
                <a:ea typeface="Cambria" pitchFamily="34" charset="-122"/>
                <a:cs typeface="Cambria" pitchFamily="34" charset="-120"/>
              </a:rPr>
              <a:t>The pass validates offline</a:t>
            </a:r>
            <a:endParaRPr lang="en-US" sz="1550" dirty="0"/>
          </a:p>
        </p:txBody>
      </p:sp>
      <p:sp>
        <p:nvSpPr>
          <p:cNvPr id="14" name="Text 12"/>
          <p:cNvSpPr txBox="1"/>
          <p:nvPr/>
        </p:nvSpPr>
        <p:spPr>
          <a:xfrm>
            <a:off x="7104888" y="3447288"/>
            <a:ext cx="4206240" cy="658368"/>
          </a:xfrm>
          <a:prstGeom prst="rect">
            <a:avLst/>
          </a:prstGeom>
          <a:noFill/>
          <a:ln/>
        </p:spPr>
        <p:txBody>
          <a:bodyPr wrap="square" lIns="0" tIns="0" rIns="0" bIns="0" rtlCol="0" anchor="ctr"/>
          <a:lstStyle/>
          <a:p>
            <a:pPr indent="0" marL="0">
              <a:lnSpc>
                <a:spcPts val="1700"/>
              </a:lnSpc>
              <a:buNone/>
            </a:pPr>
            <a:r>
              <a:rPr lang="en-US" sz="1200" dirty="0">
                <a:solidFill>
                  <a:srgbClr val="2E4057"/>
                </a:solidFill>
                <a:latin typeface="Calibri" pitchFamily="34" charset="0"/>
                <a:ea typeface="Calibri" pitchFamily="34" charset="-122"/>
                <a:cs typeface="Calibri" pitchFamily="34" charset="-120"/>
              </a:rPr>
              <a:t>A signed QR code the gate can verify on a handheld device with no connection. It syncs when signal returns.</a:t>
            </a:r>
            <a:endParaRPr lang="en-US" sz="1200" dirty="0"/>
          </a:p>
        </p:txBody>
      </p:sp>
      <p:sp>
        <p:nvSpPr>
          <p:cNvPr id="15" name="Shape 13"/>
          <p:cNvSpPr/>
          <p:nvPr/>
        </p:nvSpPr>
        <p:spPr>
          <a:xfrm>
            <a:off x="640080" y="4389120"/>
            <a:ext cx="5349240" cy="1417320"/>
          </a:xfrm>
          <a:prstGeom prst="roundRect">
            <a:avLst>
              <a:gd name="adj" fmla="val 5161"/>
            </a:avLst>
          </a:prstGeom>
          <a:solidFill>
            <a:srgbClr val="F2F4F6"/>
          </a:solidFill>
          <a:ln w="9525">
            <a:solidFill>
              <a:srgbClr val="D8DEE4"/>
            </a:solidFill>
            <a:prstDash val="solid"/>
          </a:ln>
        </p:spPr>
      </p:sp>
      <p:sp>
        <p:nvSpPr>
          <p:cNvPr id="16" name="Shape 14"/>
          <p:cNvSpPr/>
          <p:nvPr/>
        </p:nvSpPr>
        <p:spPr>
          <a:xfrm>
            <a:off x="914400" y="4645152"/>
            <a:ext cx="438912" cy="438912"/>
          </a:xfrm>
          <a:prstGeom prst="ellipse">
            <a:avLst/>
          </a:prstGeom>
          <a:solidFill>
            <a:srgbClr val="C1502E"/>
          </a:solidFill>
          <a:ln/>
        </p:spPr>
      </p:sp>
      <p:sp>
        <p:nvSpPr>
          <p:cNvPr id="17" name="Text 15"/>
          <p:cNvSpPr txBox="1"/>
          <p:nvPr/>
        </p:nvSpPr>
        <p:spPr>
          <a:xfrm>
            <a:off x="914400" y="46451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481328" y="4645152"/>
            <a:ext cx="4206240" cy="384048"/>
          </a:xfrm>
          <a:prstGeom prst="rect">
            <a:avLst/>
          </a:prstGeom>
          <a:noFill/>
          <a:ln/>
        </p:spPr>
        <p:txBody>
          <a:bodyPr wrap="square" lIns="0" tIns="0" rIns="0" bIns="0" rtlCol="0" anchor="ctr"/>
          <a:lstStyle/>
          <a:p>
            <a:pPr indent="0" marL="0">
              <a:buNone/>
            </a:pPr>
            <a:r>
              <a:rPr lang="en-US" sz="1550" b="1" dirty="0">
                <a:solidFill>
                  <a:srgbClr val="1B2A41"/>
                </a:solidFill>
                <a:latin typeface="Cambria" pitchFamily="34" charset="0"/>
                <a:ea typeface="Cambria" pitchFamily="34" charset="-122"/>
                <a:cs typeface="Cambria" pitchFamily="34" charset="-120"/>
              </a:rPr>
              <a:t>The guide works offline</a:t>
            </a:r>
            <a:endParaRPr lang="en-US" sz="1550" dirty="0"/>
          </a:p>
        </p:txBody>
      </p:sp>
      <p:sp>
        <p:nvSpPr>
          <p:cNvPr id="19" name="Text 17"/>
          <p:cNvSpPr txBox="1"/>
          <p:nvPr/>
        </p:nvSpPr>
        <p:spPr>
          <a:xfrm>
            <a:off x="1481328" y="5047488"/>
            <a:ext cx="4206240" cy="658368"/>
          </a:xfrm>
          <a:prstGeom prst="rect">
            <a:avLst/>
          </a:prstGeom>
          <a:noFill/>
          <a:ln/>
        </p:spPr>
        <p:txBody>
          <a:bodyPr wrap="square" lIns="0" tIns="0" rIns="0" bIns="0" rtlCol="0" anchor="ctr"/>
          <a:lstStyle/>
          <a:p>
            <a:pPr indent="0" marL="0">
              <a:lnSpc>
                <a:spcPts val="1700"/>
              </a:lnSpc>
              <a:buNone/>
            </a:pPr>
            <a:r>
              <a:rPr lang="en-US" sz="1200" dirty="0">
                <a:solidFill>
                  <a:srgbClr val="2E4057"/>
                </a:solidFill>
                <a:latin typeface="Calibri" pitchFamily="34" charset="0"/>
                <a:ea typeface="Calibri" pitchFamily="34" charset="-122"/>
                <a:cs typeface="Calibri" pitchFamily="34" charset="-120"/>
              </a:rPr>
              <a:t>Maps, site interpretation, timings and safety notes for the planned itinerary are cached on the phone.</a:t>
            </a:r>
            <a:endParaRPr lang="en-US" sz="1200" dirty="0"/>
          </a:p>
        </p:txBody>
      </p:sp>
      <p:sp>
        <p:nvSpPr>
          <p:cNvPr id="20" name="Shape 18"/>
          <p:cNvSpPr/>
          <p:nvPr/>
        </p:nvSpPr>
        <p:spPr>
          <a:xfrm>
            <a:off x="6263640" y="4389120"/>
            <a:ext cx="5349240" cy="1417320"/>
          </a:xfrm>
          <a:prstGeom prst="roundRect">
            <a:avLst>
              <a:gd name="adj" fmla="val 5161"/>
            </a:avLst>
          </a:prstGeom>
          <a:solidFill>
            <a:srgbClr val="F2F4F6"/>
          </a:solidFill>
          <a:ln w="9525">
            <a:solidFill>
              <a:srgbClr val="D8DEE4"/>
            </a:solidFill>
            <a:prstDash val="solid"/>
          </a:ln>
        </p:spPr>
      </p:sp>
      <p:sp>
        <p:nvSpPr>
          <p:cNvPr id="21" name="Shape 19"/>
          <p:cNvSpPr/>
          <p:nvPr/>
        </p:nvSpPr>
        <p:spPr>
          <a:xfrm>
            <a:off x="6537960" y="4645152"/>
            <a:ext cx="438912" cy="438912"/>
          </a:xfrm>
          <a:prstGeom prst="ellipse">
            <a:avLst/>
          </a:prstGeom>
          <a:solidFill>
            <a:srgbClr val="C1502E"/>
          </a:solidFill>
          <a:ln/>
        </p:spPr>
      </p:sp>
      <p:sp>
        <p:nvSpPr>
          <p:cNvPr id="22" name="Text 20"/>
          <p:cNvSpPr txBox="1"/>
          <p:nvPr/>
        </p:nvSpPr>
        <p:spPr>
          <a:xfrm>
            <a:off x="6537960" y="46451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7104888" y="4645152"/>
            <a:ext cx="4206240" cy="384048"/>
          </a:xfrm>
          <a:prstGeom prst="rect">
            <a:avLst/>
          </a:prstGeom>
          <a:noFill/>
          <a:ln/>
        </p:spPr>
        <p:txBody>
          <a:bodyPr wrap="square" lIns="0" tIns="0" rIns="0" bIns="0" rtlCol="0" anchor="ctr"/>
          <a:lstStyle/>
          <a:p>
            <a:pPr indent="0" marL="0">
              <a:buNone/>
            </a:pPr>
            <a:r>
              <a:rPr lang="en-US" sz="1550" b="1" dirty="0">
                <a:solidFill>
                  <a:srgbClr val="1B2A41"/>
                </a:solidFill>
                <a:latin typeface="Cambria" pitchFamily="34" charset="0"/>
                <a:ea typeface="Cambria" pitchFamily="34" charset="-122"/>
                <a:cs typeface="Cambria" pitchFamily="34" charset="-120"/>
              </a:rPr>
              <a:t>The gate reconciles later</a:t>
            </a:r>
            <a:endParaRPr lang="en-US" sz="1550" dirty="0"/>
          </a:p>
        </p:txBody>
      </p:sp>
      <p:sp>
        <p:nvSpPr>
          <p:cNvPr id="24" name="Text 22"/>
          <p:cNvSpPr txBox="1"/>
          <p:nvPr/>
        </p:nvSpPr>
        <p:spPr>
          <a:xfrm>
            <a:off x="7104888" y="5047488"/>
            <a:ext cx="4206240" cy="658368"/>
          </a:xfrm>
          <a:prstGeom prst="rect">
            <a:avLst/>
          </a:prstGeom>
          <a:noFill/>
          <a:ln/>
        </p:spPr>
        <p:txBody>
          <a:bodyPr wrap="square" lIns="0" tIns="0" rIns="0" bIns="0" rtlCol="0" anchor="ctr"/>
          <a:lstStyle/>
          <a:p>
            <a:pPr indent="0" marL="0">
              <a:lnSpc>
                <a:spcPts val="1700"/>
              </a:lnSpc>
              <a:buNone/>
            </a:pPr>
            <a:r>
              <a:rPr lang="en-US" sz="1200" dirty="0">
                <a:solidFill>
                  <a:srgbClr val="2E4057"/>
                </a:solidFill>
                <a:latin typeface="Calibri" pitchFamily="34" charset="0"/>
                <a:ea typeface="Calibri" pitchFamily="34" charset="-122"/>
                <a:cs typeface="Calibri" pitchFamily="34" charset="-120"/>
              </a:rPr>
              <a:t>Scans queue locally and upload when the device reaches coverage. The count is never lost.</a:t>
            </a:r>
            <a:endParaRPr lang="en-US" sz="1200" dirty="0"/>
          </a:p>
        </p:txBody>
      </p:sp>
      <p:sp>
        <p:nvSpPr>
          <p:cNvPr id="25" name="Text 23"/>
          <p:cNvSpPr txBox="1"/>
          <p:nvPr/>
        </p:nvSpPr>
        <p:spPr>
          <a:xfrm>
            <a:off x="640080" y="6035040"/>
            <a:ext cx="10972800" cy="45720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Our visitor buys the Kanheri ticket in Borivali — and walks straight in at the top.</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Why this cannot be done with a general AI assistant</a:t>
            </a:r>
            <a:endParaRPr lang="en-US" sz="3200" dirty="0"/>
          </a:p>
        </p:txBody>
      </p:sp>
      <p:sp>
        <p:nvSpPr>
          <p:cNvPr id="3" name="Text 1"/>
          <p:cNvSpPr txBox="1"/>
          <p:nvPr/>
        </p:nvSpPr>
        <p:spPr>
          <a:xfrm>
            <a:off x="640080" y="1188720"/>
            <a:ext cx="10972800" cy="457200"/>
          </a:xfrm>
          <a:prstGeom prst="rect">
            <a:avLst/>
          </a:prstGeom>
          <a:noFill/>
          <a:ln/>
        </p:spPr>
        <p:txBody>
          <a:bodyPr wrap="square" lIns="0" tIns="0" rIns="0" bIns="0" rtlCol="0" anchor="ctr"/>
          <a:lstStyle/>
          <a:p>
            <a:pPr indent="0" marL="0">
              <a:buNone/>
            </a:pPr>
            <a:r>
              <a:rPr lang="en-US" sz="1500" i="1" dirty="0">
                <a:solidFill>
                  <a:srgbClr val="6B7785"/>
                </a:solidFill>
                <a:latin typeface="Calibri" pitchFamily="34" charset="0"/>
                <a:ea typeface="Calibri" pitchFamily="34" charset="-122"/>
                <a:cs typeface="Calibri" pitchFamily="34" charset="-120"/>
              </a:rPr>
              <a:t>A general model knows everything published on the internet. It knows nothing about today, here, officially.</a:t>
            </a:r>
            <a:endParaRPr lang="en-US" sz="1500" dirty="0"/>
          </a:p>
        </p:txBody>
      </p:sp>
      <p:sp>
        <p:nvSpPr>
          <p:cNvPr id="4" name="Shape 2"/>
          <p:cNvSpPr/>
          <p:nvPr/>
        </p:nvSpPr>
        <p:spPr>
          <a:xfrm>
            <a:off x="640080" y="1783080"/>
            <a:ext cx="5257800" cy="3520440"/>
          </a:xfrm>
          <a:prstGeom prst="roundRect">
            <a:avLst>
              <a:gd name="adj" fmla="val 2078"/>
            </a:avLst>
          </a:prstGeom>
          <a:solidFill>
            <a:srgbClr val="F2F4F6"/>
          </a:solidFill>
          <a:ln w="9525">
            <a:solidFill>
              <a:srgbClr val="D8DEE4"/>
            </a:solidFill>
            <a:prstDash val="solid"/>
          </a:ln>
        </p:spPr>
      </p:sp>
      <p:sp>
        <p:nvSpPr>
          <p:cNvPr id="5" name="Text 3"/>
          <p:cNvSpPr txBox="1"/>
          <p:nvPr/>
        </p:nvSpPr>
        <p:spPr>
          <a:xfrm>
            <a:off x="960120" y="2011680"/>
            <a:ext cx="4617720" cy="411480"/>
          </a:xfrm>
          <a:prstGeom prst="rect">
            <a:avLst/>
          </a:prstGeom>
          <a:noFill/>
          <a:ln/>
        </p:spPr>
        <p:txBody>
          <a:bodyPr wrap="square" lIns="0" tIns="0" rIns="0" bIns="0" rtlCol="0" anchor="ctr"/>
          <a:lstStyle/>
          <a:p>
            <a:pPr indent="0" marL="0">
              <a:buNone/>
            </a:pPr>
            <a:r>
              <a:rPr lang="en-US" sz="1900" b="1" dirty="0">
                <a:solidFill>
                  <a:srgbClr val="2E4057"/>
                </a:solidFill>
                <a:latin typeface="Cambria" pitchFamily="34" charset="0"/>
                <a:ea typeface="Cambria" pitchFamily="34" charset="-122"/>
                <a:cs typeface="Cambria" pitchFamily="34" charset="-120"/>
              </a:rPr>
              <a:t>A general assistant</a:t>
            </a:r>
            <a:endParaRPr lang="en-US" sz="1900" dirty="0"/>
          </a:p>
        </p:txBody>
      </p:sp>
      <p:sp>
        <p:nvSpPr>
          <p:cNvPr id="6" name="Shape 4"/>
          <p:cNvSpPr/>
          <p:nvPr/>
        </p:nvSpPr>
        <p:spPr>
          <a:xfrm>
            <a:off x="6263640" y="1783080"/>
            <a:ext cx="5257800" cy="3520440"/>
          </a:xfrm>
          <a:prstGeom prst="roundRect">
            <a:avLst>
              <a:gd name="adj" fmla="val 2078"/>
            </a:avLst>
          </a:prstGeom>
          <a:solidFill>
            <a:srgbClr val="1B2A41"/>
          </a:solidFill>
          <a:ln w="9525">
            <a:solidFill>
              <a:srgbClr val="D8DEE4"/>
            </a:solidFill>
            <a:prstDash val="solid"/>
          </a:ln>
        </p:spPr>
      </p:sp>
      <p:sp>
        <p:nvSpPr>
          <p:cNvPr id="7" name="Text 5"/>
          <p:cNvSpPr txBox="1"/>
          <p:nvPr/>
        </p:nvSpPr>
        <p:spPr>
          <a:xfrm>
            <a:off x="6583680" y="2011680"/>
            <a:ext cx="461772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The department's platform</a:t>
            </a:r>
            <a:endParaRPr lang="en-US" sz="1900" dirty="0"/>
          </a:p>
        </p:txBody>
      </p:sp>
      <p:sp>
        <p:nvSpPr>
          <p:cNvPr id="8" name="Text 6"/>
          <p:cNvSpPr txBox="1"/>
          <p:nvPr/>
        </p:nvSpPr>
        <p:spPr>
          <a:xfrm>
            <a:off x="960120" y="2487168"/>
            <a:ext cx="4617720" cy="2651760"/>
          </a:xfrm>
          <a:prstGeom prst="rect">
            <a:avLst/>
          </a:prstGeom>
          <a:noFill/>
          <a:ln/>
        </p:spPr>
        <p:txBody>
          <a:bodyPr wrap="square" lIns="0" tIns="0" rIns="0" bIns="0" rtlCol="0" anchor="ctr"/>
          <a:lstStyle/>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Describes the caves beautifully</a:t>
            </a:r>
            <a:endParaRPr lang="en-US" sz="1300" dirty="0"/>
          </a:p>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Cannot see today's restriction order</a:t>
            </a:r>
            <a:endParaRPr lang="en-US" sz="1300" dirty="0"/>
          </a:p>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Cannot tell a licensed operator from an unlicensed one</a:t>
            </a:r>
            <a:endParaRPr lang="en-US" sz="1300" dirty="0"/>
          </a:p>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Cannot sell a ticket</a:t>
            </a:r>
            <a:endParaRPr lang="en-US" sz="1300" dirty="0"/>
          </a:p>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Cannot work without a network</a:t>
            </a:r>
            <a:endParaRPr lang="en-US" sz="1300" dirty="0"/>
          </a:p>
          <a:p>
            <a:pPr marL="342900" indent="-342900">
              <a:spcAft>
                <a:spcPts val="1100"/>
              </a:spcAft>
              <a:buSzPct val="100000"/>
              <a:buChar char="•"/>
            </a:pPr>
            <a:r>
              <a:rPr lang="en-US" sz="1300" dirty="0">
                <a:solidFill>
                  <a:srgbClr val="2E4057"/>
                </a:solidFill>
                <a:latin typeface="Calibri" pitchFamily="34" charset="0"/>
                <a:ea typeface="Calibri" pitchFamily="34" charset="-122"/>
                <a:cs typeface="Calibri" pitchFamily="34" charset="-120"/>
              </a:rPr>
              <a:t>Leaves no record for the department</a:t>
            </a:r>
            <a:endParaRPr lang="en-US" sz="1300" dirty="0"/>
          </a:p>
        </p:txBody>
      </p:sp>
      <p:sp>
        <p:nvSpPr>
          <p:cNvPr id="9" name="Text 7"/>
          <p:cNvSpPr txBox="1"/>
          <p:nvPr/>
        </p:nvSpPr>
        <p:spPr>
          <a:xfrm>
            <a:off x="6583680" y="2487168"/>
            <a:ext cx="4617720" cy="2651760"/>
          </a:xfrm>
          <a:prstGeom prst="rect">
            <a:avLst/>
          </a:prstGeom>
          <a:noFill/>
          <a:ln/>
        </p:spPr>
        <p:txBody>
          <a:bodyPr wrap="square" lIns="0" tIns="0" rIns="0" bIns="0" rtlCol="0" anchor="ctr"/>
          <a:lstStyle/>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Describes the caves in the department's own approved words</a:t>
            </a:r>
            <a:endParaRPr lang="en-US" sz="1300" dirty="0"/>
          </a:p>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Carries the collector's order the hour it is issued</a:t>
            </a:r>
            <a:endParaRPr lang="en-US" sz="1300" dirty="0"/>
          </a:p>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Lists only operators on the state's own register</a:t>
            </a:r>
            <a:endParaRPr lang="en-US" sz="1300" dirty="0"/>
          </a:p>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Issues the ticket and settles it to each authority</a:t>
            </a:r>
            <a:endParaRPr lang="en-US" sz="1300" dirty="0"/>
          </a:p>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Works offline, at the gate, by design</a:t>
            </a:r>
            <a:endParaRPr lang="en-US" sz="1300" dirty="0"/>
          </a:p>
          <a:p>
            <a:pPr marL="342900" indent="-342900">
              <a:spcAft>
                <a:spcPts val="1100"/>
              </a:spcAft>
              <a:buSzPct val="100000"/>
              <a:buChar char="•"/>
            </a:pPr>
            <a:r>
              <a:rPr lang="en-US" sz="1300" dirty="0">
                <a:solidFill>
                  <a:srgbClr val="E8EDF2"/>
                </a:solidFill>
                <a:latin typeface="Calibri" pitchFamily="34" charset="0"/>
                <a:ea typeface="Calibri" pitchFamily="34" charset="-122"/>
                <a:cs typeface="Calibri" pitchFamily="34" charset="-120"/>
              </a:rPr>
              <a:t>Every visit, question and lost sale is recorded</a:t>
            </a:r>
            <a:endParaRPr lang="en-US" sz="1300" dirty="0"/>
          </a:p>
        </p:txBody>
      </p:sp>
      <p:sp>
        <p:nvSpPr>
          <p:cNvPr id="10" name="Text 8"/>
          <p:cNvSpPr txBox="1"/>
          <p:nvPr/>
        </p:nvSpPr>
        <p:spPr>
          <a:xfrm>
            <a:off x="640080" y="5715000"/>
            <a:ext cx="10972800" cy="45720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The moat is not the model. It is the data only the department holds — and the authority only the department has.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Built on what the department already owns</a:t>
            </a:r>
            <a:endParaRPr lang="en-US" sz="3200" dirty="0"/>
          </a:p>
        </p:txBody>
      </p:sp>
      <p:sp>
        <p:nvSpPr>
          <p:cNvPr id="3" name="Shape 1"/>
          <p:cNvSpPr/>
          <p:nvPr/>
        </p:nvSpPr>
        <p:spPr>
          <a:xfrm>
            <a:off x="640080" y="1554480"/>
            <a:ext cx="10972800" cy="1170432"/>
          </a:xfrm>
          <a:prstGeom prst="roundRect">
            <a:avLst>
              <a:gd name="adj" fmla="val 6250"/>
            </a:avLst>
          </a:prstGeom>
          <a:solidFill>
            <a:srgbClr val="F2F4F6"/>
          </a:solidFill>
          <a:ln w="9525">
            <a:solidFill>
              <a:srgbClr val="D8DEE4"/>
            </a:solidFill>
            <a:prstDash val="solid"/>
          </a:ln>
        </p:spPr>
      </p:sp>
      <p:sp>
        <p:nvSpPr>
          <p:cNvPr id="4" name="Shape 2"/>
          <p:cNvSpPr/>
          <p:nvPr/>
        </p:nvSpPr>
        <p:spPr>
          <a:xfrm>
            <a:off x="914400" y="1938528"/>
            <a:ext cx="384048" cy="384048"/>
          </a:xfrm>
          <a:prstGeom prst="ellipse">
            <a:avLst/>
          </a:prstGeom>
          <a:solidFill>
            <a:srgbClr val="C1502E"/>
          </a:solidFill>
          <a:ln/>
        </p:spPr>
      </p:sp>
      <p:sp>
        <p:nvSpPr>
          <p:cNvPr id="5" name="Text 3"/>
          <p:cNvSpPr txBox="1"/>
          <p:nvPr/>
        </p:nvSpPr>
        <p:spPr>
          <a:xfrm>
            <a:off x="1508760" y="1737360"/>
            <a:ext cx="960120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What the visitor touches</a:t>
            </a:r>
            <a:endParaRPr lang="en-US" sz="1800" dirty="0"/>
          </a:p>
        </p:txBody>
      </p:sp>
      <p:sp>
        <p:nvSpPr>
          <p:cNvPr id="6" name="Text 4"/>
          <p:cNvSpPr txBox="1"/>
          <p:nvPr/>
        </p:nvSpPr>
        <p:spPr>
          <a:xfrm>
            <a:off x="1508760" y="2130552"/>
            <a:ext cx="9601200" cy="502920"/>
          </a:xfrm>
          <a:prstGeom prst="rect">
            <a:avLst/>
          </a:prstGeom>
          <a:noFill/>
          <a:ln/>
        </p:spPr>
        <p:txBody>
          <a:bodyPr wrap="square" lIns="0" tIns="0" rIns="0" bIns="0" rtlCol="0" anchor="ctr"/>
          <a:lstStyle/>
          <a:p>
            <a:pPr indent="0" marL="0">
              <a:lnSpc>
                <a:spcPts val="1800"/>
              </a:lnSpc>
              <a:buNone/>
            </a:pPr>
            <a:r>
              <a:rPr lang="en-US" sz="1300" dirty="0">
                <a:solidFill>
                  <a:srgbClr val="2E4057"/>
                </a:solidFill>
                <a:latin typeface="Calibri" pitchFamily="34" charset="0"/>
                <a:ea typeface="Calibri" pitchFamily="34" charset="-122"/>
                <a:cs typeface="Calibri" pitchFamily="34" charset="-120"/>
              </a:rPr>
              <a:t>Website and mobile app — Marathi, Hindi, English and the priority foreign-market languages, offline-capable.</a:t>
            </a:r>
            <a:endParaRPr lang="en-US" sz="1300" dirty="0"/>
          </a:p>
        </p:txBody>
      </p:sp>
      <p:sp>
        <p:nvSpPr>
          <p:cNvPr id="7" name="Shape 5"/>
          <p:cNvSpPr/>
          <p:nvPr/>
        </p:nvSpPr>
        <p:spPr>
          <a:xfrm>
            <a:off x="640080" y="2926080"/>
            <a:ext cx="10972800" cy="1170432"/>
          </a:xfrm>
          <a:prstGeom prst="roundRect">
            <a:avLst>
              <a:gd name="adj" fmla="val 6250"/>
            </a:avLst>
          </a:prstGeom>
          <a:solidFill>
            <a:srgbClr val="F2F4F6"/>
          </a:solidFill>
          <a:ln w="9525">
            <a:solidFill>
              <a:srgbClr val="D8DEE4"/>
            </a:solidFill>
            <a:prstDash val="solid"/>
          </a:ln>
        </p:spPr>
      </p:sp>
      <p:sp>
        <p:nvSpPr>
          <p:cNvPr id="8" name="Shape 6"/>
          <p:cNvSpPr/>
          <p:nvPr/>
        </p:nvSpPr>
        <p:spPr>
          <a:xfrm>
            <a:off x="914400" y="3310128"/>
            <a:ext cx="384048" cy="384048"/>
          </a:xfrm>
          <a:prstGeom prst="ellipse">
            <a:avLst/>
          </a:prstGeom>
          <a:solidFill>
            <a:srgbClr val="2E7D74"/>
          </a:solidFill>
          <a:ln/>
        </p:spPr>
      </p:sp>
      <p:sp>
        <p:nvSpPr>
          <p:cNvPr id="9" name="Text 7"/>
          <p:cNvSpPr txBox="1"/>
          <p:nvPr/>
        </p:nvSpPr>
        <p:spPr>
          <a:xfrm>
            <a:off x="1508760" y="3108960"/>
            <a:ext cx="960120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What powers the answers</a:t>
            </a:r>
            <a:endParaRPr lang="en-US" sz="1800" dirty="0"/>
          </a:p>
        </p:txBody>
      </p:sp>
      <p:sp>
        <p:nvSpPr>
          <p:cNvPr id="10" name="Text 8"/>
          <p:cNvSpPr txBox="1"/>
          <p:nvPr/>
        </p:nvSpPr>
        <p:spPr>
          <a:xfrm>
            <a:off x="1508760" y="3502152"/>
            <a:ext cx="9601200" cy="502920"/>
          </a:xfrm>
          <a:prstGeom prst="rect">
            <a:avLst/>
          </a:prstGeom>
          <a:noFill/>
          <a:ln/>
        </p:spPr>
        <p:txBody>
          <a:bodyPr wrap="square" lIns="0" tIns="0" rIns="0" bIns="0" rtlCol="0" anchor="ctr"/>
          <a:lstStyle/>
          <a:p>
            <a:pPr indent="0" marL="0">
              <a:lnSpc>
                <a:spcPts val="1800"/>
              </a:lnSpc>
              <a:buNone/>
            </a:pPr>
            <a:r>
              <a:rPr lang="en-US" sz="1300" dirty="0">
                <a:solidFill>
                  <a:srgbClr val="2E4057"/>
                </a:solidFill>
                <a:latin typeface="Calibri" pitchFamily="34" charset="0"/>
                <a:ea typeface="Calibri" pitchFamily="34" charset="-122"/>
                <a:cs typeface="Calibri" pitchFamily="34" charset="-120"/>
              </a:rPr>
              <a:t>Itinerary engine, ticketing and settlement, and an assistant grounded strictly in departmental sources.</a:t>
            </a:r>
            <a:endParaRPr lang="en-US" sz="1300" dirty="0"/>
          </a:p>
        </p:txBody>
      </p:sp>
      <p:sp>
        <p:nvSpPr>
          <p:cNvPr id="11" name="Shape 9"/>
          <p:cNvSpPr/>
          <p:nvPr/>
        </p:nvSpPr>
        <p:spPr>
          <a:xfrm>
            <a:off x="640080" y="4297680"/>
            <a:ext cx="10972800" cy="1170432"/>
          </a:xfrm>
          <a:prstGeom prst="roundRect">
            <a:avLst>
              <a:gd name="adj" fmla="val 6250"/>
            </a:avLst>
          </a:prstGeom>
          <a:solidFill>
            <a:srgbClr val="F2F4F6"/>
          </a:solidFill>
          <a:ln w="9525">
            <a:solidFill>
              <a:srgbClr val="D8DEE4"/>
            </a:solidFill>
            <a:prstDash val="solid"/>
          </a:ln>
        </p:spPr>
      </p:sp>
      <p:sp>
        <p:nvSpPr>
          <p:cNvPr id="12" name="Shape 10"/>
          <p:cNvSpPr/>
          <p:nvPr/>
        </p:nvSpPr>
        <p:spPr>
          <a:xfrm>
            <a:off x="914400" y="4681728"/>
            <a:ext cx="384048" cy="384048"/>
          </a:xfrm>
          <a:prstGeom prst="ellipse">
            <a:avLst/>
          </a:prstGeom>
          <a:solidFill>
            <a:srgbClr val="2E4057"/>
          </a:solidFill>
          <a:ln/>
        </p:spPr>
      </p:sp>
      <p:sp>
        <p:nvSpPr>
          <p:cNvPr id="13" name="Text 11"/>
          <p:cNvSpPr txBox="1"/>
          <p:nvPr/>
        </p:nvSpPr>
        <p:spPr>
          <a:xfrm>
            <a:off x="1508760" y="4480560"/>
            <a:ext cx="9601200" cy="384048"/>
          </a:xfrm>
          <a:prstGeom prst="rect">
            <a:avLst/>
          </a:prstGeom>
          <a:noFill/>
          <a:ln/>
        </p:spPr>
        <p:txBody>
          <a:bodyPr wrap="square" lIns="0" tIns="0" rIns="0" bIns="0" rtlCol="0" anchor="ctr"/>
          <a:lstStyle/>
          <a:p>
            <a:pPr indent="0" marL="0">
              <a:buNone/>
            </a:pPr>
            <a:r>
              <a:rPr lang="en-US" sz="1800" b="1" dirty="0">
                <a:solidFill>
                  <a:srgbClr val="1B2A41"/>
                </a:solidFill>
                <a:latin typeface="Cambria" pitchFamily="34" charset="0"/>
                <a:ea typeface="Cambria" pitchFamily="34" charset="-122"/>
                <a:cs typeface="Cambria" pitchFamily="34" charset="-120"/>
              </a:rPr>
              <a:t>What it reads from</a:t>
            </a:r>
            <a:endParaRPr lang="en-US" sz="1800" dirty="0"/>
          </a:p>
        </p:txBody>
      </p:sp>
      <p:sp>
        <p:nvSpPr>
          <p:cNvPr id="14" name="Text 12"/>
          <p:cNvSpPr txBox="1"/>
          <p:nvPr/>
        </p:nvSpPr>
        <p:spPr>
          <a:xfrm>
            <a:off x="1508760" y="4873752"/>
            <a:ext cx="9601200" cy="502920"/>
          </a:xfrm>
          <a:prstGeom prst="rect">
            <a:avLst/>
          </a:prstGeom>
          <a:noFill/>
          <a:ln/>
        </p:spPr>
        <p:txBody>
          <a:bodyPr wrap="square" lIns="0" tIns="0" rIns="0" bIns="0" rtlCol="0" anchor="ctr"/>
          <a:lstStyle/>
          <a:p>
            <a:pPr indent="0" marL="0">
              <a:lnSpc>
                <a:spcPts val="1800"/>
              </a:lnSpc>
              <a:buNone/>
            </a:pPr>
            <a:r>
              <a:rPr lang="en-US" sz="1300" dirty="0">
                <a:solidFill>
                  <a:srgbClr val="2E4057"/>
                </a:solidFill>
                <a:latin typeface="Calibri" pitchFamily="34" charset="0"/>
                <a:ea typeface="Calibri" pitchFamily="34" charset="-122"/>
                <a:cs typeface="Calibri" pitchFamily="34" charset="-120"/>
              </a:rPr>
              <a:t>The department's 36-district content estate · MahaAtithi's registered operators · MAITRI registrations · ASI and Forest Department ticketing · district and police advisories.</a:t>
            </a:r>
            <a:endParaRPr lang="en-US" sz="1300" dirty="0"/>
          </a:p>
        </p:txBody>
      </p:sp>
      <p:sp>
        <p:nvSpPr>
          <p:cNvPr id="15" name="Shape 13"/>
          <p:cNvSpPr/>
          <p:nvPr/>
        </p:nvSpPr>
        <p:spPr>
          <a:xfrm>
            <a:off x="640080" y="5669280"/>
            <a:ext cx="10972800" cy="914400"/>
          </a:xfrm>
          <a:prstGeom prst="roundRect">
            <a:avLst>
              <a:gd name="adj" fmla="val 8000"/>
            </a:avLst>
          </a:prstGeom>
          <a:solidFill>
            <a:srgbClr val="1B2A41"/>
          </a:solidFill>
          <a:ln w="9525">
            <a:solidFill>
              <a:srgbClr val="D8DEE4"/>
            </a:solidFill>
            <a:prstDash val="solid"/>
          </a:ln>
        </p:spPr>
      </p:sp>
      <p:sp>
        <p:nvSpPr>
          <p:cNvPr id="16" name="Text 14"/>
          <p:cNvSpPr txBox="1"/>
          <p:nvPr/>
        </p:nvSpPr>
        <p:spPr>
          <a:xfrm>
            <a:off x="960120" y="5897880"/>
            <a:ext cx="10332720" cy="502920"/>
          </a:xfrm>
          <a:prstGeom prst="rect">
            <a:avLst/>
          </a:prstGeom>
          <a:noFill/>
          <a:ln/>
        </p:spPr>
        <p:txBody>
          <a:bodyPr wrap="square" lIns="0" tIns="0" rIns="0" bIns="0" rtlCol="0" anchor="ctr"/>
          <a:lstStyle/>
          <a:p>
            <a:pPr indent="0" marL="0">
              <a:lnSpc>
                <a:spcPts val="1900"/>
              </a:lnSpc>
              <a:buNone/>
            </a:pPr>
            <a:r>
              <a:rPr lang="en-US" sz="1350" dirty="0">
                <a:solidFill>
                  <a:srgbClr val="E8EDF2"/>
                </a:solidFill>
                <a:latin typeface="Calibri" pitchFamily="34" charset="0"/>
                <a:ea typeface="Calibri" pitchFamily="34" charset="-122"/>
                <a:cs typeface="Calibri" pitchFamily="34" charset="-120"/>
              </a:rPr>
              <a:t>Deployed on premises. Weights and data the department owns. Aligned to the DPDP Act 2023. No decision taken without an officer. A full audit trail of every answer given.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One more thing worth knowing</a:t>
            </a:r>
            <a:endParaRPr lang="en-US" sz="3200" dirty="0"/>
          </a:p>
        </p:txBody>
      </p:sp>
      <p:sp>
        <p:nvSpPr>
          <p:cNvPr id="3" name="Shape 1"/>
          <p:cNvSpPr/>
          <p:nvPr/>
        </p:nvSpPr>
        <p:spPr>
          <a:xfrm>
            <a:off x="640080" y="1371600"/>
            <a:ext cx="10972800" cy="2286000"/>
          </a:xfrm>
          <a:prstGeom prst="roundRect">
            <a:avLst>
              <a:gd name="adj" fmla="val 3200"/>
            </a:avLst>
          </a:prstGeom>
          <a:solidFill>
            <a:srgbClr val="F2F4F6"/>
          </a:solidFill>
          <a:ln w="9525">
            <a:solidFill>
              <a:srgbClr val="D8DEE4"/>
            </a:solidFill>
            <a:prstDash val="solid"/>
          </a:ln>
        </p:spPr>
      </p:sp>
      <p:sp>
        <p:nvSpPr>
          <p:cNvPr id="4" name="Text 2"/>
          <p:cNvSpPr txBox="1"/>
          <p:nvPr/>
        </p:nvSpPr>
        <p:spPr>
          <a:xfrm>
            <a:off x="1005840" y="1645920"/>
            <a:ext cx="10241280" cy="365760"/>
          </a:xfrm>
          <a:prstGeom prst="rect">
            <a:avLst/>
          </a:prstGeom>
          <a:noFill/>
          <a:ln/>
        </p:spPr>
        <p:txBody>
          <a:bodyPr wrap="square" lIns="0" tIns="0" rIns="0" bIns="0" rtlCol="0" anchor="ctr"/>
          <a:lstStyle/>
          <a:p>
            <a:pPr indent="0" marL="0">
              <a:buNone/>
            </a:pPr>
            <a:r>
              <a:rPr lang="en-US" sz="1450" dirty="0">
                <a:solidFill>
                  <a:srgbClr val="2E4057"/>
                </a:solidFill>
                <a:latin typeface="Calibri" pitchFamily="34" charset="0"/>
                <a:ea typeface="Calibri" pitchFamily="34" charset="-122"/>
                <a:cs typeface="Calibri" pitchFamily="34" charset="-120"/>
              </a:rPr>
              <a:t>In July 2026 the Goa Department of Tourism floated a Request for Proposal for an</a:t>
            </a:r>
            <a:endParaRPr lang="en-US" sz="1450" dirty="0"/>
          </a:p>
        </p:txBody>
      </p:sp>
      <p:sp>
        <p:nvSpPr>
          <p:cNvPr id="5" name="Text 3"/>
          <p:cNvSpPr txBox="1"/>
          <p:nvPr/>
        </p:nvSpPr>
        <p:spPr>
          <a:xfrm>
            <a:off x="1005840" y="2011680"/>
            <a:ext cx="10241280" cy="502920"/>
          </a:xfrm>
          <a:prstGeom prst="rect">
            <a:avLst/>
          </a:prstGeom>
          <a:noFill/>
          <a:ln/>
        </p:spPr>
        <p:txBody>
          <a:bodyPr wrap="square" lIns="0" tIns="0" rIns="0" bIns="0" rtlCol="0" anchor="ctr"/>
          <a:lstStyle/>
          <a:p>
            <a:pPr indent="0" marL="0">
              <a:buNone/>
            </a:pPr>
            <a:r>
              <a:rPr lang="en-US" sz="2100" b="1" dirty="0">
                <a:solidFill>
                  <a:srgbClr val="C1502E"/>
                </a:solidFill>
                <a:latin typeface="Cambria" pitchFamily="34" charset="0"/>
                <a:ea typeface="Cambria" pitchFamily="34" charset="-122"/>
                <a:cs typeface="Cambria" pitchFamily="34" charset="-120"/>
              </a:rPr>
              <a:t>"Integrated Sovereign AI-Driven Experience Tourism Platform and Infrastructure"</a:t>
            </a:r>
            <a:endParaRPr lang="en-US" sz="2100" dirty="0"/>
          </a:p>
        </p:txBody>
      </p:sp>
      <p:sp>
        <p:nvSpPr>
          <p:cNvPr id="6" name="Text 4"/>
          <p:cNvSpPr txBox="1"/>
          <p:nvPr/>
        </p:nvSpPr>
        <p:spPr>
          <a:xfrm>
            <a:off x="1005840" y="2606040"/>
            <a:ext cx="10241280" cy="914400"/>
          </a:xfrm>
          <a:prstGeom prst="rect">
            <a:avLst/>
          </a:prstGeom>
          <a:noFill/>
          <a:ln/>
        </p:spPr>
        <p:txBody>
          <a:bodyPr wrap="square" lIns="0" tIns="0" rIns="0" bIns="0" rtlCol="0" anchor="ctr"/>
          <a:lstStyle/>
          <a:p>
            <a:pPr indent="0" marL="0">
              <a:lnSpc>
                <a:spcPts val="2000"/>
              </a:lnSpc>
              <a:buNone/>
            </a:pPr>
            <a:r>
              <a:rPr lang="en-US" sz="1350" dirty="0">
                <a:solidFill>
                  <a:srgbClr val="2E4057"/>
                </a:solidFill>
                <a:latin typeface="Calibri" pitchFamily="34" charset="0"/>
                <a:ea typeface="Calibri" pitchFamily="34" charset="-122"/>
                <a:cs typeface="Calibri" pitchFamily="34" charset="-120"/>
              </a:rPr>
              <a:t>A 30-year public-private concession covering a redesigned tourism website and app, multilingual virtual assistants, personalised itineraries, integrated ticketing, geo-tagged emergency response, and on-premises AI compute with edge data centres at tourist sites.</a:t>
            </a:r>
            <a:endParaRPr lang="en-US" sz="1350" dirty="0"/>
          </a:p>
        </p:txBody>
      </p:sp>
      <p:sp>
        <p:nvSpPr>
          <p:cNvPr id="7" name="Shape 5"/>
          <p:cNvSpPr/>
          <p:nvPr/>
        </p:nvSpPr>
        <p:spPr>
          <a:xfrm>
            <a:off x="640080" y="3886200"/>
            <a:ext cx="5349240" cy="1143000"/>
          </a:xfrm>
          <a:prstGeom prst="roundRect">
            <a:avLst>
              <a:gd name="adj" fmla="val 6400"/>
            </a:avLst>
          </a:prstGeom>
          <a:solidFill>
            <a:srgbClr val="F2F4F6"/>
          </a:solidFill>
          <a:ln w="9525">
            <a:solidFill>
              <a:srgbClr val="D8DEE4"/>
            </a:solidFill>
            <a:prstDash val="solid"/>
          </a:ln>
        </p:spPr>
      </p:sp>
      <p:sp>
        <p:nvSpPr>
          <p:cNvPr id="8" name="Text 6"/>
          <p:cNvSpPr txBox="1"/>
          <p:nvPr/>
        </p:nvSpPr>
        <p:spPr>
          <a:xfrm>
            <a:off x="960120" y="4069080"/>
            <a:ext cx="4709160" cy="384048"/>
          </a:xfrm>
          <a:prstGeom prst="rect">
            <a:avLst/>
          </a:prstGeom>
          <a:noFill/>
          <a:ln/>
        </p:spPr>
        <p:txBody>
          <a:bodyPr wrap="square" lIns="0" tIns="0" rIns="0" bIns="0" rtlCol="0" anchor="ctr"/>
          <a:lstStyle/>
          <a:p>
            <a:pPr indent="0" marL="0">
              <a:buNone/>
            </a:pPr>
            <a:r>
              <a:rPr lang="en-US" sz="1900" b="1" dirty="0">
                <a:solidFill>
                  <a:srgbClr val="2E4057"/>
                </a:solidFill>
                <a:latin typeface="Cambria" pitchFamily="34" charset="0"/>
                <a:ea typeface="Cambria" pitchFamily="34" charset="-122"/>
                <a:cs typeface="Cambria" pitchFamily="34" charset="-120"/>
              </a:rPr>
              <a:t>Goa</a:t>
            </a:r>
            <a:endParaRPr lang="en-US" sz="1900" dirty="0"/>
          </a:p>
        </p:txBody>
      </p:sp>
      <p:sp>
        <p:nvSpPr>
          <p:cNvPr id="9" name="Text 7"/>
          <p:cNvSpPr txBox="1"/>
          <p:nvPr/>
        </p:nvSpPr>
        <p:spPr>
          <a:xfrm>
            <a:off x="960120" y="4462272"/>
            <a:ext cx="4709160" cy="411480"/>
          </a:xfrm>
          <a:prstGeom prst="rect">
            <a:avLst/>
          </a:prstGeom>
          <a:noFill/>
          <a:ln/>
        </p:spPr>
        <p:txBody>
          <a:bodyPr wrap="square" lIns="0" tIns="0" rIns="0" bIns="0" rtlCol="0" anchor="ctr"/>
          <a:lstStyle/>
          <a:p>
            <a:pPr indent="0" marL="0">
              <a:buNone/>
            </a:pPr>
            <a:r>
              <a:rPr lang="en-US" sz="1300" dirty="0">
                <a:solidFill>
                  <a:srgbClr val="2E4057"/>
                </a:solidFill>
                <a:latin typeface="Calibri" pitchFamily="34" charset="0"/>
                <a:ea typeface="Calibri" pitchFamily="34" charset="-122"/>
                <a:cs typeface="Calibri" pitchFamily="34" charset="-120"/>
              </a:rPr>
              <a:t>0.5 M foreign tourist visits a year, roughly</a:t>
            </a:r>
            <a:endParaRPr lang="en-US" sz="1300" dirty="0"/>
          </a:p>
        </p:txBody>
      </p:sp>
      <p:sp>
        <p:nvSpPr>
          <p:cNvPr id="10" name="Shape 8"/>
          <p:cNvSpPr/>
          <p:nvPr/>
        </p:nvSpPr>
        <p:spPr>
          <a:xfrm>
            <a:off x="6263640" y="3886200"/>
            <a:ext cx="5349240" cy="1143000"/>
          </a:xfrm>
          <a:prstGeom prst="roundRect">
            <a:avLst>
              <a:gd name="adj" fmla="val 6400"/>
            </a:avLst>
          </a:prstGeom>
          <a:solidFill>
            <a:srgbClr val="1B2A41"/>
          </a:solidFill>
          <a:ln w="9525">
            <a:solidFill>
              <a:srgbClr val="D8DEE4"/>
            </a:solidFill>
            <a:prstDash val="solid"/>
          </a:ln>
        </p:spPr>
      </p:sp>
      <p:sp>
        <p:nvSpPr>
          <p:cNvPr id="11" name="Text 9"/>
          <p:cNvSpPr txBox="1"/>
          <p:nvPr/>
        </p:nvSpPr>
        <p:spPr>
          <a:xfrm>
            <a:off x="6583680" y="4069080"/>
            <a:ext cx="47091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Maharashtra</a:t>
            </a:r>
            <a:endParaRPr lang="en-US" sz="1900" dirty="0"/>
          </a:p>
        </p:txBody>
      </p:sp>
      <p:sp>
        <p:nvSpPr>
          <p:cNvPr id="12" name="Text 10"/>
          <p:cNvSpPr txBox="1"/>
          <p:nvPr/>
        </p:nvSpPr>
        <p:spPr>
          <a:xfrm>
            <a:off x="6583680" y="4462272"/>
            <a:ext cx="4709160" cy="411480"/>
          </a:xfrm>
          <a:prstGeom prst="rect">
            <a:avLst/>
          </a:prstGeom>
          <a:noFill/>
          <a:ln/>
        </p:spPr>
        <p:txBody>
          <a:bodyPr wrap="square" lIns="0" tIns="0" rIns="0" bIns="0" rtlCol="0" anchor="ctr"/>
          <a:lstStyle/>
          <a:p>
            <a:pPr indent="0" marL="0">
              <a:buNone/>
            </a:pPr>
            <a:r>
              <a:rPr lang="en-US" sz="1300" dirty="0">
                <a:solidFill>
                  <a:srgbClr val="E8EDF2"/>
                </a:solidFill>
                <a:latin typeface="Calibri" pitchFamily="34" charset="0"/>
                <a:ea typeface="Calibri" pitchFamily="34" charset="-122"/>
                <a:cs typeface="Calibri" pitchFamily="34" charset="-120"/>
              </a:rPr>
              <a:t>3.71 M — seven times as many, rank 1 in India</a:t>
            </a:r>
            <a:endParaRPr lang="en-US" sz="1300" dirty="0"/>
          </a:p>
        </p:txBody>
      </p:sp>
      <p:sp>
        <p:nvSpPr>
          <p:cNvPr id="13" name="Text 11"/>
          <p:cNvSpPr txBox="1"/>
          <p:nvPr/>
        </p:nvSpPr>
        <p:spPr>
          <a:xfrm>
            <a:off x="640080" y="5257800"/>
            <a:ext cx="10972800" cy="457200"/>
          </a:xfrm>
          <a:prstGeom prst="rect">
            <a:avLst/>
          </a:prstGeom>
          <a:noFill/>
          <a:ln/>
        </p:spPr>
        <p:txBody>
          <a:bodyPr wrap="square" lIns="0" tIns="0" rIns="0" bIns="0" rtlCol="0" anchor="ctr"/>
          <a:lstStyle/>
          <a:p>
            <a:pPr indent="0" marL="0">
              <a:buNone/>
            </a:pPr>
            <a:r>
              <a:rPr lang="en-US" sz="1900" b="1" dirty="0">
                <a:solidFill>
                  <a:srgbClr val="C1502E"/>
                </a:solidFill>
                <a:latin typeface="Cambria" pitchFamily="34" charset="0"/>
                <a:ea typeface="Cambria" pitchFamily="34" charset="-122"/>
                <a:cs typeface="Cambria" pitchFamily="34" charset="-120"/>
              </a:rPr>
              <a:t>The smaller destination is building this. The larger one has not started.</a:t>
            </a:r>
            <a:endParaRPr lang="en-US" sz="1900" dirty="0"/>
          </a:p>
        </p:txBody>
      </p:sp>
      <p:sp>
        <p:nvSpPr>
          <p:cNvPr id="14" name="Text 12"/>
          <p:cNvSpPr txBox="1"/>
          <p:nvPr/>
        </p:nvSpPr>
        <p:spPr>
          <a:xfrm>
            <a:off x="640080" y="6236208"/>
            <a:ext cx="10972800" cy="32004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Reported by The Navhind Times and The Goan, 16 July 2026. The current status of that RFP is unconfirmed — we have not seen the tender document itself, and it does not appear in Goa Tourism's live tender listing as of September 2026. Goa FTV figure indicative, pending confirmation.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department gets</a:t>
            </a:r>
            <a:endParaRPr lang="en-US" sz="3400" dirty="0"/>
          </a:p>
        </p:txBody>
      </p:sp>
      <p:sp>
        <p:nvSpPr>
          <p:cNvPr id="3" name="Shape 1"/>
          <p:cNvSpPr/>
          <p:nvPr/>
        </p:nvSpPr>
        <p:spPr>
          <a:xfrm>
            <a:off x="822960" y="1645920"/>
            <a:ext cx="457200" cy="457200"/>
          </a:xfrm>
          <a:prstGeom prst="ellipse">
            <a:avLst/>
          </a:prstGeom>
          <a:solidFill>
            <a:srgbClr val="C1502E"/>
          </a:solidFill>
          <a:ln/>
        </p:spPr>
      </p:sp>
      <p:sp>
        <p:nvSpPr>
          <p:cNvPr id="4" name="Text 2"/>
          <p:cNvSpPr txBox="1"/>
          <p:nvPr/>
        </p:nvSpPr>
        <p:spPr>
          <a:xfrm>
            <a:off x="822960"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5" name="Text 3"/>
          <p:cNvSpPr txBox="1"/>
          <p:nvPr/>
        </p:nvSpPr>
        <p:spPr>
          <a:xfrm>
            <a:off x="1463040" y="1600200"/>
            <a:ext cx="4480560" cy="41148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A visitor who arrives prepared</a:t>
            </a:r>
            <a:endParaRPr lang="en-US" sz="1750" dirty="0"/>
          </a:p>
        </p:txBody>
      </p:sp>
      <p:sp>
        <p:nvSpPr>
          <p:cNvPr id="6" name="Text 4"/>
          <p:cNvSpPr txBox="1"/>
          <p:nvPr/>
        </p:nvSpPr>
        <p:spPr>
          <a:xfrm>
            <a:off x="1463040" y="2057400"/>
            <a:ext cx="4480560" cy="731520"/>
          </a:xfrm>
          <a:prstGeom prst="rect">
            <a:avLst/>
          </a:prstGeom>
          <a:noFill/>
          <a:ln/>
        </p:spPr>
        <p:txBody>
          <a:bodyPr wrap="square" lIns="0" tIns="0" rIns="0" bIns="0" rtlCol="0" anchor="ctr"/>
          <a:lstStyle/>
          <a:p>
            <a:pPr indent="0" marL="0">
              <a:lnSpc>
                <a:spcPts val="1900"/>
              </a:lnSpc>
              <a:buNone/>
            </a:pPr>
            <a:r>
              <a:rPr lang="en-US" sz="1300" dirty="0">
                <a:solidFill>
                  <a:srgbClr val="E8EDF2"/>
                </a:solidFill>
                <a:latin typeface="Calibri" pitchFamily="34" charset="0"/>
                <a:ea typeface="Calibri" pitchFamily="34" charset="-122"/>
                <a:cs typeface="Calibri" pitchFamily="34" charset="-120"/>
              </a:rPr>
              <a:t>Knowing what the day costs, what it needs, and what is open.</a:t>
            </a:r>
            <a:endParaRPr lang="en-US" sz="1300" dirty="0"/>
          </a:p>
        </p:txBody>
      </p:sp>
      <p:sp>
        <p:nvSpPr>
          <p:cNvPr id="7" name="Shape 5"/>
          <p:cNvSpPr/>
          <p:nvPr/>
        </p:nvSpPr>
        <p:spPr>
          <a:xfrm>
            <a:off x="6217920" y="1645920"/>
            <a:ext cx="457200" cy="457200"/>
          </a:xfrm>
          <a:prstGeom prst="ellipse">
            <a:avLst/>
          </a:prstGeom>
          <a:solidFill>
            <a:srgbClr val="C1502E"/>
          </a:solidFill>
          <a:ln/>
        </p:spPr>
      </p:sp>
      <p:sp>
        <p:nvSpPr>
          <p:cNvPr id="8" name="Text 6"/>
          <p:cNvSpPr txBox="1"/>
          <p:nvPr/>
        </p:nvSpPr>
        <p:spPr>
          <a:xfrm>
            <a:off x="6217920"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6858000" y="1600200"/>
            <a:ext cx="4480560" cy="41148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A ticket the state can actually sell</a:t>
            </a:r>
            <a:endParaRPr lang="en-US" sz="1750" dirty="0"/>
          </a:p>
        </p:txBody>
      </p:sp>
      <p:sp>
        <p:nvSpPr>
          <p:cNvPr id="10" name="Text 8"/>
          <p:cNvSpPr txBox="1"/>
          <p:nvPr/>
        </p:nvSpPr>
        <p:spPr>
          <a:xfrm>
            <a:off x="6858000" y="2057400"/>
            <a:ext cx="4480560" cy="731520"/>
          </a:xfrm>
          <a:prstGeom prst="rect">
            <a:avLst/>
          </a:prstGeom>
          <a:noFill/>
          <a:ln/>
        </p:spPr>
        <p:txBody>
          <a:bodyPr wrap="square" lIns="0" tIns="0" rIns="0" bIns="0" rtlCol="0" anchor="ctr"/>
          <a:lstStyle/>
          <a:p>
            <a:pPr indent="0" marL="0">
              <a:lnSpc>
                <a:spcPts val="1900"/>
              </a:lnSpc>
              <a:buNone/>
            </a:pPr>
            <a:r>
              <a:rPr lang="en-US" sz="1300" dirty="0">
                <a:solidFill>
                  <a:srgbClr val="E8EDF2"/>
                </a:solidFill>
                <a:latin typeface="Calibri" pitchFamily="34" charset="0"/>
                <a:ea typeface="Calibri" pitchFamily="34" charset="-122"/>
                <a:cs typeface="Calibri" pitchFamily="34" charset="-120"/>
              </a:rPr>
              <a:t>One payment, settled to every authority, recorded and reconciled.</a:t>
            </a:r>
            <a:endParaRPr lang="en-US" sz="1300" dirty="0"/>
          </a:p>
        </p:txBody>
      </p:sp>
      <p:sp>
        <p:nvSpPr>
          <p:cNvPr id="11" name="Shape 9"/>
          <p:cNvSpPr/>
          <p:nvPr/>
        </p:nvSpPr>
        <p:spPr>
          <a:xfrm>
            <a:off x="822960" y="3154680"/>
            <a:ext cx="457200" cy="457200"/>
          </a:xfrm>
          <a:prstGeom prst="ellipse">
            <a:avLst/>
          </a:prstGeom>
          <a:solidFill>
            <a:srgbClr val="C1502E"/>
          </a:solidFill>
          <a:ln/>
        </p:spPr>
      </p:sp>
      <p:sp>
        <p:nvSpPr>
          <p:cNvPr id="12" name="Text 10"/>
          <p:cNvSpPr txBox="1"/>
          <p:nvPr/>
        </p:nvSpPr>
        <p:spPr>
          <a:xfrm>
            <a:off x="822960" y="3154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463040" y="3108960"/>
            <a:ext cx="4480560" cy="41148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A platform that works at the gate</a:t>
            </a:r>
            <a:endParaRPr lang="en-US" sz="1750" dirty="0"/>
          </a:p>
        </p:txBody>
      </p:sp>
      <p:sp>
        <p:nvSpPr>
          <p:cNvPr id="14" name="Text 12"/>
          <p:cNvSpPr txBox="1"/>
          <p:nvPr/>
        </p:nvSpPr>
        <p:spPr>
          <a:xfrm>
            <a:off x="1463040" y="3566160"/>
            <a:ext cx="4480560" cy="731520"/>
          </a:xfrm>
          <a:prstGeom prst="rect">
            <a:avLst/>
          </a:prstGeom>
          <a:noFill/>
          <a:ln/>
        </p:spPr>
        <p:txBody>
          <a:bodyPr wrap="square" lIns="0" tIns="0" rIns="0" bIns="0" rtlCol="0" anchor="ctr"/>
          <a:lstStyle/>
          <a:p>
            <a:pPr indent="0" marL="0">
              <a:lnSpc>
                <a:spcPts val="1900"/>
              </a:lnSpc>
              <a:buNone/>
            </a:pPr>
            <a:r>
              <a:rPr lang="en-US" sz="1300" dirty="0">
                <a:solidFill>
                  <a:srgbClr val="E8EDF2"/>
                </a:solidFill>
                <a:latin typeface="Calibri" pitchFamily="34" charset="0"/>
                <a:ea typeface="Calibri" pitchFamily="34" charset="-122"/>
                <a:cs typeface="Calibri" pitchFamily="34" charset="-120"/>
              </a:rPr>
              <a:t>Offline by design, at the sites where tourism actually happens.</a:t>
            </a:r>
            <a:endParaRPr lang="en-US" sz="1300" dirty="0"/>
          </a:p>
        </p:txBody>
      </p:sp>
      <p:sp>
        <p:nvSpPr>
          <p:cNvPr id="15" name="Shape 13"/>
          <p:cNvSpPr/>
          <p:nvPr/>
        </p:nvSpPr>
        <p:spPr>
          <a:xfrm>
            <a:off x="6217920" y="3154680"/>
            <a:ext cx="457200" cy="457200"/>
          </a:xfrm>
          <a:prstGeom prst="ellipse">
            <a:avLst/>
          </a:prstGeom>
          <a:solidFill>
            <a:srgbClr val="C1502E"/>
          </a:solidFill>
          <a:ln/>
        </p:spPr>
      </p:sp>
      <p:sp>
        <p:nvSpPr>
          <p:cNvPr id="16" name="Text 14"/>
          <p:cNvSpPr txBox="1"/>
          <p:nvPr/>
        </p:nvSpPr>
        <p:spPr>
          <a:xfrm>
            <a:off x="6217920" y="3154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7" name="Text 15"/>
          <p:cNvSpPr txBox="1"/>
          <p:nvPr/>
        </p:nvSpPr>
        <p:spPr>
          <a:xfrm>
            <a:off x="6858000" y="3108960"/>
            <a:ext cx="4480560" cy="41148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Sight of its own tourism economy</a:t>
            </a:r>
            <a:endParaRPr lang="en-US" sz="1750" dirty="0"/>
          </a:p>
        </p:txBody>
      </p:sp>
      <p:sp>
        <p:nvSpPr>
          <p:cNvPr id="18" name="Text 16"/>
          <p:cNvSpPr txBox="1"/>
          <p:nvPr/>
        </p:nvSpPr>
        <p:spPr>
          <a:xfrm>
            <a:off x="6858000" y="3566160"/>
            <a:ext cx="4480560" cy="731520"/>
          </a:xfrm>
          <a:prstGeom prst="rect">
            <a:avLst/>
          </a:prstGeom>
          <a:noFill/>
          <a:ln/>
        </p:spPr>
        <p:txBody>
          <a:bodyPr wrap="square" lIns="0" tIns="0" rIns="0" bIns="0" rtlCol="0" anchor="ctr"/>
          <a:lstStyle/>
          <a:p>
            <a:pPr indent="0" marL="0">
              <a:lnSpc>
                <a:spcPts val="1900"/>
              </a:lnSpc>
              <a:buNone/>
            </a:pPr>
            <a:r>
              <a:rPr lang="en-US" sz="1300" dirty="0">
                <a:solidFill>
                  <a:srgbClr val="E8EDF2"/>
                </a:solidFill>
                <a:latin typeface="Calibri" pitchFamily="34" charset="0"/>
                <a:ea typeface="Calibri" pitchFamily="34" charset="-122"/>
                <a:cs typeface="Calibri" pitchFamily="34" charset="-120"/>
              </a:rPr>
              <a:t>Every visit, every question, every lost sale — visible for the first time.</a:t>
            </a:r>
            <a:endParaRPr lang="en-US" sz="1300" dirty="0"/>
          </a:p>
        </p:txBody>
      </p:sp>
      <p:sp>
        <p:nvSpPr>
          <p:cNvPr id="19" name="Text 17"/>
          <p:cNvSpPr txBox="1"/>
          <p:nvPr/>
        </p:nvSpPr>
        <p:spPr>
          <a:xfrm>
            <a:off x="822960" y="4800600"/>
            <a:ext cx="10515600" cy="914400"/>
          </a:xfrm>
          <a:prstGeom prst="rect">
            <a:avLst/>
          </a:prstGeom>
          <a:noFill/>
          <a:ln/>
        </p:spPr>
        <p:txBody>
          <a:bodyPr wrap="square" lIns="0" tIns="0" rIns="0" bIns="0" rtlCol="0" anchor="ctr"/>
          <a:lstStyle/>
          <a:p>
            <a:pPr indent="0" marL="0">
              <a:lnSpc>
                <a:spcPts val="3200"/>
              </a:lnSpc>
              <a:buNone/>
            </a:pPr>
            <a:r>
              <a:rPr lang="en-US" sz="2100" b="1" dirty="0">
                <a:solidFill>
                  <a:srgbClr val="E8825F"/>
                </a:solidFill>
                <a:latin typeface="Cambria" pitchFamily="34" charset="0"/>
                <a:ea typeface="Cambria" pitchFamily="34" charset="-122"/>
                <a:cs typeface="Cambria" pitchFamily="34" charset="-120"/>
              </a:rPr>
              <a:t>The visitor who turned back at Kanheri is the whole case.</a:t>
            </a:r>
            <a:endParaRPr lang="en-US" sz="2100" dirty="0"/>
          </a:p>
          <a:p>
            <a:pPr indent="0" marL="0">
              <a:lnSpc>
                <a:spcPts val="3200"/>
              </a:lnSpc>
              <a:buNone/>
            </a:pPr>
            <a:r>
              <a:rPr lang="en-US" sz="2100" b="1" dirty="0">
                <a:solidFill>
                  <a:srgbClr val="E8825F"/>
                </a:solidFill>
                <a:latin typeface="Cambria" pitchFamily="34" charset="0"/>
                <a:ea typeface="Cambria" pitchFamily="34" charset="-122"/>
                <a:cs typeface="Cambria" pitchFamily="34" charset="-120"/>
              </a:rPr>
              <a:t>Everything here exists so that they don't.</a:t>
            </a:r>
            <a:endParaRPr lang="en-US" sz="2100" dirty="0"/>
          </a:p>
        </p:txBody>
      </p:sp>
      <p:sp>
        <p:nvSpPr>
          <p:cNvPr id="20" name="Text 18"/>
          <p:cNvSpPr txBox="1"/>
          <p:nvPr/>
        </p:nvSpPr>
        <p:spPr>
          <a:xfrm>
            <a:off x="822960" y="5897880"/>
            <a:ext cx="4572000" cy="365760"/>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Incepthink LLP</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1920240" y="2240280"/>
            <a:ext cx="932688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Annexure</a:t>
            </a:r>
            <a:endParaRPr lang="en-US" sz="3600" dirty="0"/>
          </a:p>
        </p:txBody>
      </p:sp>
      <p:sp>
        <p:nvSpPr>
          <p:cNvPr id="3" name="Text 1"/>
          <p:cNvSpPr txBox="1"/>
          <p:nvPr/>
        </p:nvSpPr>
        <p:spPr>
          <a:xfrm>
            <a:off x="1920240" y="3246120"/>
            <a:ext cx="8961120" cy="731520"/>
          </a:xfrm>
          <a:prstGeom prst="rect">
            <a:avLst/>
          </a:prstGeom>
          <a:noFill/>
          <a:ln/>
        </p:spPr>
        <p:txBody>
          <a:bodyPr wrap="square" lIns="0" tIns="0" rIns="0" bIns="0" rtlCol="0" anchor="ctr"/>
          <a:lstStyle/>
          <a:p>
            <a:pPr indent="0" marL="0">
              <a:lnSpc>
                <a:spcPts val="2400"/>
              </a:lnSpc>
              <a:buNone/>
            </a:pPr>
            <a:r>
              <a:rPr lang="en-US" sz="1600" dirty="0">
                <a:solidFill>
                  <a:srgbClr val="E8EDF2"/>
                </a:solidFill>
                <a:latin typeface="Calibri" pitchFamily="34" charset="0"/>
                <a:ea typeface="Calibri" pitchFamily="34" charset="-122"/>
                <a:cs typeface="Calibri" pitchFamily="34" charset="-120"/>
              </a:rPr>
              <a:t>Backup material — not part of the ten-minute run.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Annexure A — How the offline pass works</a:t>
            </a:r>
            <a:endParaRPr lang="en-US" sz="3200" dirty="0"/>
          </a:p>
        </p:txBody>
      </p:sp>
      <p:sp>
        <p:nvSpPr>
          <p:cNvPr id="3" name="Shape 1"/>
          <p:cNvSpPr/>
          <p:nvPr/>
        </p:nvSpPr>
        <p:spPr>
          <a:xfrm>
            <a:off x="640080" y="1417320"/>
            <a:ext cx="10972800" cy="1051560"/>
          </a:xfrm>
          <a:prstGeom prst="roundRect">
            <a:avLst>
              <a:gd name="adj" fmla="val 6957"/>
            </a:avLst>
          </a:prstGeom>
          <a:solidFill>
            <a:srgbClr val="F2F4F6"/>
          </a:solidFill>
          <a:ln w="9525">
            <a:solidFill>
              <a:srgbClr val="D8DEE4"/>
            </a:solidFill>
            <a:prstDash val="solid"/>
          </a:ln>
        </p:spPr>
      </p:sp>
      <p:sp>
        <p:nvSpPr>
          <p:cNvPr id="4" name="Shape 2"/>
          <p:cNvSpPr/>
          <p:nvPr/>
        </p:nvSpPr>
        <p:spPr>
          <a:xfrm>
            <a:off x="914400" y="1709928"/>
            <a:ext cx="457200" cy="457200"/>
          </a:xfrm>
          <a:prstGeom prst="ellipse">
            <a:avLst/>
          </a:prstGeom>
          <a:solidFill>
            <a:srgbClr val="C1502E"/>
          </a:solidFill>
          <a:ln/>
        </p:spPr>
      </p:sp>
      <p:sp>
        <p:nvSpPr>
          <p:cNvPr id="5" name="Text 3"/>
          <p:cNvSpPr txBox="1"/>
          <p:nvPr/>
        </p:nvSpPr>
        <p:spPr>
          <a:xfrm>
            <a:off x="914400" y="1709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572768" y="1572768"/>
            <a:ext cx="2194560" cy="36576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Issue</a:t>
            </a:r>
            <a:endParaRPr lang="en-US" sz="1700" dirty="0"/>
          </a:p>
        </p:txBody>
      </p:sp>
      <p:sp>
        <p:nvSpPr>
          <p:cNvPr id="7" name="Text 5"/>
          <p:cNvSpPr txBox="1"/>
          <p:nvPr/>
        </p:nvSpPr>
        <p:spPr>
          <a:xfrm>
            <a:off x="1572768" y="1920240"/>
            <a:ext cx="9692640" cy="50292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At purchase, the platform mints a pass containing the itinerary, the sites, the entitlements and the validity window. It is cryptographically signed by the issuing authority.</a:t>
            </a:r>
            <a:endParaRPr lang="en-US" sz="1250" dirty="0"/>
          </a:p>
        </p:txBody>
      </p:sp>
      <p:sp>
        <p:nvSpPr>
          <p:cNvPr id="8" name="Shape 6"/>
          <p:cNvSpPr/>
          <p:nvPr/>
        </p:nvSpPr>
        <p:spPr>
          <a:xfrm>
            <a:off x="640080" y="2624328"/>
            <a:ext cx="10972800" cy="1051560"/>
          </a:xfrm>
          <a:prstGeom prst="roundRect">
            <a:avLst>
              <a:gd name="adj" fmla="val 6957"/>
            </a:avLst>
          </a:prstGeom>
          <a:solidFill>
            <a:srgbClr val="F2F4F6"/>
          </a:solidFill>
          <a:ln w="9525">
            <a:solidFill>
              <a:srgbClr val="D8DEE4"/>
            </a:solidFill>
            <a:prstDash val="solid"/>
          </a:ln>
        </p:spPr>
      </p:sp>
      <p:sp>
        <p:nvSpPr>
          <p:cNvPr id="9" name="Shape 7"/>
          <p:cNvSpPr/>
          <p:nvPr/>
        </p:nvSpPr>
        <p:spPr>
          <a:xfrm>
            <a:off x="914400" y="2916936"/>
            <a:ext cx="457200" cy="457200"/>
          </a:xfrm>
          <a:prstGeom prst="ellipse">
            <a:avLst/>
          </a:prstGeom>
          <a:solidFill>
            <a:srgbClr val="C1502E"/>
          </a:solidFill>
          <a:ln/>
        </p:spPr>
      </p:sp>
      <p:sp>
        <p:nvSpPr>
          <p:cNvPr id="10" name="Text 8"/>
          <p:cNvSpPr txBox="1"/>
          <p:nvPr/>
        </p:nvSpPr>
        <p:spPr>
          <a:xfrm>
            <a:off x="914400" y="29169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1572768" y="2779776"/>
            <a:ext cx="2194560" cy="36576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Carry</a:t>
            </a:r>
            <a:endParaRPr lang="en-US" sz="1700" dirty="0"/>
          </a:p>
        </p:txBody>
      </p:sp>
      <p:sp>
        <p:nvSpPr>
          <p:cNvPr id="12" name="Text 10"/>
          <p:cNvSpPr txBox="1"/>
          <p:nvPr/>
        </p:nvSpPr>
        <p:spPr>
          <a:xfrm>
            <a:off x="1572768" y="3127248"/>
            <a:ext cx="9692640" cy="50292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The pass is stored on the device as a signed QR payload. It needs no server to be readable and cannot be altered without breaking the signature.</a:t>
            </a:r>
            <a:endParaRPr lang="en-US" sz="1250" dirty="0"/>
          </a:p>
        </p:txBody>
      </p:sp>
      <p:sp>
        <p:nvSpPr>
          <p:cNvPr id="13" name="Shape 11"/>
          <p:cNvSpPr/>
          <p:nvPr/>
        </p:nvSpPr>
        <p:spPr>
          <a:xfrm>
            <a:off x="640080" y="3831336"/>
            <a:ext cx="10972800" cy="1051560"/>
          </a:xfrm>
          <a:prstGeom prst="roundRect">
            <a:avLst>
              <a:gd name="adj" fmla="val 6957"/>
            </a:avLst>
          </a:prstGeom>
          <a:solidFill>
            <a:srgbClr val="F2F4F6"/>
          </a:solidFill>
          <a:ln w="9525">
            <a:solidFill>
              <a:srgbClr val="D8DEE4"/>
            </a:solidFill>
            <a:prstDash val="solid"/>
          </a:ln>
        </p:spPr>
      </p:sp>
      <p:sp>
        <p:nvSpPr>
          <p:cNvPr id="14" name="Shape 12"/>
          <p:cNvSpPr/>
          <p:nvPr/>
        </p:nvSpPr>
        <p:spPr>
          <a:xfrm>
            <a:off x="914400" y="4123944"/>
            <a:ext cx="457200" cy="457200"/>
          </a:xfrm>
          <a:prstGeom prst="ellipse">
            <a:avLst/>
          </a:prstGeom>
          <a:solidFill>
            <a:srgbClr val="C1502E"/>
          </a:solidFill>
          <a:ln/>
        </p:spPr>
      </p:sp>
      <p:sp>
        <p:nvSpPr>
          <p:cNvPr id="15" name="Text 13"/>
          <p:cNvSpPr txBox="1"/>
          <p:nvPr/>
        </p:nvSpPr>
        <p:spPr>
          <a:xfrm>
            <a:off x="914400" y="41239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1572768" y="3986784"/>
            <a:ext cx="2194560" cy="36576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Verify</a:t>
            </a:r>
            <a:endParaRPr lang="en-US" sz="1700" dirty="0"/>
          </a:p>
        </p:txBody>
      </p:sp>
      <p:sp>
        <p:nvSpPr>
          <p:cNvPr id="17" name="Text 15"/>
          <p:cNvSpPr txBox="1"/>
          <p:nvPr/>
        </p:nvSpPr>
        <p:spPr>
          <a:xfrm>
            <a:off x="1572768" y="4334256"/>
            <a:ext cx="9692640" cy="50292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At the gate, a handheld or any Android phone reads the code and checks the signature against a locally held public key. Valid or not valid is decided on the device, in under a second, with no connection.</a:t>
            </a:r>
            <a:endParaRPr lang="en-US" sz="1250" dirty="0"/>
          </a:p>
        </p:txBody>
      </p:sp>
      <p:sp>
        <p:nvSpPr>
          <p:cNvPr id="18" name="Shape 16"/>
          <p:cNvSpPr/>
          <p:nvPr/>
        </p:nvSpPr>
        <p:spPr>
          <a:xfrm>
            <a:off x="640080" y="5038344"/>
            <a:ext cx="10972800" cy="1051560"/>
          </a:xfrm>
          <a:prstGeom prst="roundRect">
            <a:avLst>
              <a:gd name="adj" fmla="val 6957"/>
            </a:avLst>
          </a:prstGeom>
          <a:solidFill>
            <a:srgbClr val="F2F4F6"/>
          </a:solidFill>
          <a:ln w="9525">
            <a:solidFill>
              <a:srgbClr val="D8DEE4"/>
            </a:solidFill>
            <a:prstDash val="solid"/>
          </a:ln>
        </p:spPr>
      </p:sp>
      <p:sp>
        <p:nvSpPr>
          <p:cNvPr id="19" name="Shape 17"/>
          <p:cNvSpPr/>
          <p:nvPr/>
        </p:nvSpPr>
        <p:spPr>
          <a:xfrm>
            <a:off x="914400" y="5330952"/>
            <a:ext cx="457200" cy="457200"/>
          </a:xfrm>
          <a:prstGeom prst="ellipse">
            <a:avLst/>
          </a:prstGeom>
          <a:solidFill>
            <a:srgbClr val="C1502E"/>
          </a:solidFill>
          <a:ln/>
        </p:spPr>
      </p:sp>
      <p:sp>
        <p:nvSpPr>
          <p:cNvPr id="20" name="Text 18"/>
          <p:cNvSpPr txBox="1"/>
          <p:nvPr/>
        </p:nvSpPr>
        <p:spPr>
          <a:xfrm>
            <a:off x="914400" y="5330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572768" y="5193792"/>
            <a:ext cx="2194560" cy="365760"/>
          </a:xfrm>
          <a:prstGeom prst="rect">
            <a:avLst/>
          </a:prstGeom>
          <a:noFill/>
          <a:ln/>
        </p:spPr>
        <p:txBody>
          <a:bodyPr wrap="square" lIns="0" tIns="0" rIns="0" bIns="0" rtlCol="0" anchor="ctr"/>
          <a:lstStyle/>
          <a:p>
            <a:pPr indent="0" marL="0">
              <a:buNone/>
            </a:pPr>
            <a:r>
              <a:rPr lang="en-US" sz="1700" b="1" dirty="0">
                <a:solidFill>
                  <a:srgbClr val="C1502E"/>
                </a:solidFill>
                <a:latin typeface="Cambria" pitchFamily="34" charset="0"/>
                <a:ea typeface="Cambria" pitchFamily="34" charset="-122"/>
                <a:cs typeface="Cambria" pitchFamily="34" charset="-120"/>
              </a:rPr>
              <a:t>Reconcile</a:t>
            </a:r>
            <a:endParaRPr lang="en-US" sz="1700" dirty="0"/>
          </a:p>
        </p:txBody>
      </p:sp>
      <p:sp>
        <p:nvSpPr>
          <p:cNvPr id="22" name="Text 20"/>
          <p:cNvSpPr txBox="1"/>
          <p:nvPr/>
        </p:nvSpPr>
        <p:spPr>
          <a:xfrm>
            <a:off x="1572768" y="5541264"/>
            <a:ext cx="9692640" cy="50292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Each scan is written to a local queue with a timestamp. When the device next reaches coverage, scans upload and the central record updates. Duplicate-use checks run at that point.</a:t>
            </a:r>
            <a:endParaRPr lang="en-US" sz="1250" dirty="0"/>
          </a:p>
        </p:txBody>
      </p:sp>
      <p:sp>
        <p:nvSpPr>
          <p:cNvPr id="23" name="Text 21"/>
          <p:cNvSpPr txBox="1"/>
          <p:nvPr/>
        </p:nvSpPr>
        <p:spPr>
          <a:xfrm>
            <a:off x="640080" y="6309360"/>
            <a:ext cx="10972800" cy="36576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The trade-off is honest: offline verification cannot detect a pass already used elsewhere until the devices sync. For single-entry site tickets this window is acceptable and bounded.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Annexure B — Language and model approach</a:t>
            </a:r>
            <a:endParaRPr lang="en-US" sz="3200" dirty="0"/>
          </a:p>
        </p:txBody>
      </p:sp>
      <p:sp>
        <p:nvSpPr>
          <p:cNvPr id="3" name="Shape 1"/>
          <p:cNvSpPr/>
          <p:nvPr/>
        </p:nvSpPr>
        <p:spPr>
          <a:xfrm>
            <a:off x="640080" y="1371600"/>
            <a:ext cx="10972800" cy="841248"/>
          </a:xfrm>
          <a:prstGeom prst="roundRect">
            <a:avLst>
              <a:gd name="adj" fmla="val 8696"/>
            </a:avLst>
          </a:prstGeom>
          <a:solidFill>
            <a:srgbClr val="F2F4F6"/>
          </a:solidFill>
          <a:ln w="9525">
            <a:solidFill>
              <a:srgbClr val="D8DEE4"/>
            </a:solidFill>
            <a:prstDash val="solid"/>
          </a:ln>
        </p:spPr>
      </p:sp>
      <p:sp>
        <p:nvSpPr>
          <p:cNvPr id="4" name="Text 2"/>
          <p:cNvSpPr txBox="1"/>
          <p:nvPr/>
        </p:nvSpPr>
        <p:spPr>
          <a:xfrm>
            <a:off x="960120" y="1490472"/>
            <a:ext cx="3108960" cy="59436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Marathi first</a:t>
            </a:r>
            <a:endParaRPr lang="en-US" sz="1550" dirty="0"/>
          </a:p>
        </p:txBody>
      </p:sp>
      <p:sp>
        <p:nvSpPr>
          <p:cNvPr id="5" name="Text 3"/>
          <p:cNvSpPr txBox="1"/>
          <p:nvPr/>
        </p:nvSpPr>
        <p:spPr>
          <a:xfrm>
            <a:off x="4206240" y="1490472"/>
            <a:ext cx="7086600" cy="59436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The platform is built Marathi-first, then Hindi and English, then the foreign-market languages the state's booking portal already advertises.</a:t>
            </a:r>
            <a:endParaRPr lang="en-US" sz="1250" dirty="0"/>
          </a:p>
        </p:txBody>
      </p:sp>
      <p:sp>
        <p:nvSpPr>
          <p:cNvPr id="6" name="Shape 4"/>
          <p:cNvSpPr/>
          <p:nvPr/>
        </p:nvSpPr>
        <p:spPr>
          <a:xfrm>
            <a:off x="640080" y="2359152"/>
            <a:ext cx="10972800" cy="841248"/>
          </a:xfrm>
          <a:prstGeom prst="roundRect">
            <a:avLst>
              <a:gd name="adj" fmla="val 8696"/>
            </a:avLst>
          </a:prstGeom>
          <a:solidFill>
            <a:srgbClr val="F2F4F6"/>
          </a:solidFill>
          <a:ln w="9525">
            <a:solidFill>
              <a:srgbClr val="D8DEE4"/>
            </a:solidFill>
            <a:prstDash val="solid"/>
          </a:ln>
        </p:spPr>
      </p:sp>
      <p:sp>
        <p:nvSpPr>
          <p:cNvPr id="7" name="Text 5"/>
          <p:cNvSpPr txBox="1"/>
          <p:nvPr/>
        </p:nvSpPr>
        <p:spPr>
          <a:xfrm>
            <a:off x="960120" y="2478024"/>
            <a:ext cx="3108960" cy="59436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Open-weight, deployed on premises</a:t>
            </a:r>
            <a:endParaRPr lang="en-US" sz="1550" dirty="0"/>
          </a:p>
        </p:txBody>
      </p:sp>
      <p:sp>
        <p:nvSpPr>
          <p:cNvPr id="8" name="Text 6"/>
          <p:cNvSpPr txBox="1"/>
          <p:nvPr/>
        </p:nvSpPr>
        <p:spPr>
          <a:xfrm>
            <a:off x="4206240" y="2478024"/>
            <a:ext cx="7086600" cy="59436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A dense open-weight model in the 30-billion-parameter class, fine-tuned on departmental content. The department holds the weights.</a:t>
            </a:r>
            <a:endParaRPr lang="en-US" sz="1250" dirty="0"/>
          </a:p>
        </p:txBody>
      </p:sp>
      <p:sp>
        <p:nvSpPr>
          <p:cNvPr id="9" name="Shape 7"/>
          <p:cNvSpPr/>
          <p:nvPr/>
        </p:nvSpPr>
        <p:spPr>
          <a:xfrm>
            <a:off x="640080" y="3346704"/>
            <a:ext cx="10972800" cy="841248"/>
          </a:xfrm>
          <a:prstGeom prst="roundRect">
            <a:avLst>
              <a:gd name="adj" fmla="val 8696"/>
            </a:avLst>
          </a:prstGeom>
          <a:solidFill>
            <a:srgbClr val="F2F4F6"/>
          </a:solidFill>
          <a:ln w="9525">
            <a:solidFill>
              <a:srgbClr val="D8DEE4"/>
            </a:solidFill>
            <a:prstDash val="solid"/>
          </a:ln>
        </p:spPr>
      </p:sp>
      <p:sp>
        <p:nvSpPr>
          <p:cNvPr id="10" name="Text 8"/>
          <p:cNvSpPr txBox="1"/>
          <p:nvPr/>
        </p:nvSpPr>
        <p:spPr>
          <a:xfrm>
            <a:off x="960120" y="3465576"/>
            <a:ext cx="3108960" cy="59436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Grounded, not generative</a:t>
            </a:r>
            <a:endParaRPr lang="en-US" sz="1550" dirty="0"/>
          </a:p>
        </p:txBody>
      </p:sp>
      <p:sp>
        <p:nvSpPr>
          <p:cNvPr id="11" name="Text 9"/>
          <p:cNvSpPr txBox="1"/>
          <p:nvPr/>
        </p:nvSpPr>
        <p:spPr>
          <a:xfrm>
            <a:off x="4206240" y="3465576"/>
            <a:ext cx="7086600" cy="59436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Answers are retrieved from departmental sources and cited. The model composes the sentence; it does not supply the fact.</a:t>
            </a:r>
            <a:endParaRPr lang="en-US" sz="1250" dirty="0"/>
          </a:p>
        </p:txBody>
      </p:sp>
      <p:sp>
        <p:nvSpPr>
          <p:cNvPr id="12" name="Shape 10"/>
          <p:cNvSpPr/>
          <p:nvPr/>
        </p:nvSpPr>
        <p:spPr>
          <a:xfrm>
            <a:off x="640080" y="4334256"/>
            <a:ext cx="10972800" cy="841248"/>
          </a:xfrm>
          <a:prstGeom prst="roundRect">
            <a:avLst>
              <a:gd name="adj" fmla="val 8696"/>
            </a:avLst>
          </a:prstGeom>
          <a:solidFill>
            <a:srgbClr val="F2F4F6"/>
          </a:solidFill>
          <a:ln w="9525">
            <a:solidFill>
              <a:srgbClr val="D8DEE4"/>
            </a:solidFill>
            <a:prstDash val="solid"/>
          </a:ln>
        </p:spPr>
      </p:sp>
      <p:sp>
        <p:nvSpPr>
          <p:cNvPr id="13" name="Text 11"/>
          <p:cNvSpPr txBox="1"/>
          <p:nvPr/>
        </p:nvSpPr>
        <p:spPr>
          <a:xfrm>
            <a:off x="960120" y="4453128"/>
            <a:ext cx="3108960" cy="59436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Tuned on approved output</a:t>
            </a:r>
            <a:endParaRPr lang="en-US" sz="1550" dirty="0"/>
          </a:p>
        </p:txBody>
      </p:sp>
      <p:sp>
        <p:nvSpPr>
          <p:cNvPr id="14" name="Text 12"/>
          <p:cNvSpPr txBox="1"/>
          <p:nvPr/>
        </p:nvSpPr>
        <p:spPr>
          <a:xfrm>
            <a:off x="4206240" y="4453128"/>
            <a:ext cx="7086600" cy="59436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Supervised fine-tuning on officer-approved copy, then preference tuning on the gap between drafts and what officers actually approved.</a:t>
            </a:r>
            <a:endParaRPr lang="en-US" sz="1250" dirty="0"/>
          </a:p>
        </p:txBody>
      </p:sp>
      <p:sp>
        <p:nvSpPr>
          <p:cNvPr id="15" name="Shape 13"/>
          <p:cNvSpPr/>
          <p:nvPr/>
        </p:nvSpPr>
        <p:spPr>
          <a:xfrm>
            <a:off x="640080" y="5321808"/>
            <a:ext cx="10972800" cy="841248"/>
          </a:xfrm>
          <a:prstGeom prst="roundRect">
            <a:avLst>
              <a:gd name="adj" fmla="val 8696"/>
            </a:avLst>
          </a:prstGeom>
          <a:solidFill>
            <a:srgbClr val="F2F4F6"/>
          </a:solidFill>
          <a:ln w="9525">
            <a:solidFill>
              <a:srgbClr val="D8DEE4"/>
            </a:solidFill>
            <a:prstDash val="solid"/>
          </a:ln>
        </p:spPr>
      </p:sp>
      <p:sp>
        <p:nvSpPr>
          <p:cNvPr id="16" name="Text 14"/>
          <p:cNvSpPr txBox="1"/>
          <p:nvPr/>
        </p:nvSpPr>
        <p:spPr>
          <a:xfrm>
            <a:off x="960120" y="5440680"/>
            <a:ext cx="3108960" cy="594360"/>
          </a:xfrm>
          <a:prstGeom prst="rect">
            <a:avLst/>
          </a:prstGeom>
          <a:noFill/>
          <a:ln/>
        </p:spPr>
        <p:txBody>
          <a:bodyPr wrap="square" lIns="0" tIns="0" rIns="0" bIns="0" rtlCol="0" anchor="ctr"/>
          <a:lstStyle/>
          <a:p>
            <a:pPr indent="0" marL="0">
              <a:buNone/>
            </a:pPr>
            <a:r>
              <a:rPr lang="en-US" sz="1550" b="1" dirty="0">
                <a:solidFill>
                  <a:srgbClr val="C1502E"/>
                </a:solidFill>
                <a:latin typeface="Cambria" pitchFamily="34" charset="0"/>
                <a:ea typeface="Cambria" pitchFamily="34" charset="-122"/>
                <a:cs typeface="Cambria" pitchFamily="34" charset="-120"/>
              </a:rPr>
              <a:t>Scaled by measurement</a:t>
            </a:r>
            <a:endParaRPr lang="en-US" sz="1550" dirty="0"/>
          </a:p>
        </p:txBody>
      </p:sp>
      <p:sp>
        <p:nvSpPr>
          <p:cNvPr id="17" name="Text 15"/>
          <p:cNvSpPr txBox="1"/>
          <p:nvPr/>
        </p:nvSpPr>
        <p:spPr>
          <a:xfrm>
            <a:off x="4206240" y="5440680"/>
            <a:ext cx="7086600" cy="594360"/>
          </a:xfrm>
          <a:prstGeom prst="rect">
            <a:avLst/>
          </a:prstGeom>
          <a:noFill/>
          <a:ln/>
        </p:spPr>
        <p:txBody>
          <a:bodyPr wrap="square" lIns="0" tIns="0" rIns="0" bIns="0" rtlCol="0" anchor="ctr"/>
          <a:lstStyle/>
          <a:p>
            <a:pPr indent="0" marL="0">
              <a:lnSpc>
                <a:spcPts val="1700"/>
              </a:lnSpc>
              <a:buNone/>
            </a:pPr>
            <a:r>
              <a:rPr lang="en-US" sz="1250" dirty="0">
                <a:solidFill>
                  <a:srgbClr val="2E4057"/>
                </a:solidFill>
                <a:latin typeface="Calibri" pitchFamily="34" charset="0"/>
                <a:ea typeface="Calibri" pitchFamily="34" charset="-122"/>
                <a:cs typeface="Calibri" pitchFamily="34" charset="-120"/>
              </a:rPr>
              <a:t>Production runs identical inference nodes behind a load balancer. Node count is set by benchmarked peak demand, not assumed in advance.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Annexure C — What connects to what</a:t>
            </a:r>
            <a:endParaRPr lang="en-US" sz="3200" dirty="0"/>
          </a:p>
        </p:txBody>
      </p:sp>
      <p:sp>
        <p:nvSpPr>
          <p:cNvPr id="3" name="Text 1"/>
          <p:cNvSpPr txBox="1"/>
          <p:nvPr/>
        </p:nvSpPr>
        <p:spPr>
          <a:xfrm>
            <a:off x="960120" y="1325880"/>
            <a:ext cx="3108960" cy="274320"/>
          </a:xfrm>
          <a:prstGeom prst="rect">
            <a:avLst/>
          </a:prstGeom>
          <a:noFill/>
          <a:ln/>
        </p:spPr>
        <p:txBody>
          <a:bodyPr wrap="square" lIns="0" tIns="0" rIns="0" bIns="0" rtlCol="0" anchor="ctr"/>
          <a:lstStyle/>
          <a:p>
            <a:pPr indent="0" marL="0">
              <a:buNone/>
            </a:pPr>
            <a:r>
              <a:rPr lang="en-US" sz="1100" b="1" spc="120" kern="0" dirty="0">
                <a:solidFill>
                  <a:srgbClr val="6B7785"/>
                </a:solidFill>
                <a:latin typeface="Calibri" pitchFamily="34" charset="0"/>
                <a:ea typeface="Calibri" pitchFamily="34" charset="-122"/>
                <a:cs typeface="Calibri" pitchFamily="34" charset="-120"/>
              </a:rPr>
              <a:t>System</a:t>
            </a:r>
            <a:endParaRPr lang="en-US" sz="1100" dirty="0"/>
          </a:p>
        </p:txBody>
      </p:sp>
      <p:sp>
        <p:nvSpPr>
          <p:cNvPr id="4" name="Text 2"/>
          <p:cNvSpPr txBox="1"/>
          <p:nvPr/>
        </p:nvSpPr>
        <p:spPr>
          <a:xfrm>
            <a:off x="4297680" y="1325880"/>
            <a:ext cx="5303520" cy="274320"/>
          </a:xfrm>
          <a:prstGeom prst="rect">
            <a:avLst/>
          </a:prstGeom>
          <a:noFill/>
          <a:ln/>
        </p:spPr>
        <p:txBody>
          <a:bodyPr wrap="square" lIns="0" tIns="0" rIns="0" bIns="0" rtlCol="0" anchor="ctr"/>
          <a:lstStyle/>
          <a:p>
            <a:pPr indent="0" marL="0">
              <a:buNone/>
            </a:pPr>
            <a:r>
              <a:rPr lang="en-US" sz="1100" b="1" spc="120" kern="0" dirty="0">
                <a:solidFill>
                  <a:srgbClr val="6B7785"/>
                </a:solidFill>
                <a:latin typeface="Calibri" pitchFamily="34" charset="0"/>
                <a:ea typeface="Calibri" pitchFamily="34" charset="-122"/>
                <a:cs typeface="Calibri" pitchFamily="34" charset="-120"/>
              </a:rPr>
              <a:t>What it holds</a:t>
            </a:r>
            <a:endParaRPr lang="en-US" sz="1100" dirty="0"/>
          </a:p>
        </p:txBody>
      </p:sp>
      <p:sp>
        <p:nvSpPr>
          <p:cNvPr id="5" name="Text 3"/>
          <p:cNvSpPr txBox="1"/>
          <p:nvPr/>
        </p:nvSpPr>
        <p:spPr>
          <a:xfrm>
            <a:off x="9784080" y="1325880"/>
            <a:ext cx="1828800" cy="274320"/>
          </a:xfrm>
          <a:prstGeom prst="rect">
            <a:avLst/>
          </a:prstGeom>
          <a:noFill/>
          <a:ln/>
        </p:spPr>
        <p:txBody>
          <a:bodyPr wrap="square" lIns="0" tIns="0" rIns="0" bIns="0" rtlCol="0" anchor="ctr"/>
          <a:lstStyle/>
          <a:p>
            <a:pPr indent="0" marL="0">
              <a:buNone/>
            </a:pPr>
            <a:r>
              <a:rPr lang="en-US" sz="1100" b="1" spc="120" kern="0" dirty="0">
                <a:solidFill>
                  <a:srgbClr val="6B7785"/>
                </a:solidFill>
                <a:latin typeface="Calibri" pitchFamily="34" charset="0"/>
                <a:ea typeface="Calibri" pitchFamily="34" charset="-122"/>
                <a:cs typeface="Calibri" pitchFamily="34" charset="-120"/>
              </a:rPr>
              <a:t>Our use</a:t>
            </a:r>
            <a:endParaRPr lang="en-US" sz="1100" dirty="0"/>
          </a:p>
        </p:txBody>
      </p:sp>
      <p:sp>
        <p:nvSpPr>
          <p:cNvPr id="6" name="Shape 4"/>
          <p:cNvSpPr/>
          <p:nvPr/>
        </p:nvSpPr>
        <p:spPr>
          <a:xfrm>
            <a:off x="640080" y="1691640"/>
            <a:ext cx="10972800" cy="566928"/>
          </a:xfrm>
          <a:prstGeom prst="roundRect">
            <a:avLst>
              <a:gd name="adj" fmla="val 12903"/>
            </a:avLst>
          </a:prstGeom>
          <a:solidFill>
            <a:srgbClr val="F2F4F6"/>
          </a:solidFill>
          <a:ln w="9525">
            <a:solidFill>
              <a:srgbClr val="D8DEE4"/>
            </a:solidFill>
            <a:prstDash val="solid"/>
          </a:ln>
        </p:spPr>
      </p:sp>
      <p:sp>
        <p:nvSpPr>
          <p:cNvPr id="7" name="Text 5"/>
          <p:cNvSpPr txBox="1"/>
          <p:nvPr/>
        </p:nvSpPr>
        <p:spPr>
          <a:xfrm>
            <a:off x="960120" y="1783080"/>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Department content estate</a:t>
            </a:r>
            <a:endParaRPr lang="en-US" sz="1300" dirty="0"/>
          </a:p>
        </p:txBody>
      </p:sp>
      <p:sp>
        <p:nvSpPr>
          <p:cNvPr id="8" name="Text 6"/>
          <p:cNvSpPr txBox="1"/>
          <p:nvPr/>
        </p:nvSpPr>
        <p:spPr>
          <a:xfrm>
            <a:off x="4297680" y="1783080"/>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36 district pages, 40+ festivals, forts, beaches, caves, temples</a:t>
            </a:r>
            <a:endParaRPr lang="en-US" sz="1250" dirty="0"/>
          </a:p>
        </p:txBody>
      </p:sp>
      <p:sp>
        <p:nvSpPr>
          <p:cNvPr id="9" name="Text 7"/>
          <p:cNvSpPr txBox="1"/>
          <p:nvPr/>
        </p:nvSpPr>
        <p:spPr>
          <a:xfrm>
            <a:off x="9784080" y="1783080"/>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Read</a:t>
            </a:r>
            <a:endParaRPr lang="en-US" sz="1250" dirty="0"/>
          </a:p>
        </p:txBody>
      </p:sp>
      <p:sp>
        <p:nvSpPr>
          <p:cNvPr id="10" name="Text 8"/>
          <p:cNvSpPr txBox="1"/>
          <p:nvPr/>
        </p:nvSpPr>
        <p:spPr>
          <a:xfrm>
            <a:off x="960120" y="2441448"/>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MahaAtithi</a:t>
            </a:r>
            <a:endParaRPr lang="en-US" sz="1300" dirty="0"/>
          </a:p>
        </p:txBody>
      </p:sp>
      <p:sp>
        <p:nvSpPr>
          <p:cNvPr id="11" name="Text 9"/>
          <p:cNvSpPr txBox="1"/>
          <p:nvPr/>
        </p:nvSpPr>
        <p:spPr>
          <a:xfrm>
            <a:off x="4297680" y="2441448"/>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Registered operators, inventory, availability</a:t>
            </a:r>
            <a:endParaRPr lang="en-US" sz="1250" dirty="0"/>
          </a:p>
        </p:txBody>
      </p:sp>
      <p:sp>
        <p:nvSpPr>
          <p:cNvPr id="12" name="Text 10"/>
          <p:cNvSpPr txBox="1"/>
          <p:nvPr/>
        </p:nvSpPr>
        <p:spPr>
          <a:xfrm>
            <a:off x="9784080" y="2441448"/>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Read + book</a:t>
            </a:r>
            <a:endParaRPr lang="en-US" sz="1250" dirty="0"/>
          </a:p>
        </p:txBody>
      </p:sp>
      <p:sp>
        <p:nvSpPr>
          <p:cNvPr id="13" name="Shape 11"/>
          <p:cNvSpPr/>
          <p:nvPr/>
        </p:nvSpPr>
        <p:spPr>
          <a:xfrm>
            <a:off x="640080" y="3008376"/>
            <a:ext cx="10972800" cy="566928"/>
          </a:xfrm>
          <a:prstGeom prst="roundRect">
            <a:avLst>
              <a:gd name="adj" fmla="val 12903"/>
            </a:avLst>
          </a:prstGeom>
          <a:solidFill>
            <a:srgbClr val="F2F4F6"/>
          </a:solidFill>
          <a:ln w="9525">
            <a:solidFill>
              <a:srgbClr val="D8DEE4"/>
            </a:solidFill>
            <a:prstDash val="solid"/>
          </a:ln>
        </p:spPr>
      </p:sp>
      <p:sp>
        <p:nvSpPr>
          <p:cNvPr id="14" name="Text 12"/>
          <p:cNvSpPr txBox="1"/>
          <p:nvPr/>
        </p:nvSpPr>
        <p:spPr>
          <a:xfrm>
            <a:off x="960120" y="3099816"/>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MAITRI</a:t>
            </a:r>
            <a:endParaRPr lang="en-US" sz="1300" dirty="0"/>
          </a:p>
        </p:txBody>
      </p:sp>
      <p:sp>
        <p:nvSpPr>
          <p:cNvPr id="15" name="Text 13"/>
          <p:cNvSpPr txBox="1"/>
          <p:nvPr/>
        </p:nvSpPr>
        <p:spPr>
          <a:xfrm>
            <a:off x="4297680" y="3099816"/>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Policy registrations, licences and their validity</a:t>
            </a:r>
            <a:endParaRPr lang="en-US" sz="1250" dirty="0"/>
          </a:p>
        </p:txBody>
      </p:sp>
      <p:sp>
        <p:nvSpPr>
          <p:cNvPr id="16" name="Text 14"/>
          <p:cNvSpPr txBox="1"/>
          <p:nvPr/>
        </p:nvSpPr>
        <p:spPr>
          <a:xfrm>
            <a:off x="9784080" y="3099816"/>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Read</a:t>
            </a:r>
            <a:endParaRPr lang="en-US" sz="1250" dirty="0"/>
          </a:p>
        </p:txBody>
      </p:sp>
      <p:sp>
        <p:nvSpPr>
          <p:cNvPr id="17" name="Text 15"/>
          <p:cNvSpPr txBox="1"/>
          <p:nvPr/>
        </p:nvSpPr>
        <p:spPr>
          <a:xfrm>
            <a:off x="960120" y="3758184"/>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ASI ticketing / ONDC</a:t>
            </a:r>
            <a:endParaRPr lang="en-US" sz="1300" dirty="0"/>
          </a:p>
        </p:txBody>
      </p:sp>
      <p:sp>
        <p:nvSpPr>
          <p:cNvPr id="18" name="Text 16"/>
          <p:cNvSpPr txBox="1"/>
          <p:nvPr/>
        </p:nvSpPr>
        <p:spPr>
          <a:xfrm>
            <a:off x="4297680" y="3758184"/>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Centrally-protected monument tickets, incl. Kanheri</a:t>
            </a:r>
            <a:endParaRPr lang="en-US" sz="1250" dirty="0"/>
          </a:p>
        </p:txBody>
      </p:sp>
      <p:sp>
        <p:nvSpPr>
          <p:cNvPr id="19" name="Text 17"/>
          <p:cNvSpPr txBox="1"/>
          <p:nvPr/>
        </p:nvSpPr>
        <p:spPr>
          <a:xfrm>
            <a:off x="9784080" y="3758184"/>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Book + settle</a:t>
            </a:r>
            <a:endParaRPr lang="en-US" sz="1250" dirty="0"/>
          </a:p>
        </p:txBody>
      </p:sp>
      <p:sp>
        <p:nvSpPr>
          <p:cNvPr id="20" name="Shape 18"/>
          <p:cNvSpPr/>
          <p:nvPr/>
        </p:nvSpPr>
        <p:spPr>
          <a:xfrm>
            <a:off x="640080" y="4325112"/>
            <a:ext cx="10972800" cy="566928"/>
          </a:xfrm>
          <a:prstGeom prst="roundRect">
            <a:avLst>
              <a:gd name="adj" fmla="val 12903"/>
            </a:avLst>
          </a:prstGeom>
          <a:solidFill>
            <a:srgbClr val="F2F4F6"/>
          </a:solidFill>
          <a:ln w="9525">
            <a:solidFill>
              <a:srgbClr val="D8DEE4"/>
            </a:solidFill>
            <a:prstDash val="solid"/>
          </a:ln>
        </p:spPr>
      </p:sp>
      <p:sp>
        <p:nvSpPr>
          <p:cNvPr id="21" name="Text 19"/>
          <p:cNvSpPr txBox="1"/>
          <p:nvPr/>
        </p:nvSpPr>
        <p:spPr>
          <a:xfrm>
            <a:off x="960120" y="4416552"/>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Forest Department</a:t>
            </a:r>
            <a:endParaRPr lang="en-US" sz="1300" dirty="0"/>
          </a:p>
        </p:txBody>
      </p:sp>
      <p:sp>
        <p:nvSpPr>
          <p:cNvPr id="22" name="Text 20"/>
          <p:cNvSpPr txBox="1"/>
          <p:nvPr/>
        </p:nvSpPr>
        <p:spPr>
          <a:xfrm>
            <a:off x="4297680" y="4416552"/>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National park and sanctuary entry, safari slots</a:t>
            </a:r>
            <a:endParaRPr lang="en-US" sz="1250" dirty="0"/>
          </a:p>
        </p:txBody>
      </p:sp>
      <p:sp>
        <p:nvSpPr>
          <p:cNvPr id="23" name="Text 21"/>
          <p:cNvSpPr txBox="1"/>
          <p:nvPr/>
        </p:nvSpPr>
        <p:spPr>
          <a:xfrm>
            <a:off x="9784080" y="4416552"/>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Book + settle</a:t>
            </a:r>
            <a:endParaRPr lang="en-US" sz="1250" dirty="0"/>
          </a:p>
        </p:txBody>
      </p:sp>
      <p:sp>
        <p:nvSpPr>
          <p:cNvPr id="24" name="Text 22"/>
          <p:cNvSpPr txBox="1"/>
          <p:nvPr/>
        </p:nvSpPr>
        <p:spPr>
          <a:xfrm>
            <a:off x="960120" y="5074920"/>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MTDC</a:t>
            </a:r>
            <a:endParaRPr lang="en-US" sz="1300" dirty="0"/>
          </a:p>
        </p:txBody>
      </p:sp>
      <p:sp>
        <p:nvSpPr>
          <p:cNvPr id="25" name="Text 23"/>
          <p:cNvSpPr txBox="1"/>
          <p:nvPr/>
        </p:nvSpPr>
        <p:spPr>
          <a:xfrm>
            <a:off x="4297680" y="5074920"/>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Resorts, packages, activity bookings</a:t>
            </a:r>
            <a:endParaRPr lang="en-US" sz="1250" dirty="0"/>
          </a:p>
        </p:txBody>
      </p:sp>
      <p:sp>
        <p:nvSpPr>
          <p:cNvPr id="26" name="Text 24"/>
          <p:cNvSpPr txBox="1"/>
          <p:nvPr/>
        </p:nvSpPr>
        <p:spPr>
          <a:xfrm>
            <a:off x="9784080" y="5074920"/>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Book + settle</a:t>
            </a:r>
            <a:endParaRPr lang="en-US" sz="1250" dirty="0"/>
          </a:p>
        </p:txBody>
      </p:sp>
      <p:sp>
        <p:nvSpPr>
          <p:cNvPr id="27" name="Shape 25"/>
          <p:cNvSpPr/>
          <p:nvPr/>
        </p:nvSpPr>
        <p:spPr>
          <a:xfrm>
            <a:off x="640080" y="5641848"/>
            <a:ext cx="10972800" cy="566928"/>
          </a:xfrm>
          <a:prstGeom prst="roundRect">
            <a:avLst>
              <a:gd name="adj" fmla="val 12903"/>
            </a:avLst>
          </a:prstGeom>
          <a:solidFill>
            <a:srgbClr val="F2F4F6"/>
          </a:solidFill>
          <a:ln w="9525">
            <a:solidFill>
              <a:srgbClr val="D8DEE4"/>
            </a:solidFill>
            <a:prstDash val="solid"/>
          </a:ln>
        </p:spPr>
      </p:sp>
      <p:sp>
        <p:nvSpPr>
          <p:cNvPr id="28" name="Text 26"/>
          <p:cNvSpPr txBox="1"/>
          <p:nvPr/>
        </p:nvSpPr>
        <p:spPr>
          <a:xfrm>
            <a:off x="960120" y="5733288"/>
            <a:ext cx="3200400" cy="384048"/>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District and police advisories</a:t>
            </a:r>
            <a:endParaRPr lang="en-US" sz="1300" dirty="0"/>
          </a:p>
        </p:txBody>
      </p:sp>
      <p:sp>
        <p:nvSpPr>
          <p:cNvPr id="29" name="Text 27"/>
          <p:cNvSpPr txBox="1"/>
          <p:nvPr/>
        </p:nvSpPr>
        <p:spPr>
          <a:xfrm>
            <a:off x="4297680" y="5733288"/>
            <a:ext cx="5394960" cy="384048"/>
          </a:xfrm>
          <a:prstGeom prst="rect">
            <a:avLst/>
          </a:prstGeom>
          <a:noFill/>
          <a:ln/>
        </p:spPr>
        <p:txBody>
          <a:bodyPr wrap="square" lIns="0" tIns="0" rIns="0" bIns="0" rtlCol="0" anchor="ctr"/>
          <a:lstStyle/>
          <a:p>
            <a:pPr indent="0" marL="0">
              <a:buNone/>
            </a:pPr>
            <a:r>
              <a:rPr lang="en-US" sz="1250" dirty="0">
                <a:solidFill>
                  <a:srgbClr val="2E4057"/>
                </a:solidFill>
                <a:latin typeface="Calibri" pitchFamily="34" charset="0"/>
                <a:ea typeface="Calibri" pitchFamily="34" charset="-122"/>
                <a:cs typeface="Calibri" pitchFamily="34" charset="-120"/>
              </a:rPr>
              <a:t>Restriction orders, closures, monsoon bans</a:t>
            </a:r>
            <a:endParaRPr lang="en-US" sz="1250" dirty="0"/>
          </a:p>
        </p:txBody>
      </p:sp>
      <p:sp>
        <p:nvSpPr>
          <p:cNvPr id="30" name="Text 28"/>
          <p:cNvSpPr txBox="1"/>
          <p:nvPr/>
        </p:nvSpPr>
        <p:spPr>
          <a:xfrm>
            <a:off x="9784080" y="5733288"/>
            <a:ext cx="1828800" cy="384048"/>
          </a:xfrm>
          <a:prstGeom prst="rect">
            <a:avLst/>
          </a:prstGeom>
          <a:noFill/>
          <a:ln/>
        </p:spPr>
        <p:txBody>
          <a:bodyPr wrap="square" lIns="0" tIns="0" rIns="0" bIns="0" rtlCol="0" anchor="ctr"/>
          <a:lstStyle/>
          <a:p>
            <a:pPr indent="0" marL="0">
              <a:buNone/>
            </a:pPr>
            <a:r>
              <a:rPr lang="en-US" sz="1250" b="1" dirty="0">
                <a:solidFill>
                  <a:srgbClr val="2E7D74"/>
                </a:solidFill>
                <a:latin typeface="Calibri" pitchFamily="34" charset="0"/>
                <a:ea typeface="Calibri" pitchFamily="34" charset="-122"/>
                <a:cs typeface="Calibri" pitchFamily="34" charset="-120"/>
              </a:rPr>
              <a:t>Read</a:t>
            </a:r>
            <a:endParaRPr lang="en-US" sz="1250" dirty="0"/>
          </a:p>
        </p:txBody>
      </p:sp>
      <p:sp>
        <p:nvSpPr>
          <p:cNvPr id="31" name="Text 29"/>
          <p:cNvSpPr txBox="1"/>
          <p:nvPr/>
        </p:nvSpPr>
        <p:spPr>
          <a:xfrm>
            <a:off x="640080" y="6355080"/>
            <a:ext cx="10972800" cy="36576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Integration depth varies. Read-only access is available immediately; booking and settlement require agreement from each ticketing authority.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Annexure D — What we are still confirming</a:t>
            </a:r>
            <a:endParaRPr lang="en-US" sz="3200" dirty="0"/>
          </a:p>
        </p:txBody>
      </p:sp>
      <p:sp>
        <p:nvSpPr>
          <p:cNvPr id="3" name="Shape 1"/>
          <p:cNvSpPr/>
          <p:nvPr/>
        </p:nvSpPr>
        <p:spPr>
          <a:xfrm>
            <a:off x="640080" y="1371600"/>
            <a:ext cx="10972800" cy="841248"/>
          </a:xfrm>
          <a:prstGeom prst="roundRect">
            <a:avLst>
              <a:gd name="adj" fmla="val 8696"/>
            </a:avLst>
          </a:prstGeom>
          <a:solidFill>
            <a:srgbClr val="F2F4F6"/>
          </a:solidFill>
          <a:ln w="9525">
            <a:solidFill>
              <a:srgbClr val="D8DEE4"/>
            </a:solidFill>
            <a:prstDash val="solid"/>
          </a:ln>
        </p:spPr>
      </p:sp>
      <p:sp>
        <p:nvSpPr>
          <p:cNvPr id="4" name="Text 2"/>
          <p:cNvSpPr txBox="1"/>
          <p:nvPr/>
        </p:nvSpPr>
        <p:spPr>
          <a:xfrm>
            <a:off x="960120" y="1481328"/>
            <a:ext cx="4206240" cy="621792"/>
          </a:xfrm>
          <a:prstGeom prst="rect">
            <a:avLst/>
          </a:prstGeom>
          <a:noFill/>
          <a:ln/>
        </p:spPr>
        <p:txBody>
          <a:bodyPr wrap="square" lIns="0" tIns="0" rIns="0" bIns="0" rtlCol="0" anchor="ctr"/>
          <a:lstStyle/>
          <a:p>
            <a:pPr indent="0" marL="0">
              <a:lnSpc>
                <a:spcPts val="1700"/>
              </a:lnSpc>
              <a:buNone/>
            </a:pPr>
            <a:r>
              <a:rPr lang="en-US" sz="1300" b="1" dirty="0">
                <a:solidFill>
                  <a:srgbClr val="1B2A41"/>
                </a:solidFill>
                <a:latin typeface="Calibri" pitchFamily="34" charset="0"/>
                <a:ea typeface="Calibri" pitchFamily="34" charset="-122"/>
                <a:cs typeface="Calibri" pitchFamily="34" charset="-120"/>
              </a:rPr>
              <a:t>Fare and ticket structure at SGNP and Kanheri</a:t>
            </a:r>
            <a:endParaRPr lang="en-US" sz="1300" dirty="0"/>
          </a:p>
        </p:txBody>
      </p:sp>
      <p:sp>
        <p:nvSpPr>
          <p:cNvPr id="5" name="Text 3"/>
          <p:cNvSpPr txBox="1"/>
          <p:nvPr/>
        </p:nvSpPr>
        <p:spPr>
          <a:xfrm>
            <a:off x="5394960" y="1481328"/>
            <a:ext cx="5897880" cy="621792"/>
          </a:xfrm>
          <a:prstGeom prst="rect">
            <a:avLst/>
          </a:prstGeom>
          <a:noFill/>
          <a:ln/>
        </p:spPr>
        <p:txBody>
          <a:bodyPr wrap="square" lIns="0" tIns="0" rIns="0" bIns="0" rtlCol="0" anchor="ctr"/>
          <a:lstStyle/>
          <a:p>
            <a:pPr indent="0" marL="0">
              <a:lnSpc>
                <a:spcPts val="1600"/>
              </a:lnSpc>
              <a:buNone/>
            </a:pPr>
            <a:r>
              <a:rPr lang="en-US" sz="1200" dirty="0">
                <a:solidFill>
                  <a:srgbClr val="2E4057"/>
                </a:solidFill>
                <a:latin typeface="Calibri" pitchFamily="34" charset="0"/>
                <a:ea typeface="Calibri" pitchFamily="34" charset="-122"/>
                <a:cs typeface="Calibri" pitchFamily="34" charset="-120"/>
              </a:rPr>
              <a:t>Published figures differ across sources. To be confirmed with the park authority and ASI before any external circulation.</a:t>
            </a:r>
            <a:endParaRPr lang="en-US" sz="1200" dirty="0"/>
          </a:p>
        </p:txBody>
      </p:sp>
      <p:sp>
        <p:nvSpPr>
          <p:cNvPr id="6" name="Shape 4"/>
          <p:cNvSpPr/>
          <p:nvPr/>
        </p:nvSpPr>
        <p:spPr>
          <a:xfrm>
            <a:off x="640080" y="2359152"/>
            <a:ext cx="10972800" cy="841248"/>
          </a:xfrm>
          <a:prstGeom prst="roundRect">
            <a:avLst>
              <a:gd name="adj" fmla="val 8696"/>
            </a:avLst>
          </a:prstGeom>
          <a:solidFill>
            <a:srgbClr val="F2F4F6"/>
          </a:solidFill>
          <a:ln w="9525">
            <a:solidFill>
              <a:srgbClr val="D8DEE4"/>
            </a:solidFill>
            <a:prstDash val="solid"/>
          </a:ln>
        </p:spPr>
      </p:sp>
      <p:sp>
        <p:nvSpPr>
          <p:cNvPr id="7" name="Text 5"/>
          <p:cNvSpPr txBox="1"/>
          <p:nvPr/>
        </p:nvSpPr>
        <p:spPr>
          <a:xfrm>
            <a:off x="960120" y="2468880"/>
            <a:ext cx="4206240" cy="621792"/>
          </a:xfrm>
          <a:prstGeom prst="rect">
            <a:avLst/>
          </a:prstGeom>
          <a:noFill/>
          <a:ln/>
        </p:spPr>
        <p:txBody>
          <a:bodyPr wrap="square" lIns="0" tIns="0" rIns="0" bIns="0" rtlCol="0" anchor="ctr"/>
          <a:lstStyle/>
          <a:p>
            <a:pPr indent="0" marL="0">
              <a:lnSpc>
                <a:spcPts val="1700"/>
              </a:lnSpc>
              <a:buNone/>
            </a:pPr>
            <a:r>
              <a:rPr lang="en-US" sz="1300" b="1" dirty="0">
                <a:solidFill>
                  <a:srgbClr val="1B2A41"/>
                </a:solidFill>
                <a:latin typeface="Calibri" pitchFamily="34" charset="0"/>
                <a:ea typeface="Calibri" pitchFamily="34" charset="-122"/>
                <a:cs typeface="Calibri" pitchFamily="34" charset="-120"/>
              </a:rPr>
              <a:t>Connectivity at the Kanheri counter</a:t>
            </a:r>
            <a:endParaRPr lang="en-US" sz="1300" dirty="0"/>
          </a:p>
        </p:txBody>
      </p:sp>
      <p:sp>
        <p:nvSpPr>
          <p:cNvPr id="8" name="Text 6"/>
          <p:cNvSpPr txBox="1"/>
          <p:nvPr/>
        </p:nvSpPr>
        <p:spPr>
          <a:xfrm>
            <a:off x="5394960" y="2468880"/>
            <a:ext cx="5897880" cy="621792"/>
          </a:xfrm>
          <a:prstGeom prst="rect">
            <a:avLst/>
          </a:prstGeom>
          <a:noFill/>
          <a:ln/>
        </p:spPr>
        <p:txBody>
          <a:bodyPr wrap="square" lIns="0" tIns="0" rIns="0" bIns="0" rtlCol="0" anchor="ctr"/>
          <a:lstStyle/>
          <a:p>
            <a:pPr indent="0" marL="0">
              <a:lnSpc>
                <a:spcPts val="1600"/>
              </a:lnSpc>
              <a:buNone/>
            </a:pPr>
            <a:r>
              <a:rPr lang="en-US" sz="1200" dirty="0">
                <a:solidFill>
                  <a:srgbClr val="2E4057"/>
                </a:solidFill>
                <a:latin typeface="Calibri" pitchFamily="34" charset="0"/>
                <a:ea typeface="Calibri" pitchFamily="34" charset="-122"/>
                <a:cs typeface="Calibri" pitchFamily="34" charset="-120"/>
              </a:rPr>
              <a:t>Observed on site, not measured. Worth a documented signal survey before this is stated to the department as fact.</a:t>
            </a:r>
            <a:endParaRPr lang="en-US" sz="1200" dirty="0"/>
          </a:p>
        </p:txBody>
      </p:sp>
      <p:sp>
        <p:nvSpPr>
          <p:cNvPr id="9" name="Shape 7"/>
          <p:cNvSpPr/>
          <p:nvPr/>
        </p:nvSpPr>
        <p:spPr>
          <a:xfrm>
            <a:off x="640080" y="3346704"/>
            <a:ext cx="10972800" cy="841248"/>
          </a:xfrm>
          <a:prstGeom prst="roundRect">
            <a:avLst>
              <a:gd name="adj" fmla="val 8696"/>
            </a:avLst>
          </a:prstGeom>
          <a:solidFill>
            <a:srgbClr val="F2F4F6"/>
          </a:solidFill>
          <a:ln w="9525">
            <a:solidFill>
              <a:srgbClr val="D8DEE4"/>
            </a:solidFill>
            <a:prstDash val="solid"/>
          </a:ln>
        </p:spPr>
      </p:sp>
      <p:sp>
        <p:nvSpPr>
          <p:cNvPr id="10" name="Text 8"/>
          <p:cNvSpPr txBox="1"/>
          <p:nvPr/>
        </p:nvSpPr>
        <p:spPr>
          <a:xfrm>
            <a:off x="960120" y="3456432"/>
            <a:ext cx="4206240" cy="621792"/>
          </a:xfrm>
          <a:prstGeom prst="rect">
            <a:avLst/>
          </a:prstGeom>
          <a:noFill/>
          <a:ln/>
        </p:spPr>
        <p:txBody>
          <a:bodyPr wrap="square" lIns="0" tIns="0" rIns="0" bIns="0" rtlCol="0" anchor="ctr"/>
          <a:lstStyle/>
          <a:p>
            <a:pPr indent="0" marL="0">
              <a:lnSpc>
                <a:spcPts val="1700"/>
              </a:lnSpc>
              <a:buNone/>
            </a:pPr>
            <a:r>
              <a:rPr lang="en-US" sz="1300" b="1" dirty="0">
                <a:solidFill>
                  <a:srgbClr val="1B2A41"/>
                </a:solidFill>
                <a:latin typeface="Calibri" pitchFamily="34" charset="0"/>
                <a:ea typeface="Calibri" pitchFamily="34" charset="-122"/>
                <a:cs typeface="Calibri" pitchFamily="34" charset="-120"/>
              </a:rPr>
              <a:t>Status of the Goa RFP</a:t>
            </a:r>
            <a:endParaRPr lang="en-US" sz="1300" dirty="0"/>
          </a:p>
        </p:txBody>
      </p:sp>
      <p:sp>
        <p:nvSpPr>
          <p:cNvPr id="11" name="Text 9"/>
          <p:cNvSpPr txBox="1"/>
          <p:nvPr/>
        </p:nvSpPr>
        <p:spPr>
          <a:xfrm>
            <a:off x="5394960" y="3456432"/>
            <a:ext cx="5897880" cy="621792"/>
          </a:xfrm>
          <a:prstGeom prst="rect">
            <a:avLst/>
          </a:prstGeom>
          <a:noFill/>
          <a:ln/>
        </p:spPr>
        <p:txBody>
          <a:bodyPr wrap="square" lIns="0" tIns="0" rIns="0" bIns="0" rtlCol="0" anchor="ctr"/>
          <a:lstStyle/>
          <a:p>
            <a:pPr indent="0" marL="0">
              <a:lnSpc>
                <a:spcPts val="1600"/>
              </a:lnSpc>
              <a:buNone/>
            </a:pPr>
            <a:r>
              <a:rPr lang="en-US" sz="1200" dirty="0">
                <a:solidFill>
                  <a:srgbClr val="2E4057"/>
                </a:solidFill>
                <a:latin typeface="Calibri" pitchFamily="34" charset="0"/>
                <a:ea typeface="Calibri" pitchFamily="34" charset="-122"/>
                <a:cs typeface="Calibri" pitchFamily="34" charset="-120"/>
              </a:rPr>
              <a:t>Reported July 2026 by two Goan dailies. The tender document has not been obtained and its current status is unknown.</a:t>
            </a:r>
            <a:endParaRPr lang="en-US" sz="1200" dirty="0"/>
          </a:p>
        </p:txBody>
      </p:sp>
      <p:sp>
        <p:nvSpPr>
          <p:cNvPr id="12" name="Shape 10"/>
          <p:cNvSpPr/>
          <p:nvPr/>
        </p:nvSpPr>
        <p:spPr>
          <a:xfrm>
            <a:off x="640080" y="4334256"/>
            <a:ext cx="10972800" cy="841248"/>
          </a:xfrm>
          <a:prstGeom prst="roundRect">
            <a:avLst>
              <a:gd name="adj" fmla="val 8696"/>
            </a:avLst>
          </a:prstGeom>
          <a:solidFill>
            <a:srgbClr val="F2F4F6"/>
          </a:solidFill>
          <a:ln w="9525">
            <a:solidFill>
              <a:srgbClr val="D8DEE4"/>
            </a:solidFill>
            <a:prstDash val="solid"/>
          </a:ln>
        </p:spPr>
      </p:sp>
      <p:sp>
        <p:nvSpPr>
          <p:cNvPr id="13" name="Text 11"/>
          <p:cNvSpPr txBox="1"/>
          <p:nvPr/>
        </p:nvSpPr>
        <p:spPr>
          <a:xfrm>
            <a:off x="960120" y="4443984"/>
            <a:ext cx="4206240" cy="621792"/>
          </a:xfrm>
          <a:prstGeom prst="rect">
            <a:avLst/>
          </a:prstGeom>
          <a:noFill/>
          <a:ln/>
        </p:spPr>
        <p:txBody>
          <a:bodyPr wrap="square" lIns="0" tIns="0" rIns="0" bIns="0" rtlCol="0" anchor="ctr"/>
          <a:lstStyle/>
          <a:p>
            <a:pPr indent="0" marL="0">
              <a:lnSpc>
                <a:spcPts val="1700"/>
              </a:lnSpc>
              <a:buNone/>
            </a:pPr>
            <a:r>
              <a:rPr lang="en-US" sz="1300" b="1" dirty="0">
                <a:solidFill>
                  <a:srgbClr val="1B2A41"/>
                </a:solidFill>
                <a:latin typeface="Calibri" pitchFamily="34" charset="0"/>
                <a:ea typeface="Calibri" pitchFamily="34" charset="-122"/>
                <a:cs typeface="Calibri" pitchFamily="34" charset="-120"/>
              </a:rPr>
              <a:t>Goa foreign-visit figure</a:t>
            </a:r>
            <a:endParaRPr lang="en-US" sz="1300" dirty="0"/>
          </a:p>
        </p:txBody>
      </p:sp>
      <p:sp>
        <p:nvSpPr>
          <p:cNvPr id="14" name="Text 12"/>
          <p:cNvSpPr txBox="1"/>
          <p:nvPr/>
        </p:nvSpPr>
        <p:spPr>
          <a:xfrm>
            <a:off x="5394960" y="4443984"/>
            <a:ext cx="5897880" cy="621792"/>
          </a:xfrm>
          <a:prstGeom prst="rect">
            <a:avLst/>
          </a:prstGeom>
          <a:noFill/>
          <a:ln/>
        </p:spPr>
        <p:txBody>
          <a:bodyPr wrap="square" lIns="0" tIns="0" rIns="0" bIns="0" rtlCol="0" anchor="ctr"/>
          <a:lstStyle/>
          <a:p>
            <a:pPr indent="0" marL="0">
              <a:lnSpc>
                <a:spcPts val="1600"/>
              </a:lnSpc>
              <a:buNone/>
            </a:pPr>
            <a:r>
              <a:rPr lang="en-US" sz="1200" dirty="0">
                <a:solidFill>
                  <a:srgbClr val="2E4057"/>
                </a:solidFill>
                <a:latin typeface="Calibri" pitchFamily="34" charset="0"/>
                <a:ea typeface="Calibri" pitchFamily="34" charset="-122"/>
                <a:cs typeface="Calibri" pitchFamily="34" charset="-120"/>
              </a:rPr>
              <a:t>Used indicatively for the scale comparison. Replace with the Ministry of Tourism compendium figure before circulation.</a:t>
            </a:r>
            <a:endParaRPr lang="en-US" sz="1200" dirty="0"/>
          </a:p>
        </p:txBody>
      </p:sp>
      <p:sp>
        <p:nvSpPr>
          <p:cNvPr id="15" name="Shape 13"/>
          <p:cNvSpPr/>
          <p:nvPr/>
        </p:nvSpPr>
        <p:spPr>
          <a:xfrm>
            <a:off x="640080" y="5321808"/>
            <a:ext cx="10972800" cy="841248"/>
          </a:xfrm>
          <a:prstGeom prst="roundRect">
            <a:avLst>
              <a:gd name="adj" fmla="val 8696"/>
            </a:avLst>
          </a:prstGeom>
          <a:solidFill>
            <a:srgbClr val="F2F4F6"/>
          </a:solidFill>
          <a:ln w="9525">
            <a:solidFill>
              <a:srgbClr val="D8DEE4"/>
            </a:solidFill>
            <a:prstDash val="solid"/>
          </a:ln>
        </p:spPr>
      </p:sp>
      <p:sp>
        <p:nvSpPr>
          <p:cNvPr id="16" name="Text 14"/>
          <p:cNvSpPr txBox="1"/>
          <p:nvPr/>
        </p:nvSpPr>
        <p:spPr>
          <a:xfrm>
            <a:off x="960120" y="5431536"/>
            <a:ext cx="4206240" cy="621792"/>
          </a:xfrm>
          <a:prstGeom prst="rect">
            <a:avLst/>
          </a:prstGeom>
          <a:noFill/>
          <a:ln/>
        </p:spPr>
        <p:txBody>
          <a:bodyPr wrap="square" lIns="0" tIns="0" rIns="0" bIns="0" rtlCol="0" anchor="ctr"/>
          <a:lstStyle/>
          <a:p>
            <a:pPr indent="0" marL="0">
              <a:lnSpc>
                <a:spcPts val="1700"/>
              </a:lnSpc>
              <a:buNone/>
            </a:pPr>
            <a:r>
              <a:rPr lang="en-US" sz="1300" b="1" dirty="0">
                <a:solidFill>
                  <a:srgbClr val="1B2A41"/>
                </a:solidFill>
                <a:latin typeface="Calibri" pitchFamily="34" charset="0"/>
                <a:ea typeface="Calibri" pitchFamily="34" charset="-122"/>
                <a:cs typeface="Calibri" pitchFamily="34" charset="-120"/>
              </a:rPr>
              <a:t>Settlement and consent from each authority</a:t>
            </a:r>
            <a:endParaRPr lang="en-US" sz="1300" dirty="0"/>
          </a:p>
        </p:txBody>
      </p:sp>
      <p:sp>
        <p:nvSpPr>
          <p:cNvPr id="17" name="Text 15"/>
          <p:cNvSpPr txBox="1"/>
          <p:nvPr/>
        </p:nvSpPr>
        <p:spPr>
          <a:xfrm>
            <a:off x="5394960" y="5431536"/>
            <a:ext cx="5897880" cy="621792"/>
          </a:xfrm>
          <a:prstGeom prst="rect">
            <a:avLst/>
          </a:prstGeom>
          <a:noFill/>
          <a:ln/>
        </p:spPr>
        <p:txBody>
          <a:bodyPr wrap="square" lIns="0" tIns="0" rIns="0" bIns="0" rtlCol="0" anchor="ctr"/>
          <a:lstStyle/>
          <a:p>
            <a:pPr indent="0" marL="0">
              <a:lnSpc>
                <a:spcPts val="1600"/>
              </a:lnSpc>
              <a:buNone/>
            </a:pPr>
            <a:r>
              <a:rPr lang="en-US" sz="1200" dirty="0">
                <a:solidFill>
                  <a:srgbClr val="2E4057"/>
                </a:solidFill>
                <a:latin typeface="Calibri" pitchFamily="34" charset="0"/>
                <a:ea typeface="Calibri" pitchFamily="34" charset="-122"/>
                <a:cs typeface="Calibri" pitchFamily="34" charset="-120"/>
              </a:rPr>
              <a:t>Ticketing integration is a commercial and administrative question as much as a technical one.</a:t>
            </a:r>
            <a:endParaRPr lang="en-US" sz="1200" dirty="0"/>
          </a:p>
        </p:txBody>
      </p:sp>
      <p:sp>
        <p:nvSpPr>
          <p:cNvPr id="18" name="Text 16"/>
          <p:cNvSpPr txBox="1"/>
          <p:nvPr/>
        </p:nvSpPr>
        <p:spPr>
          <a:xfrm>
            <a:off x="640080" y="6355080"/>
            <a:ext cx="10972800" cy="365760"/>
          </a:xfrm>
          <a:prstGeom prst="rect">
            <a:avLst/>
          </a:prstGeom>
          <a:noFill/>
          <a:ln/>
        </p:spPr>
        <p:txBody>
          <a:bodyPr wrap="square" lIns="0" tIns="0" rIns="0" bIns="0" rtlCol="0" anchor="ctr"/>
          <a:lstStyle/>
          <a:p>
            <a:pPr indent="0" marL="0">
              <a:buNone/>
            </a:pPr>
            <a:r>
              <a:rPr lang="en-US" sz="1200" b="1" i="1" dirty="0">
                <a:solidFill>
                  <a:srgbClr val="C1502E"/>
                </a:solidFill>
                <a:latin typeface="Calibri" pitchFamily="34" charset="0"/>
                <a:ea typeface="Calibri" pitchFamily="34" charset="-122"/>
                <a:cs typeface="Calibri" pitchFamily="34" charset="-120"/>
              </a:rPr>
              <a:t>Internal slide. Do not show to the department.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Annexure E — Sources</a:t>
            </a:r>
            <a:endParaRPr lang="en-US" sz="3200" dirty="0"/>
          </a:p>
        </p:txBody>
      </p:sp>
      <p:sp>
        <p:nvSpPr>
          <p:cNvPr id="3" name="Text 1"/>
          <p:cNvSpPr txBox="1"/>
          <p:nvPr/>
        </p:nvSpPr>
        <p:spPr>
          <a:xfrm>
            <a:off x="640080" y="1371600"/>
            <a:ext cx="10972800" cy="4754880"/>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Chandrashekhar Jaiswal quotation — ANI press release, ImagiNxt 2026, 22 May 2026 (carried by ThePrint, Business Standard, and others).</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Foreign tourist visits — Ministry of Tourism, India Tourism Data Compendium 2025 (66th edition), November 2025.</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Investment and employment targets — Maharashtra Tourism Policy 2024, as described by the Joint Director, Directorate of Tourism.</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Maratha Military Landscapes of India — UNESCO World Heritage List entry 1739, inscribed July 2025; Press Information Bureau release.</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Kanheri Caves access, distance and ticket structure — Sanjay Gandhi National Park visitor information and published visitor accounts, 2026.</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ASI online ticketing on the ONDC network — Press Information Bureau, 6 January 2026; 170+ centrally-protected monuments.</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Lonavala waterfall restrictions and monsoon trekking orders — district administration advisories, 2024 onward.</a:t>
            </a:r>
            <a:endParaRPr lang="en-US" sz="1250" dirty="0"/>
          </a:p>
          <a:p>
            <a:pPr marL="342900" indent="-342900">
              <a:lnSpc>
                <a:spcPts val="1800"/>
              </a:lnSpc>
              <a:spcAft>
                <a:spcPts val="1100"/>
              </a:spcAft>
              <a:buSzPct val="100000"/>
              <a:buChar char="•"/>
            </a:pPr>
            <a:r>
              <a:rPr lang="en-US" sz="1250" dirty="0">
                <a:solidFill>
                  <a:srgbClr val="2E4057"/>
                </a:solidFill>
                <a:latin typeface="Calibri" pitchFamily="34" charset="0"/>
                <a:ea typeface="Calibri" pitchFamily="34" charset="-122"/>
                <a:cs typeface="Calibri" pitchFamily="34" charset="-120"/>
              </a:rPr>
              <a:t>Goa tourism RFP — The Navhind Times and The Goan, 16 July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Maharashtra Tourism — AI Travel Platform</dc:title>
  <dc:subject>PptxGenJS Presentation</dc:subject>
  <dc:creator>Incepthink LLP</dc:creator>
  <cp:lastModifiedBy>Incepthink LLP</cp:lastModifiedBy>
  <cp:revision>1</cp:revision>
  <dcterms:created xsi:type="dcterms:W3CDTF">2026-09-15T13:34:37Z</dcterms:created>
  <dcterms:modified xsi:type="dcterms:W3CDTF">2026-09-15T13:34:37Z</dcterms:modified>
</cp:coreProperties>
</file>